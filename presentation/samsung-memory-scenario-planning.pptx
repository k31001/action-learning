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6"/>
    <p:sldId id="268" r:id="rId5"/>
    <p:sldId id="269" r:id="rId4"/>
    <p:sldId id="270" r:id="rId3"/>
    <p:sldId id="271" r:id="rId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6.xml"/><Relationship Id="rId3" Type="http://schemas.openxmlformats.org/officeDocument/2006/relationships/slide" Target="slides/slide15.xml"/><Relationship Id="rId4" Type="http://schemas.openxmlformats.org/officeDocument/2006/relationships/slide" Target="slides/slide14.xml"/><Relationship Id="rId5" Type="http://schemas.openxmlformats.org/officeDocument/2006/relationships/slide" Target="slides/slide13.xml"/><Relationship Id="rId6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82880" cy="7315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428A0"/>
                </a:solidFill>
                <a:latin typeface="Calibri"/>
              </a:rPr>
              <a:t>SAMSUNG ELECTRONICS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54864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1A1A1A"/>
                </a:solidFill>
                <a:latin typeface="맑은 고딕"/>
              </a:rPr>
              <a:t>호황의 정점에서</a:t>
            </a:r>
          </a:p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1A1A1A"/>
                </a:solidFill>
                <a:latin typeface="맑은 고딕"/>
              </a:rPr>
              <a:t>다운턴을 준비하는 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428A0"/>
                </a:solidFill>
                <a:latin typeface="맑은 고딕"/>
              </a:rPr>
              <a:t>시나리오 플래닝 기반 전략 보고서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4937760"/>
            <a:ext cx="4572000" cy="0"/>
          </a:xfrm>
          <a:prstGeom prst="line">
            <a:avLst/>
          </a:prstGeom>
          <a:ln w="15875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5212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작성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DS부문 메모리사업부 전략기획팀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5212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일자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5486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2026년 5월 6일 (Q1 결산 직후)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5212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분류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5486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맑은 고딕"/>
              </a:rPr>
              <a:t>대외비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9단계 논리 흐름 — 호황의 정점에서 다운턴을 준비하기 위한 사고 과정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828800"/>
            <a:ext cx="3749039" cy="128016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73152" cy="128016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28A0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</a:rPr>
              <a:t>현재 상황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호황의 정점 + 사이클 산업의 본질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D97706"/>
                </a:solidFill>
                <a:latin typeface="Calibri"/>
              </a:rPr>
              <a:t>슬라이드 3~6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749039" cy="128016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73152" cy="128016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659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28A0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011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</a:rPr>
              <a:t>불확실성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688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다운턴 시점·규모는 알 수 없음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7889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D97706"/>
                </a:solidFill>
                <a:latin typeface="Calibri"/>
              </a:rPr>
              <a:t>슬라이드 7~8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828800"/>
            <a:ext cx="3749039" cy="128016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1828800"/>
            <a:ext cx="73152" cy="128016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9659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28A0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011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</a:rPr>
              <a:t>시나리오 플래닝의 정당화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4688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Shell·ExxonMobil·Disney·Samsung 사례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27889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D97706"/>
                </a:solidFill>
                <a:latin typeface="Calibri"/>
              </a:rPr>
              <a:t>슬라이드 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291840"/>
            <a:ext cx="3749039" cy="128016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291840"/>
            <a:ext cx="73152" cy="128016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4290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28A0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474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</a:rPr>
              <a:t>방법론 워크플로우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9319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8단계 시나리오 플래닝 프로세스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2519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D97706"/>
                </a:solidFill>
                <a:latin typeface="Calibri"/>
              </a:rPr>
              <a:t>슬라이드 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3291840"/>
            <a:ext cx="3749039" cy="128016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89120" y="3291840"/>
            <a:ext cx="73152" cy="128016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20" y="34290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28A0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3474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</a:rPr>
              <a:t>메모리 사업 적용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39319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단계별 상세 적용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42519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D97706"/>
                </a:solidFill>
                <a:latin typeface="Calibri"/>
              </a:rPr>
              <a:t>슬라이드 11~17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3291840"/>
            <a:ext cx="3749039" cy="128016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21040" y="3291840"/>
            <a:ext cx="73152" cy="128016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34290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28A0"/>
                </a:solidFill>
                <a:latin typeface="Calibri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3474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</a:rPr>
              <a:t>Robust 전략 4가지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39319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RS1·RS2·RS3·RS6 핵심 전략 상세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42519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D97706"/>
                </a:solidFill>
                <a:latin typeface="Calibri"/>
              </a:rPr>
              <a:t>슬라이드 18~21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754880"/>
            <a:ext cx="3749039" cy="128016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754880"/>
            <a:ext cx="73152" cy="128016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48920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28A0"/>
                </a:solidFill>
                <a:latin typeface="Calibri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4937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</a:rPr>
              <a:t>EWI 대시보드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3949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실시간 모니터링 + 자동 트리거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7150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D97706"/>
                </a:solidFill>
                <a:latin typeface="Calibri"/>
              </a:rPr>
              <a:t>슬라이드 22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89120" y="4754880"/>
            <a:ext cx="3749039" cy="128016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89120" y="4754880"/>
            <a:ext cx="73152" cy="128016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17720" y="48920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28A0"/>
                </a:solidFill>
                <a:latin typeface="Calibri"/>
              </a:rPr>
              <a:t>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0" y="4937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</a:rPr>
              <a:t>전략 리마인드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17720" y="53949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9개 결정 + 문제 해결 가능성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17720" y="57150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D97706"/>
                </a:solidFill>
                <a:latin typeface="Calibri"/>
              </a:rPr>
              <a:t>슬라이드 23~24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21040" y="4754880"/>
            <a:ext cx="3749039" cy="128016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21040" y="4754880"/>
            <a:ext cx="73152" cy="128016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49640" y="48920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428A0"/>
                </a:solidFill>
                <a:latin typeface="Calibri"/>
              </a:rPr>
              <a:t>09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5440" y="4937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</a:rPr>
              <a:t>최종 메시지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49640" y="53949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Decision Request 클로징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49640" y="57150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D97706"/>
                </a:solidFill>
                <a:latin typeface="Calibri"/>
              </a:rPr>
              <a:t>슬라이드 25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목차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우리는 지금 메모리 호황의 정점에 서 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Q1 2026 메모리 매출 사상 최대 ($50.4B, +292% YoY) · 빅테크 AI CapEx $725B · HBM4 캐파 전량 Sold Out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5779008" cy="210312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$50.4B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삼성 Q1 2026 메모리 매출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사상 최대 분기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1691640"/>
            <a:ext cx="5779008" cy="21031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3408" y="196596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+292%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3408" y="3063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YoY 성장률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3383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메모리 사업 사상 최대 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86200"/>
            <a:ext cx="5779008" cy="210312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16052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$725B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57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빅테크 4사 AI CapEx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778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+77% YoY ($410B → $725B)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7648" y="3886200"/>
            <a:ext cx="5779008" cy="21031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3408" y="416052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8" y="5257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HBM4 2026 캐파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55778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전량 Sold Out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SO WHAT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지금이 호황의 정점 — 그러나 메모리는 사이클 산업이다.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현재 상황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그러나 메모리는 30년간 5번의 다운턴을 겪은 사이클 산업이다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1995~2026년 시장 사이클 — 4~5년 주기로 100%+ 등락 반복, 다운턴은 항상 호황 직후에 도래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cycle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772400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503920" y="1554480"/>
            <a:ext cx="3200400" cy="438912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6916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428A0"/>
                </a:solidFill>
                <a:latin typeface="맑은 고딕"/>
              </a:rPr>
              <a:t>핵심 시사점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1031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KEY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606040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맑은 고딕"/>
              </a:rPr>
              <a:t>· 모든 다운턴은 "예측 불가"한 시점에 도래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3383280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맑은 고딕"/>
              </a:rPr>
              <a:t>· 2022~23 다운턴: 빅테크 클라우드 capex −15%로 시작 → 메모리 가격 −50%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4160520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맑은 고딕"/>
              </a:rPr>
              <a:t>· 호황기 평균 18~24개월 / 다운턴 평균 12~18개월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4937760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맑은 고딕"/>
              </a:rPr>
              <a:t>· 다운턴 진입 후에는 이미 늦음 — 사이클 진입 전 준비 필수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현재 상황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다운턴마다 우리 매출은 −38%, 영업이익은 −84% 사라졌다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삼성 메모리사업부 2014~2026 Q1 — 3번의 다운턴 (2015·2019·2022~23) 직접 경험치, 분기 −10조 원 적자 포함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samsung_quarter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772400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503920" y="1554480"/>
            <a:ext cx="3200400" cy="438912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6916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맑은 고딕"/>
              </a:rPr>
              <a:t>다운턴 손실 (실측)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2402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28A0"/>
                </a:solidFill>
                <a:latin typeface="맑은 고딕"/>
              </a:rPr>
              <a:t>2015 다운턴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5146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매출 −32%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7432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영업이익 −75%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1546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28A0"/>
                </a:solidFill>
                <a:latin typeface="맑은 고딕"/>
              </a:rPr>
              <a:t>2019 다운턴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4290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매출 −38%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6576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영업이익 −88%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0690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28A0"/>
                </a:solidFill>
                <a:latin typeface="맑은 고딕"/>
              </a:rPr>
              <a:t>2022~23 다운턴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3434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매출 −45%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45720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영업이익 분기 −10조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5212080"/>
            <a:ext cx="2743200" cy="6400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5285232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평균: 매출 −38%</a:t>
            </a:r>
          </a:p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영업이익 −84%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현재 상황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게다가 호황 속에서도 우리는 33년 만에 1위를 내줬다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매출 호황과 점유율 패배가 동시 진행 — DRAM 1위 역전, HBM 점유율 40%→17%, AI ROI 경고음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5394960" cy="420624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맑은 고딕"/>
              </a:rPr>
              <a:t>호황 지표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BOOM SIGNALS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428A0"/>
                </a:solidFill>
                <a:latin typeface="맑은 고딕"/>
              </a:rPr>
              <a:t>■  메모리 시장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2024 $170B → 2026 $552B (+225%)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428A0"/>
                </a:solidFill>
                <a:latin typeface="맑은 고딕"/>
              </a:rPr>
              <a:t>■  HBM 시장 Sold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14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2026 $54.6B 전량 공급 부족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09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428A0"/>
                </a:solidFill>
                <a:latin typeface="맑은 고딕"/>
              </a:rPr>
              <a:t>■  빅테크 AI CapEx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120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2024 $200B → 2026 $725B (+263%)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7880" y="1691640"/>
            <a:ext cx="411480" cy="42062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3520440"/>
            <a:ext cx="411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8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B</a:t>
            </a:r>
          </a:p>
          <a:p>
            <a:pPr algn="ctr">
              <a:lnSpc>
                <a:spcPct val="8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U</a:t>
            </a:r>
          </a:p>
          <a:p>
            <a:pPr algn="ctr">
              <a:lnSpc>
                <a:spcPct val="8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691640"/>
            <a:ext cx="5394960" cy="4206240"/>
          </a:xfrm>
          <a:prstGeom prst="rect">
            <a:avLst/>
          </a:prstGeom>
          <a:solidFill>
            <a:srgbClr val="FF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828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  <a:latin typeface="맑은 고딕"/>
              </a:rPr>
              <a:t>위기 지표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1945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WARNING SIGNALS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697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맑은 고딕"/>
              </a:rPr>
              <a:t>■  DRAM 1위 역전 — 33년 만에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108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2025: SK $49.6B &gt; 삼성 $46.4B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03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맑은 고딕"/>
              </a:rPr>
              <a:t>■  HBM 점유율 추락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114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2023 40% → 2025 Q2 17% → 2026 NVIDIA Rubin 28%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709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맑은 고딕"/>
              </a:rPr>
              <a:t>■  AI ROI 경고음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120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MIT 95% ROI 미실현 / Microsoft FCF −28% 전망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SO WHAT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매출 호황 + 점유율 패배 + 거시 경고가 동시에 — 다운턴 신호일 수 있다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현재 상황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호황이 더 길게 갈지, 다운턴이 언제·얼마나 클지 — 모두 알 수 없다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호황 지속 / 약한 조정 / 중간 다운턴 — 3가지 가설 모두 실현 가능, 각각 다른 전략 요구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3749039" cy="4572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가설 A — 호황 지속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81051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1">
                <a:solidFill>
                  <a:srgbClr val="FFFFFF"/>
                </a:solidFill>
                <a:latin typeface="맑은 고딕"/>
              </a:rPr>
              <a:t>다운턴 2030+ 이후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3749039" cy="411480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59669"/>
                </a:solidFill>
                <a:latin typeface="Calibri"/>
              </a:rPr>
              <a:t>~2030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맑은 고딕"/>
              </a:rPr>
              <a:t>CapEx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28346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AI ROI 안정 실현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빅테크 CapEx 지속 성장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918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맑은 고딕"/>
              </a:rPr>
              <a:t>메모리 가격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32918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HBM 슈퍼사이클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2027 $1조 돌파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맑은 고딕"/>
              </a:rPr>
              <a:t>삼성 영업이익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20" y="37490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삼성 영업이익률 50%+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사상 최대 지속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맑은 고딕"/>
              </a:rPr>
              <a:t>지속 기간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20" y="42062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4~5년 호황 사이클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634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맑은 고딕"/>
              </a:rPr>
              <a:t>과거 사례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20" y="46634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2017~18 슈퍼사이클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+ AI 재가속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5303520"/>
            <a:ext cx="3520440" cy="8686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3492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D97706"/>
                </a:solidFill>
                <a:latin typeface="맑은 고딕"/>
              </a:rPr>
              <a:t>필요 전략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596127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호황 최대 활용 — HBM 캐파 가속 증설, 신흥시장 선점, 단가 프리미엄 LTA 락인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70832" y="1691640"/>
            <a:ext cx="3749039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17373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가설 B — 약한 조정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8312" y="181051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1">
                <a:solidFill>
                  <a:srgbClr val="FFFFFF"/>
                </a:solidFill>
                <a:latin typeface="맑은 고딕"/>
              </a:rPr>
              <a:t>12개월 회복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0832" y="2148840"/>
            <a:ext cx="3749039" cy="411480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22402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D97706"/>
                </a:solidFill>
                <a:latin typeface="Calibri"/>
              </a:rPr>
              <a:t>2027 Q4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28346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맑은 고딕"/>
              </a:rPr>
              <a:t>CapEx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88152" y="28346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빅테크 CapEx YoY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−10~15%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32918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맑은 고딕"/>
              </a:rPr>
              <a:t>메모리 가격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88152" y="32918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메모리 가격 −20~30%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37490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맑은 고딕"/>
              </a:rPr>
              <a:t>삼성 영업이익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88152" y="37490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삼성 영업이익 −50%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42062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맑은 고딕"/>
              </a:rPr>
              <a:t>지속 기간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88152" y="42062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회복 12개월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53712" y="46634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맑은 고딕"/>
              </a:rPr>
              <a:t>과거 사례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88152" y="46634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2022~23 형태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07992" y="5303520"/>
            <a:ext cx="3520440" cy="8686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99432" y="53492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D97706"/>
                </a:solidFill>
                <a:latin typeface="맑은 고딕"/>
              </a:rPr>
              <a:t>필요 전략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99432" y="5596127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재고일수 상한 발동 + RS1 옵션형 캐파로 즉시 일시정지 + R&amp;D 사수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84464" y="1691640"/>
            <a:ext cx="3749039" cy="457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67344" y="17373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가설 C — 중간 다운턴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81944" y="181051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1">
                <a:solidFill>
                  <a:srgbClr val="FFFFFF"/>
                </a:solidFill>
                <a:latin typeface="맑은 고딕"/>
              </a:rPr>
              <a:t>18~24개월 회복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84464" y="2148840"/>
            <a:ext cx="3749039" cy="411480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67344" y="22402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C00000"/>
                </a:solidFill>
                <a:latin typeface="Calibri"/>
              </a:rPr>
              <a:t>2028 Q1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67344" y="28346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맑은 고딕"/>
              </a:rPr>
              <a:t>CapEx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01784" y="28346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AI ROI 실망 + CapEx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−25~30%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67344" y="32918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맑은 고딕"/>
              </a:rPr>
              <a:t>메모리 가격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01784" y="32918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메모리 가격 −45%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67344" y="37490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맑은 고딕"/>
              </a:rPr>
              <a:t>삼성 영업이익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01784" y="37490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삼성 영업이익 −85%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67344" y="42062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맑은 고딕"/>
              </a:rPr>
              <a:t>지속 기간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01784" y="42062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회복 18~24개월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67344" y="46634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맑은 고딕"/>
              </a:rPr>
              <a:t>과거 사례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01784" y="46634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맑은 고딕"/>
              </a:rPr>
              <a:t>2008~09 형태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21624" y="5303520"/>
            <a:ext cx="3520440" cy="8686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13064" y="53492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D97706"/>
                </a:solidFill>
                <a:latin typeface="맑은 고딕"/>
              </a:rPr>
              <a:t>필요 전략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13064" y="5596127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순현금 30조 버퍼 + 다운사이클 capex 4조원 사수 + Disney-Marvel 모델 M&amp;A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6263640"/>
            <a:ext cx="11731752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7200" y="6263640"/>
            <a:ext cx="91440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6313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SO WHAT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28800" y="631364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호황 지속도 다운턴도 모두 가능 — 어느 가설이든 "지금 시작한 준비"가 양쪽 모두에서 가치를 만든다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불확실성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단선 예측은 위험하다 — 독립 변수 2개면 시나리오는 4개+이다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단일 미래 가정의 함정 vs 시나리오 플래닝의 강점 — 복수 미래 동시 준비, 자동 트리거 전환, 30일 내 의사결정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5486400" cy="4297680"/>
          </a:xfrm>
          <a:prstGeom prst="rect">
            <a:avLst/>
          </a:prstGeom>
          <a:solidFill>
            <a:srgbClr val="FEF2F2"/>
          </a:solidFill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C00000"/>
                </a:solidFill>
                <a:latin typeface="맑은 고딕"/>
              </a:rPr>
              <a:t>단선 예측의 함정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C00000"/>
                </a:solidFill>
                <a:latin typeface="Calibri"/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단일 미래 가정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"AI 호황은 5년 더 갈 것" → 한 시나리오 실패 시 회사가 휘청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C00000"/>
                </a:solidFill>
                <a:latin typeface="Calibri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118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의사결정 마비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2336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"확실하지 않으니 결정 미룸" → 사이클이 끝나도 준비 안 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C00000"/>
                </a:solidFill>
                <a:latin typeface="Calibri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091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사후 정당화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12064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"그때는 그게 정답이었다" → 학습 없음, 다음 사이클 같은 실수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691640"/>
            <a:ext cx="5486400" cy="4297680"/>
          </a:xfrm>
          <a:prstGeom prst="rect">
            <a:avLst/>
          </a:prstGeom>
          <a:solidFill>
            <a:srgbClr val="ECFDF5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288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59669"/>
                </a:solidFill>
                <a:latin typeface="맑은 고딕"/>
              </a:rPr>
              <a:t>시나리오 플래닝의 강점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688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59669"/>
                </a:solidFill>
                <a:latin typeface="Calibri"/>
              </a:rPr>
              <a:t>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5146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복수 미래 동시 준비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9260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각 미래에 강건한 전략을 미리 구축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3375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59669"/>
                </a:solidFill>
                <a:latin typeface="Calibri"/>
              </a:rPr>
              <a:t>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33832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Robust 전략 식별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7947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어떤 미래가 와도 가치를 만드는 전략 도출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2062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59669"/>
                </a:solidFill>
                <a:latin typeface="Calibri"/>
              </a:rPr>
              <a:t>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42519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트리거 기반 자동 전환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6634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특정 신호가 오면 사전 정의된 전략 자동 발동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0749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59669"/>
                </a:solidFill>
                <a:latin typeface="Calibri"/>
              </a:rPr>
              <a:t>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51206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의사결정 속도 향상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55321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다운턴 시점에 빠르게 대응 가능 (30일 내)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불확실성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Shell·ExxonMobil·Disney·Samsung도 시나리오로 위기를 기회로 바꿨다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4가지 모두 "다운턴 사전 준비 + 호황기 절제 + 회복기 가속" 조합 — 시나리오 플래닝은 검증된 방법론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5779008" cy="45720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Shell 1973 오일쇼크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48840"/>
            <a:ext cx="5779008" cy="169164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1972년 시나리오 플래닝팀 신설 → 유가 안정/급등 두 시나리오 준비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1973 OPEC 1차 오일쇼크 발발 → Shell만 미리 준비된 7대 메이저 중 1곳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1970년대 말 BP·엑손 다음 1위로 도약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83280"/>
            <a:ext cx="5486400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4472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D97706"/>
                </a:solidFill>
                <a:latin typeface="맑은 고딕"/>
              </a:rPr>
              <a:t>"불확실성 자체를 계획에 포함시켜라"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7648" y="1691640"/>
            <a:ext cx="577900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ExxonMobil 2014~20 유가 폭락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27648" y="2148840"/>
            <a:ext cx="5779008" cy="169164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24028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유가 $100 → $30 → 음(-) 전개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활동가 투자자 압박에도 capex 사수 (2020년 다우 산업평균 제외 + 첫 적자 감수)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2023년 Pioneer Natural Resources $59.5B 인수 (5개월 종결)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10528" y="3383280"/>
            <a:ext cx="5486400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7688" y="34472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D97706"/>
                </a:solidFill>
                <a:latin typeface="맑은 고딕"/>
              </a:rPr>
              <a:t>"다운사이클은 비축, 회복기는 재투자"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31920"/>
            <a:ext cx="5779008" cy="457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77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Disney 2009 글로벌 금융위기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779008" cy="169164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805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2009년 8월 Marvel을 $4B 인수 (PER 37배) — 시장 부정적, S&amp;P 신용 부정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10년 후 MCU 박스오피스 $18B+ 창출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2009년 위기를 활용한 단일 베팅이 회사 재편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623560"/>
            <a:ext cx="5486400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68756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D97706"/>
                </a:solidFill>
                <a:latin typeface="맑은 고딕"/>
              </a:rPr>
              <a:t>"위기는 자산 가격을 낮춘다"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27648" y="3931920"/>
            <a:ext cx="5779008" cy="457200"/>
          </a:xfrm>
          <a:prstGeom prst="rect">
            <a:avLst/>
          </a:prstGeom>
          <a:solidFill>
            <a:srgbClr val="0A1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3977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Samsung 2022~23 메모리 다운사이클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27648" y="4389120"/>
            <a:ext cx="5779008" cy="169164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44805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TSMC·마이크론 capex −10%+ 삭감, 삼성: 47.7조 원 capex 집행 (감산 거부)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2025~26 호황기에 점유율 흡수 + 사상 최대 분기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역사이클 투자의 모범 사례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10528" y="5623560"/>
            <a:ext cx="5486400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7688" y="568756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D97706"/>
                </a:solidFill>
                <a:latin typeface="맑은 고딕"/>
              </a:rPr>
              <a:t>"인위적 감산은 고려하지 않는다"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263640"/>
            <a:ext cx="11731752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6263640"/>
            <a:ext cx="91440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313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SO WHAT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631364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4개 사례 모두 — "다운턴 사전 준비 + 호황기 절제 + 회복기 가속"의 조합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시나리오 플래닝 정당화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시나리오 플래닝은 8단계 프로세스 — 우리도 같은 길을 따라갔다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Focal Issue → STEEP 50개 → I×U 매트릭스 → Driving Forces 2개 → 시나리오 5개 → Main Bet → Side Bets → Robust + EWI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338560" cy="260058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4114800"/>
            <a:ext cx="1335024" cy="91440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428A0"/>
                </a:solidFill>
                <a:latin typeface="맑은 고딕"/>
              </a:rPr>
              <a:t>01 Focal Issue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맑은 고딕"/>
              </a:rPr>
              <a:t>→ 1개 핵심 질문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9384" y="4114800"/>
            <a:ext cx="1335024" cy="91440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0824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428A0"/>
                </a:solidFill>
                <a:latin typeface="맑은 고딕"/>
              </a:rPr>
              <a:t>02 STEEP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0824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맑은 고딕"/>
              </a:rPr>
              <a:t>→ 50개 환경 요인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01568" y="4114800"/>
            <a:ext cx="1335024" cy="91440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428A0"/>
                </a:solidFill>
                <a:latin typeface="맑은 고딕"/>
              </a:rPr>
              <a:t>03 I×U 매트릭스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맑은 고딕"/>
              </a:rPr>
              <a:t>→ 상위 10개 핵심 불확실성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73752" y="4114800"/>
            <a:ext cx="1335024" cy="91440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65192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428A0"/>
                </a:solidFill>
                <a:latin typeface="맑은 고딕"/>
              </a:rPr>
              <a:t>04 Driving Forces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5192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맑은 고딕"/>
              </a:rPr>
              <a:t>→ 2개 독립 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45936" y="4114800"/>
            <a:ext cx="1335024" cy="91440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428A0"/>
                </a:solidFill>
                <a:latin typeface="맑은 고딕"/>
              </a:rPr>
              <a:t>05 시나리오 매트릭스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맑은 고딕"/>
              </a:rPr>
              <a:t>→ 5개 대안적 미래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4114800"/>
            <a:ext cx="1335024" cy="91440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428A0"/>
                </a:solidFill>
                <a:latin typeface="맑은 고딕"/>
              </a:rPr>
              <a:t>06 Main Bet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맑은 고딕"/>
              </a:rPr>
              <a:t>→ 핵심 전략 시나리오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90304" y="4114800"/>
            <a:ext cx="1335024" cy="91440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81744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428A0"/>
                </a:solidFill>
                <a:latin typeface="맑은 고딕"/>
              </a:rPr>
              <a:t>07 Side Bets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1744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맑은 고딕"/>
              </a:rPr>
              <a:t>→ 4개 헤징 전략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762488" y="4114800"/>
            <a:ext cx="1335024" cy="91440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53928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1428A0"/>
                </a:solidFill>
                <a:latin typeface="맑은 고딕"/>
              </a:rPr>
              <a:t>08 Robust + EWI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맑은 고딕"/>
              </a:rPr>
              <a:t>→ 6개 전략 + 모니터링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44068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맑은 고딕"/>
              </a:rPr>
              <a:t>프로젝트 기간: 2026년 4월~5월 (6주) · 50개 STEEP 요인 → 5개 시나리오 → 6개 Robust 전략 → 9개 즉시 결정 도출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방법론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Step 1 · 우리가 답해야 할 질문은 단 하나다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"2030~2035 글로벌 리더십 유지를 위해 지금 어떤 결정을 내려야 하는가" — 모든 분석은 이 질문을 답하기 위함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371600" y="1828800"/>
            <a:ext cx="9445752" cy="310896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920240"/>
            <a:ext cx="1828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 i="0">
                <a:solidFill>
                  <a:srgbClr val="D97706"/>
                </a:solidFill>
                <a:latin typeface="Calibri"/>
              </a:rPr>
              <a:t>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286000"/>
            <a:ext cx="8229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</a:rPr>
              <a:t>삼성전자 메모리사업부가</a:t>
            </a:r>
          </a:p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</a:rPr>
              <a:t>AI 메모리 시대인 2030~2035년에도</a:t>
            </a:r>
          </a:p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</a:rPr>
              <a:t>글로벌 리더십을 유지하기 위해,</a:t>
            </a:r>
          </a:p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</a:rPr>
              <a:t>어떤 전략적 결정을</a:t>
            </a:r>
          </a:p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FFFFFF"/>
                </a:solidFill>
                <a:latin typeface="맑은 고딕"/>
              </a:rPr>
              <a:t>지금(2026년) 내려야 하는가?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212080"/>
            <a:ext cx="3383280" cy="8229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3035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현황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5778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FFFFFF"/>
                </a:solidFill>
                <a:latin typeface="맑은 고딕"/>
              </a:rPr>
              <a:t>호황의 정점</a:t>
            </a:r>
          </a:p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FFFFFF"/>
                </a:solidFill>
                <a:latin typeface="맑은 고딕"/>
              </a:rPr>
              <a:t>점유율 1위 역전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5212080"/>
            <a:ext cx="3383280" cy="8229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53035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시간 압박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55778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FFFFFF"/>
                </a:solidFill>
                <a:latin typeface="맑은 고딕"/>
              </a:rPr>
              <a:t>HBM 세대 전환 분기점</a:t>
            </a:r>
          </a:p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FFFFFF"/>
                </a:solidFill>
                <a:latin typeface="맑은 고딕"/>
              </a:rPr>
              <a:t>2026~2027 결정 시점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5212080"/>
            <a:ext cx="3383280" cy="82296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53035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불확실성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55778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FFFFFF"/>
                </a:solidFill>
                <a:latin typeface="맑은 고딕"/>
              </a:rPr>
              <a:t>AI 슈퍼사이클 vs 거품</a:t>
            </a:r>
          </a:p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FFFFFF"/>
                </a:solidFill>
                <a:latin typeface="맑은 고딕"/>
              </a:rPr>
              <a:t>미중 디커플링 vs 공존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Step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Step 2·3 · 50개 환경 요인 중 20개가 핵심 불확실성이다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STEEP 5개 카테고리 × 10개씩 = 50개 → I×U 매트릭스 → 상위 4개 (I×U=25): 3D DRAM·AI 버블·수출통제·대만 해협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u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554480"/>
            <a:ext cx="7680960" cy="508604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554480"/>
            <a:ext cx="3383280" cy="438912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428A0"/>
                </a:solidFill>
                <a:latin typeface="맑은 고딕"/>
              </a:rPr>
              <a:t>STEEP 분류 (50개)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맑은 고딕"/>
              </a:rPr>
              <a:t>S Social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945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10개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1945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428A0"/>
                </a:solidFill>
                <a:latin typeface="맑은 고딕"/>
              </a:rPr>
              <a:t>평균 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맑은 고딕"/>
              </a:rPr>
              <a:t>T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6060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10개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6060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428A0"/>
                </a:solidFill>
                <a:latin typeface="맑은 고딕"/>
              </a:rPr>
              <a:t>12 (T3 3D DRAM = 25)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맑은 고딕"/>
              </a:rPr>
              <a:t>Ec Economy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017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10개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017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428A0"/>
                </a:solidFill>
                <a:latin typeface="맑은 고딕"/>
              </a:rPr>
              <a:t>11 (Ec6 AI 버블 = 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290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맑은 고딕"/>
              </a:rPr>
              <a:t>En Environment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4290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10개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4290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428A0"/>
                </a:solidFill>
                <a:latin typeface="맑은 고딕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40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맑은 고딕"/>
              </a:rPr>
              <a:t>P Political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8404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10개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840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428A0"/>
                </a:solidFill>
                <a:latin typeface="맑은 고딕"/>
              </a:rPr>
              <a:t>12 (P1·P8 = 25)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720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맑은 고딕"/>
              </a:rPr>
              <a:t>분류 결과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9377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A1A1A"/>
                </a:solidFill>
                <a:latin typeface="맑은 고딕"/>
              </a:rPr>
              <a:t>● 핵심 불확실성 (I≥4, U≥4) : 20개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A1A1A"/>
                </a:solidFill>
                <a:latin typeface="맑은 고딕"/>
              </a:rPr>
              <a:t>◆ 기정사실 (I≥3, U≤3) : 8개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A1A1A"/>
                </a:solidFill>
                <a:latin typeface="맑은 고딕"/>
              </a:rPr>
              <a:t>○ 주변부 : 22개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Step 2·3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Step 4 · 두 개의 독립적 축이 우리 미래를 결정한다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DF1 AI 수요 (기술·경제 논리) × DF2 미중 디커플링 (외교·안보 논리) — 서로 다른 인과 경로 = 독립 변수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5779008" cy="41148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DF1: AI 수요의 구조적 지속성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5779008" cy="438912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1A1A1A"/>
                </a:solidFill>
                <a:latin typeface="맑은 고딕"/>
              </a:rPr>
              <a:t>AI CapEx + HBM 수요가 2030~2035년까지</a:t>
            </a:r>
          </a:p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1A1A1A"/>
                </a:solidFill>
                <a:latin typeface="맑은 고딕"/>
              </a:rPr>
              <a:t>구조적으로 유지되는가?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71800"/>
            <a:ext cx="2697480" cy="137160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2606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C00000"/>
                </a:solidFill>
                <a:latin typeface="맑은 고딕"/>
              </a:rPr>
              <a:t>슈퍼사이클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C00000"/>
                </a:solidFill>
                <a:latin typeface="맑은 고딕"/>
              </a:rPr>
              <a:t>AI ROI 실현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C00000"/>
                </a:solidFill>
                <a:latin typeface="맑은 고딕"/>
              </a:rPr>
              <a:t>2027 빅테크 $1조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C00000"/>
                </a:solidFill>
                <a:latin typeface="맑은 고딕"/>
              </a:rPr>
              <a:t>HBM이 DRAM 50%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971800"/>
            <a:ext cx="2697480" cy="13716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3063240"/>
            <a:ext cx="2606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059669"/>
                </a:solidFill>
                <a:latin typeface="맑은 고딕"/>
              </a:rPr>
              <a:t>버블 붕괴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059669"/>
                </a:solidFill>
                <a:latin typeface="맑은 고딕"/>
              </a:rPr>
              <a:t>AI ROI 미실현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059669"/>
                </a:solidFill>
                <a:latin typeface="맑은 고딕"/>
              </a:rPr>
              <a:t>2027 빅테크 −30%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059669"/>
                </a:solidFill>
                <a:latin typeface="맑은 고딕"/>
              </a:rPr>
              <a:t>2022~23 재현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26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맑은 고딕"/>
              </a:rPr>
              <a:t>현재 위치 → 70% 슈퍼사이클 방향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37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근거: 2026 HBM Sold Out + AI CapEx +77% YoY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715000"/>
            <a:ext cx="5394960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064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맑은 고딕"/>
              </a:rPr>
              <a:t>인과 경로: 기술·경제 내적 논리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7648" y="1691640"/>
            <a:ext cx="5779008" cy="41148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17373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DF2: 미중 기술 디커플링 강도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7648" y="2103120"/>
            <a:ext cx="5779008" cy="438912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219456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1A1A1A"/>
                </a:solidFill>
                <a:latin typeface="맑은 고딕"/>
              </a:rPr>
              <a:t>미국 주도 수출 통제가</a:t>
            </a:r>
          </a:p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1A1A1A"/>
                </a:solidFill>
                <a:latin typeface="맑은 고딕"/>
              </a:rPr>
              <a:t>전면 디커플링 vs 관리된 공존?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10528" y="2971800"/>
            <a:ext cx="2697480" cy="137160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3063240"/>
            <a:ext cx="2606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C00000"/>
                </a:solidFill>
                <a:latin typeface="맑은 고딕"/>
              </a:rPr>
              <a:t>전면 디커플링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C00000"/>
                </a:solidFill>
                <a:latin typeface="맑은 고딕"/>
              </a:rPr>
              <a:t>MATCH 법안 통과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C00000"/>
                </a:solidFill>
                <a:latin typeface="맑은 고딕"/>
              </a:rPr>
              <a:t>시안 팹 차단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C00000"/>
                </a:solidFill>
                <a:latin typeface="맑은 고딕"/>
              </a:rPr>
              <a:t>중국 매출 소멸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53728" y="2971800"/>
            <a:ext cx="2697480" cy="137160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3063240"/>
            <a:ext cx="2606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059669"/>
                </a:solidFill>
                <a:latin typeface="맑은 고딕"/>
              </a:rPr>
              <a:t>관리된 공존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059669"/>
                </a:solidFill>
                <a:latin typeface="맑은 고딕"/>
              </a:rPr>
              <a:t>선택적 제재·허용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059669"/>
                </a:solidFill>
                <a:latin typeface="맑은 고딕"/>
              </a:rPr>
              <a:t>라이선스 갱신 지속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059669"/>
                </a:solidFill>
                <a:latin typeface="맑은 고딕"/>
              </a:rPr>
              <a:t>범용 DRAM 허용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526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맑은 고딕"/>
              </a:rPr>
              <a:t>현재 위치 → 중립, 진동 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937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근거: H20 재허용(공존) + VEU 폐지(디커플링)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10528" y="5715000"/>
            <a:ext cx="5394960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7688" y="58064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맑은 고딕"/>
              </a:rPr>
              <a:t>인과 경로: 외교·안보 논리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7607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1">
                <a:solidFill>
                  <a:srgbClr val="D97706"/>
                </a:solidFill>
                <a:latin typeface="맑은 고딕"/>
              </a:rPr>
              <a:t>두 축이 독립적이므로 → 4가지 미래가 가능 (+ 와일드카드 E)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Step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Step 5 · 두 축의 조합이 5개 대안적 미래를 만든다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2×2 매트릭스 (4개 시나리오) + E 와일드카드 — 확률 합 100%, 각 시나리오의 2035년 시장 규모 명시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scenario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691640"/>
            <a:ext cx="7467361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SO 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5개 시나리오 — 가장 가능성 높은 B(30~35%) + 헤징 4개 = 어떤 미래가 와도 대비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Step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Step 6 · Main Bet은 시나리오 B "AI 르네상스" — 그러나 자동 실현 아님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확률 30~35% · 2035 시장 $520B (전 시나리오 최대) · 삼성 매출 $120B 가능 — 4개 전제 조건 충족 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554480"/>
            <a:ext cx="11274552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⭐  MAIN BET — "AI 르네상스"  |  확률 30~35%  |  2035 시장 $520B (전 시나리오 최대)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5632704" cy="274320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428A0"/>
                </a:solidFill>
                <a:latin typeface="맑은 고딕"/>
              </a:rPr>
              <a:t>2035년 세계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53949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A1A1A"/>
                </a:solidFill>
                <a:latin typeface="맑은 고딕"/>
              </a:rPr>
              <a:t>· 글로벌 메모리 시장 $520B (전 시나리오 최대)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A1A1A"/>
                </a:solidFill>
                <a:latin typeface="맑은 고딕"/>
              </a:rPr>
              <a:t>· AI가 산업 전반 생산성 혁명 실현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A1A1A"/>
                </a:solidFill>
                <a:latin typeface="맑은 고딕"/>
              </a:rPr>
              <a:t>· 미중 관계 2028 "선택적 제재·허용" 프레임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A1A1A"/>
                </a:solidFill>
                <a:latin typeface="맑은 고딕"/>
              </a:rPr>
              <a:t>· 빅테크 AI 직접 매출 합산 2027 $500B 돌파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074920"/>
            <a:ext cx="5632704" cy="128016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16636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삼성전자 2030년 전망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440680"/>
            <a:ext cx="5394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맑은 고딕"/>
              </a:rPr>
              <a:t>· 메모리사업부 연간 매출 $120B 돌파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맑은 고딕"/>
              </a:rPr>
              <a:t>· HBM4E NVIDIA Feynman 플랫폼 공식 탑재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맑은 고딕"/>
              </a:rPr>
              <a:t>· 텍사스 테일러 2단계(HBM) 2030년 가동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맑은 고딕"/>
              </a:rPr>
              <a:t>· 중국 일반 메모리 연 $12B 유지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194560"/>
            <a:ext cx="5468112" cy="2743200"/>
          </a:xfrm>
          <a:prstGeom prst="rect">
            <a:avLst/>
          </a:prstGeom>
          <a:solidFill>
            <a:srgbClr val="F8FAFC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2860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맑은 고딕"/>
              </a:rPr>
              <a:t>이 시나리오 현실화 4개 전제 조건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9748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① AI ROI 실현 (2027~2028 분기점)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20040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② 미중 반도체 무역 타협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70332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③ 삼성 HBM4E 기술 추격 성공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20624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④ 시안 팹 부분 운영 지속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5074920"/>
            <a:ext cx="5468112" cy="128016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516636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맑은 고딕"/>
              </a:rPr>
              <a:t>2026년 5월 현재 증거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440680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✓ 빅테크 4사 CapEx $725B (강한 Pole A 모멘텀)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✓ H20 재허용·MATCH 미통과 (공존 신호)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✓ 삼성 HBM 점유율 17% → 28% (추격 궤도)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Step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Step 7 · 나머지 4개 시나리오에는 +15% 추가 비용으로 보험을 든다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A 황금 요새 / C 기술 냉전 / D 조용한 재편 / E 패러다임 전환 — 시나리오별 맞춤 헤징 전략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11274552" cy="41148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시나리오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7373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핵심 위협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헤징 전략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1737360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투자 규모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91440" cy="77724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148840"/>
            <a:ext cx="11183112" cy="7772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428A0"/>
                </a:solidFill>
                <a:latin typeface="맑은 고딕"/>
              </a:rPr>
              <a:t>시나리오 A · 황금 요새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24028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시안 팹 상실 (NAND 40% 급감) + 대중 HBM 봉쇄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4028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시안 단계적 축소 Plan B + 일본 R&amp;D 허브 + LTA 집중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2402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D97706"/>
                </a:solidFill>
                <a:latin typeface="맑은 고딕"/>
              </a:rPr>
              <a:t>시안 이전 5조원 + 일본 R&amp;D 1조원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91440" cy="7772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10896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00000"/>
                </a:solidFill>
                <a:latin typeface="맑은 고딕"/>
              </a:rPr>
              <a:t>시나리오 C · 기술 냉전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10896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HBM 수요 급냉 + 시안 차단 이중 충격 + 소재 수출 제한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10896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캐나다·호주·카자흐스탄 소재 LTA + 순현금 30조원 + R&amp;D 3,000억원/년 사수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310896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D97706"/>
                </a:solidFill>
                <a:latin typeface="맑은 고딕"/>
              </a:rPr>
              <a:t>소재 비축·대체 계약 5,000억원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86200"/>
            <a:ext cx="91440" cy="77724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886200"/>
            <a:ext cx="11183112" cy="7772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B7280"/>
                </a:solidFill>
                <a:latin typeface="맑은 고딕"/>
              </a:rPr>
              <a:t>시나리오 D · 조용한 재편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97764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SK하이닉스 기술 우위 고착화 + CXMT 범용 DRAM 잠식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97764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HBM 조직 독립 + 패키징 인재 100인 + 산업용 AI 메모리 (차량·의료)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397764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D97706"/>
                </a:solidFill>
                <a:latin typeface="맑은 고딕"/>
              </a:rPr>
              <a:t>R&amp;D 2,000억원 (2026~2028)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754879"/>
            <a:ext cx="91440" cy="7772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846319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D97706"/>
                </a:solidFill>
                <a:latin typeface="맑은 고딕"/>
              </a:rPr>
              <a:t>시나리오 E · 패러다임 전환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4846319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HBM 40조원+ 매몰 비용화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846319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3D DRAM R&amp;D 300인 + IMEC 협약 + CXL SIG 표준 + M&amp;A 펀드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4846319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D97706"/>
                </a:solidFill>
                <a:latin typeface="맑은 고딕"/>
              </a:rPr>
              <a:t>3D DRAM R&amp;D 1,500억원/년 + M&amp;A 펀드 5,000억원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SO WHAT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Side Bet 총 투자 ≒ Main Bet의 15% — 보험치고는 합리적 비용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Step 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Step 8 · 어떤 미래가 와도 가치를 만드는 Robust 전략 7개를 도출했다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핵심 5개 (★ RS1·RS2·RS3·RS6·RS7) → 다음 5개 슬라이드에서 상세 — 7개 전략 모두 4개+ 시나리오에서 ✅ (RS7 NAND 공정 전환 주기 연장 신규)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2697480" cy="11430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73152" cy="1143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013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RS1 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맑은 고딕"/>
              </a:rPr>
              <a:t>옵션형 캐파 체계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맑은 고딕"/>
              </a:rPr>
              <a:t>"켜고 끌 수 있는 능력"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691640"/>
            <a:ext cx="2697480" cy="11430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691640"/>
            <a:ext cx="73152" cy="1143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8013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RS2 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488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맑은 고딕"/>
              </a:rPr>
              <a:t>바벨 포트폴리오 + AI 효율화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51460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맑은 고딕"/>
              </a:rPr>
              <a:t>양 끝의 강함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691640"/>
            <a:ext cx="2697480" cy="11430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691640"/>
            <a:ext cx="73152" cy="1143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8013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RS3 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488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맑은 고딕"/>
              </a:rPr>
              <a:t>고객특화·전환비용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51460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맑은 고딕"/>
              </a:rPr>
              <a:t>떠나면 비싼 메모리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1691640"/>
            <a:ext cx="2697480" cy="114300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1691640"/>
            <a:ext cx="73152" cy="114300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18013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28A0"/>
                </a:solidFill>
                <a:latin typeface="Calibri"/>
              </a:rPr>
              <a:t>RS4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1488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맑은 고딕"/>
              </a:rPr>
              <a:t>고객 포트폴리오 분산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51460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맑은 고딕"/>
              </a:rPr>
              <a:t>LTA·Take-or-Pay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971800"/>
            <a:ext cx="2697480" cy="114300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971800"/>
            <a:ext cx="73152" cy="114300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0815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28A0"/>
                </a:solidFill>
                <a:latin typeface="Calibri"/>
              </a:rPr>
              <a:t>RS5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4290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맑은 고딕"/>
              </a:rPr>
              <a:t>정책 리스크 지역 분산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79476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맑은 고딕"/>
              </a:rPr>
              <a:t>한국·미국·일본·인도 4거점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37560" y="2971800"/>
            <a:ext cx="2697480" cy="11430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37560" y="2971800"/>
            <a:ext cx="73152" cy="1143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0440" y="30815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RS6 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34290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맑은 고딕"/>
              </a:rPr>
              <a:t>재무 규율 + capex 하한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379476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맑은 고딕"/>
              </a:rPr>
              <a:t>Nucor 사이클 전 구간 사수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2971800"/>
            <a:ext cx="2697480" cy="11430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2971800"/>
            <a:ext cx="73152" cy="1143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0815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RS7 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4290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맑은 고딕"/>
              </a:rPr>
              <a:t>NAND 공정 전환 주기 연장 R&amp;D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79476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맑은 고딕"/>
              </a:rPr>
              <a:t>Hybrid Bonding 자체 IP + 4 R&amp;D 트랙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48056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428A0"/>
                </a:solidFill>
                <a:latin typeface="맑은 고딕"/>
              </a:rPr>
              <a:t>시나리오별 가치 매트릭스 — 모든 RS는 4개+ 시나리오에서 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03120" y="4892040"/>
            <a:ext cx="1645920" cy="32004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03120" y="4928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</a:rPr>
              <a:t>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94760" y="4892040"/>
            <a:ext cx="1645920" cy="32004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94760" y="4928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</a:rPr>
              <a:t>A 황금요새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0" y="4892040"/>
            <a:ext cx="1645920" cy="32004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0" y="4928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</a:rPr>
              <a:t>B AI 르네상스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78040" y="4892040"/>
            <a:ext cx="1645920" cy="32004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78040" y="4928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</a:rPr>
              <a:t>C 기술냉전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869680" y="4892040"/>
            <a:ext cx="1645920" cy="32004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69680" y="4928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</a:rPr>
              <a:t>D 조용한재편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561320" y="4892040"/>
            <a:ext cx="1645920" cy="32004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61320" y="4928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</a:rPr>
              <a:t>E 패러다임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03120" y="52578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RS1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94760" y="52578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52578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78040" y="52578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69680" y="52578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61320" y="52578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03120" y="547725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RS2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94760" y="547725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0" y="547725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78040" y="547725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69680" y="547725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61320" y="547725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  <a:latin typeface="Calibri"/>
              </a:rPr>
              <a:t>⚠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03120" y="569671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RS3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94760" y="569671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0" y="569671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78040" y="569671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  <a:latin typeface="Calibri"/>
              </a:rPr>
              <a:t>⚠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69680" y="569671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61320" y="569671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03120" y="59161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RS4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794760" y="59161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0" y="59161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78040" y="59161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69680" y="59161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561320" y="59161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03120" y="613562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RS5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794760" y="613562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86400" y="613562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  <a:latin typeface="Calibri"/>
              </a:rPr>
              <a:t>⚠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78040" y="613562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869680" y="613562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561320" y="613562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  <a:latin typeface="Calibri"/>
              </a:rPr>
              <a:t>⚠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03120" y="635508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RS6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794760" y="635508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400" y="635508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  <a:latin typeface="Calibri"/>
              </a:rPr>
              <a:t>⚠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78040" y="635508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635508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561320" y="635508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03120" y="6574535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Calibri"/>
              </a:rPr>
              <a:t>RS7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794760" y="6574535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86400" y="6574535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178040" y="6574535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869680" y="6574535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561320" y="6574535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✅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Step 8 개요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RS1 · 답은 "얼마나 짓는가"가 아니라 "켜고 끌 수 있는가"이다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Fab Shell 선행 + 장비 단계 반입 + 옵션 계약 + 롤링 리뷰 — Nucor 미니밀 모델, 호황·다운턴 둘 다 대응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6400800" cy="429768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428A0"/>
                </a:solidFill>
                <a:latin typeface="맑은 고딕"/>
              </a:rPr>
              <a:t>Fab Shell + 단계별 장비 반입 구조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5760720" cy="3383280"/>
          </a:xfrm>
          <a:prstGeom prst="rect">
            <a:avLst/>
          </a:prstGeom>
          <a:noFill/>
          <a:ln w="15875">
            <a:solidFill>
              <a:srgbClr val="142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28A0"/>
                </a:solidFill>
                <a:latin typeface="맑은 고딕"/>
              </a:rPr>
              <a:t>▢  Fab Shell (선행 건설) — Cleanroom · 유틸리티 · 인프라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880360"/>
            <a:ext cx="137160" cy="502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9260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맑은 고딕"/>
              </a:rPr>
              <a:t>Stage 1 (즉시)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9260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패키징 라인 (TSV)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7296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맑은 고딕"/>
              </a:rPr>
              <a:t>→ 트리거 발동 → 6~12개월 내 가동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3520439"/>
            <a:ext cx="137160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566159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맑은 고딕"/>
              </a:rPr>
              <a:t>Stage 2 (수요 +6개월)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566159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DRAM 라인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13047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맑은 고딕"/>
              </a:rPr>
              <a:t>→ 트리거 발동 → 6~12개월 내 가동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4160520"/>
            <a:ext cx="137160" cy="50292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42062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28A0"/>
                </a:solidFill>
                <a:latin typeface="맑은 고딕"/>
              </a:rPr>
              <a:t>Stage 3 (LTA 확정)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2062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HBM 라인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45312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맑은 고딕"/>
              </a:rPr>
              <a:t>→ 트리거 발동 → 6~12개월 내 가동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800600"/>
            <a:ext cx="137160" cy="5029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48463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맑은 고딕"/>
              </a:rPr>
              <a:t>Stage 4 (옵션)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8463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추가 캐파 발동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09320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맑은 고딕"/>
              </a:rPr>
              <a:t>→ 트리거 발동 → 6~12개월 내 가동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178308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맑은 고딕"/>
              </a:rPr>
              <a:t>핵심 메커니즘 4개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24028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28A0"/>
                </a:solidFill>
                <a:latin typeface="맑은 고딕"/>
              </a:rPr>
              <a:t>1. Fab Shell 선행 건설 + 장비 단계화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606040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건물은 미리, 장비는 신호 보고. 반입 결정 6~9개월 지연 가능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10896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28A0"/>
                </a:solidFill>
                <a:latin typeface="맑은 고딕"/>
              </a:rPr>
              <a:t>2. Multi-Product Fab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474720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DRAM/NAND/Logic 비율 분기 조정. 60~80% 범위 신축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977639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28A0"/>
                </a:solidFill>
                <a:latin typeface="맑은 고딕"/>
              </a:rPr>
              <a:t>3. 장비 발주 "반입 연기 옵션" 명문화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4343399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ASML/TEL/LAM 계약에 12개월 연기권. 옵션 프리미엄 2~5% (보험)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84632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28A0"/>
                </a:solidFill>
                <a:latin typeface="맑은 고딕"/>
              </a:rPr>
              <a:t>4. 롤링 캐파 리뷰 (분기)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5212080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연간 예산 → 분기 재검토. 이사회 승인 아젠다 제도화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SO WHAT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결정해야 할 것은 "얼마나 짓는가"가 아니라 "얼마나 빠르게 켤 수 있는가"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Robust · RS1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RS2 · 양 끝에 베팅하라 — 가운데 어정쩡한 제품은 죽인다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프리미엄 HBM (호황 마진) + 범용 1c nm DRAM (다운턴 흑자) + AI 도구로 잉여 인력 양 끝 동시 강화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balance_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7680960" cy="31627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503920" y="1691640"/>
            <a:ext cx="3200400" cy="429768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8288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AI 효율화 메커니즘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1945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D97706"/>
                </a:solidFill>
                <a:latin typeface="Calibri"/>
              </a:rPr>
              <a:t>AI EFFICIENCY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7432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맑은 고딕"/>
              </a:rPr>
              <a:t>① 2026 도구 도입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310896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맑은 고딕"/>
              </a:rPr>
              <a:t>AI 코딩·EDA·공정 시뮬레이션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맑은 고딕"/>
              </a:rPr>
              <a:t>수율 예측 (500~1,000억원)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703320"/>
            <a:ext cx="292608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D97706"/>
                </a:solidFill>
                <a:latin typeface="Calibri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7947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맑은 고딕"/>
              </a:rPr>
              <a:t>② 2027 효과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16052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맑은 고딕"/>
              </a:rPr>
              <a:t>엔지니어 생산성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맑은 고딕"/>
              </a:rPr>
              <a:t>+20~30%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754880"/>
            <a:ext cx="292608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D97706"/>
                </a:solidFill>
                <a:latin typeface="Calibri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8463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맑은 고딕"/>
              </a:rPr>
              <a:t>③ 잉여 인력 창출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5212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맑은 고딕"/>
              </a:rPr>
              <a:t>PC/Mobile/Auto 유지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맑은 고딕"/>
              </a:rPr>
              <a:t>+ RS3 고객특화 개발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263640"/>
            <a:ext cx="11731752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6263640"/>
            <a:ext cx="91440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313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SO WHAT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631364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추가 채용 없이 RS2·RS3 동시 실행의 유일한 경로 — AI 효율화가 선행 조건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Robust · RS2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RS3 · 떠나면 비싼 메모리 — CMX·SCADA·FDP 시장 현실성 검증 완료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3대 NVIDIA 데이터 경로에 깊이 통합 — 시장 규모·기술 차별·수익 모델 모두 데이터로 검증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3840480" cy="45720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CMX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828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맑은 고딕"/>
              </a:rPr>
              <a:t>KV 캐시 G3.5 계층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3840480" cy="416052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428A0"/>
                </a:solidFill>
                <a:latin typeface="맑은 고딕"/>
              </a:rPr>
              <a:t>시장 현실성 (FACT)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NVIDIA CES 2026 공식 발표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17개 클라우드·스토리지 파트너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2H 2026 일반 출시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5x TPS · 5x 전력 효율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428A0"/>
                </a:solidFill>
                <a:latin typeface="맑은 고딕"/>
              </a:rPr>
              <a:t>기술 차별화 (DIFFERENTIATION)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9476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기존 NAND 활용 가능하나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새 폼팩터 (이더넷 연결 플래시)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+ BlueField-4 DPU 통합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+ NVMe over Fabrics 최적화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006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428A0"/>
                </a:solidFill>
                <a:latin typeface="맑은 고딕"/>
              </a:rPr>
              <a:t>수익 모델 (BUSINESS)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74920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삼성 PM1753 공식 공급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PM1763 Gen6 GTC 시연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2028 점유율 40%+ 목표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매출 $1B+ (2028)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5989320"/>
            <a:ext cx="3566160" cy="2743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016752"/>
            <a:ext cx="3474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  <a:latin typeface="맑은 고딕"/>
              </a:rPr>
              <a:t>✓ 단기 fad 아님 — 장문맥 추론 인프라의 구조적 요구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0832" y="1691640"/>
            <a:ext cx="3840480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1737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SCADA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2" y="1828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맑은 고딕"/>
              </a:rPr>
              <a:t>GPU 네이티브 I/O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0832" y="2148840"/>
            <a:ext cx="3840480" cy="416052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22402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맑은 고딕"/>
              </a:rPr>
              <a:t>시장 현실성 (FACT)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251460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AI 스토리지 시장: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$36B (2025) → $322B (2035)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CAGR 24% — 단기 fad 아님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하이퍼스케일러 capex의 30%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35204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맑은 고딕"/>
              </a:rPr>
              <a:t>기술 차별화 (DIFFERENTIATION)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379476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기존 SSD = CPU 경유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SCADA = GPU 직접 제어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SK·Kioxia 100M IOPS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SLC NAND (2027 양산)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48006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맑은 고딕"/>
              </a:rPr>
              <a:t>수익 모델 (BUSINESS)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5074920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미참여 시 SSD에서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HBM 패권 손실 반복 위험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2028 SLC AI SSD 진입 필수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매출 잠재 $5B+ (2030)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07992" y="5989320"/>
            <a:ext cx="3566160" cy="2743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9432" y="6016752"/>
            <a:ext cx="3474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  <a:latin typeface="맑은 고딕"/>
              </a:rPr>
              <a:t>✓ AI 추론 표준 인터페이스 후보 — 신규 사업 카테고리 형성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84464" y="1691640"/>
            <a:ext cx="3840480" cy="4572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67344" y="1737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FDP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13264" y="1828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맑은 고딕"/>
              </a:rPr>
              <a:t>데이터 배치 표준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84464" y="2148840"/>
            <a:ext cx="3840480" cy="416052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67344" y="22402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맑은 고딕"/>
              </a:rPr>
              <a:t>시장 현실성 (FACT)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67344" y="251460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NVMe TP41461 표준화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Meta + Google + Samsung 공동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WAF -50%, 수명 2배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OS·도구 이미 지원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67344" y="35204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맑은 고딕"/>
              </a:rPr>
              <a:t>기술 차별화 (DIFFERENTIATION)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7344" y="379476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기존 NAND·컨트롤러 활용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펌웨어 + 호스트 SW 통합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튜닝 노하우가 차별화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표준 자체는 오픈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7344" y="48006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  <a:latin typeface="맑은 고딕"/>
              </a:rPr>
              <a:t>수익 모델 (BUSINESS)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67344" y="5074920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3계층 매출 모델: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① HW 프리미엄 +10~15%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② Reference 라이선스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③ 컨설팅·통합 서비스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2030 매출 $2~3B/년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21624" y="5989320"/>
            <a:ext cx="3566160" cy="2743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13064" y="6016752"/>
            <a:ext cx="3474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  <a:latin typeface="맑은 고딕"/>
              </a:rPr>
              <a:t>✓ "구글에 SW 단독 판매" 아닌 통합 검증 SSD 프리미엄 모델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SO WHAT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3대 영역 모두 시장 검증 완료 — 통합 매출 잠재력 $8~9B/년 (2030)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Robust · RS3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RS6 · 호황기 절제와 다운턴 사수는 같은 거버넌스에서 나온다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재고일수 상한 + capex 증거 기반 승인 + 다운턴 R&amp;D 4조원/년 하한 — Nucor·ExxonMobil 모델, 활동가 투자자 방어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capex_fl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7589520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0" y="1691640"/>
            <a:ext cx="3502152" cy="205740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783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28A0"/>
                </a:solidFill>
                <a:latin typeface="맑은 고딕"/>
              </a:rPr>
              <a:t>재무 규율 (지출 통제)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1945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○ 재고일수 상한 (DDR5 60일, HBM 45일)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560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○ LTA 없는 신규 캐파 금지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926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○ EBITDA → FCF 중심 의사결정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32918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○ 업황 피크 capex 증거 기반 승인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3886200"/>
            <a:ext cx="3502152" cy="210312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397763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맑은 고딕"/>
              </a:rPr>
              <a:t>다운사이클 하한 (Nucor)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389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○ HBM R&amp;D + 패키징 + 3D DRAM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68172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   합산 4조원/년 삭감 불가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97433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○ 활동가 투자자 압박 대비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26694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   "장기 가치 우선 의결권 구조"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55595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맑은 고딕"/>
              </a:rPr>
              <a:t>○ ExxonMobil 모델 차용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263640"/>
            <a:ext cx="11731752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6263640"/>
            <a:ext cx="91440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313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SO WHAT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631364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호황기 절제와 다운턴 사수가 동일 거버넌스 — 투자자 인지·이사회 결의 일관성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Robust · RS6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RS7 · NAND는 layer 경쟁이 아니라 "주기 연장" 경쟁이다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양산 ramp 6개월 지연 = 누적 이익의 2/3 소실 (Weber/PSU). 업계 4사 모두 capa 확장→process upgrade로 선회. YMTC가 hybrid bonding 핵심 IP 지배 → 자체 IP 확보가 디커플링 시 생존 변수.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691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428A0"/>
                </a:solidFill>
                <a:latin typeface="맑은 고딕"/>
              </a:rPr>
              <a:t>왜 지금 — 3가지 증거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7315200" cy="86868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73152" cy="8686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76272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맑은 고딕"/>
              </a:rPr>
              <a:t>① 학습곡선의 잔혹함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87168"/>
            <a:ext cx="7040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양산 ramp 6개월 지연 → 누적 순이익의 2/3 소실. 1년 지연 → 손실 전환. 공정 개발 1분당 약 $5,000 손실 (PSU Weber).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63240"/>
            <a:ext cx="7315200" cy="86868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063240"/>
            <a:ext cx="73152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36392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맑은 고딕"/>
              </a:rPr>
              <a:t>② 업계가 일제히 선회 (2026)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47288"/>
            <a:ext cx="7040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NAND capex $22.2B (+5%만). 4사 모두 capa 확장 대신 process upgrade·hybrid bonding에 집중. 우리만 layer 경쟁 → 한 세대 뒤처진 capex 추가 부담.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7315200" cy="86868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023360"/>
            <a:ext cx="73152" cy="86868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96512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28A0"/>
                </a:solidFill>
                <a:latin typeface="맑은 고딕"/>
              </a:rPr>
              <a:t>③ YMTC IP 지배 → 디커플링 시 차단 위험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07408"/>
            <a:ext cx="7040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Hybrid bonding 핵심 특허 다수가 YMTC 보유 (TrendForce 2025-05). Samsung·SK 라이선스 의존 → 시나리오 C 발생 시 차세대 NAND 양산 불가 리스크. 자체 IP = 국가 안보 R&amp;D.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1691640"/>
            <a:ext cx="40507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맑은 고딕"/>
              </a:rPr>
              <a:t>4 R&amp;D 트랙 (병행)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2103120"/>
            <a:ext cx="4050791" cy="8686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2103120"/>
            <a:ext cx="73152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2176272"/>
            <a:ext cx="377647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맑은 고딕"/>
              </a:rPr>
              <a:t>① Hybrid Bonding 자체 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487168"/>
            <a:ext cx="37764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맑은 고딕"/>
              </a:rPr>
              <a:t>YMTC 우회 특허 200건+ (2027). 한국 IP 컨소시엄. V11에 자체 IP 70%+. 패키징·본딩 R&amp;D 1.5조 원 추가.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3063240"/>
            <a:ext cx="4050791" cy="8686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2440" y="3063240"/>
            <a:ext cx="73152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3136392"/>
            <a:ext cx="377647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맑은 고딕"/>
              </a:rPr>
              <a:t>② Multi-deck 정교화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447288"/>
            <a:ext cx="37764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맑은 고딕"/>
              </a:rPr>
              <a:t>Deck 당 layer 한계 돌파. V9→V10 fab 재구성 비용 30% 절감 (TrendForce 추정).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2440" y="4023360"/>
            <a:ext cx="4050791" cy="8686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4023360"/>
            <a:ext cx="73152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4096512"/>
            <a:ext cx="377647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맑은 고딕"/>
              </a:rPr>
              <a:t>③ bit-per-cell 확장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407408"/>
            <a:ext cx="37764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맑은 고딕"/>
              </a:rPr>
              <a:t>QLC 비중 30%+ (2026). PLC 시제품 (2028) → 양산 검토 (2029).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4983480"/>
            <a:ext cx="4050791" cy="8686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92440" y="4983480"/>
            <a:ext cx="73152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5056632"/>
            <a:ext cx="377647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맑은 고딕"/>
              </a:rPr>
              <a:t>④ 호스트 협력 firmware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5367528"/>
            <a:ext cx="37764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맑은 고딕"/>
              </a:rPr>
              <a:t>FDP·SCADA로 같은 silicon에서 endurance 2배+, throughput 30%+. RS3 SW 매출 ($5B/2030)과 R&amp;D 자원 공유.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074920"/>
            <a:ext cx="11731752" cy="86868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166360"/>
            <a:ext cx="11338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28A0"/>
                </a:solidFill>
                <a:latin typeface="맑은 고딕"/>
              </a:rPr>
              <a:t>재무 효과 + 이사회 모니터링 KPI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486400"/>
            <a:ext cx="11338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재무 효과: 전환 주기 18→24M 연장 시 3년 누적 capex 회피 1.5~2조 원 / 양산 ramp 6개월 단축 효과 한 세대만 적용해도 누적 이익 2/3 보전     KPI: ① Hybrid bonding 자체 IP 비율  ② 공정 전환 ramp 시간  ③ NAND capex/bit growth  ④ YMTC 라이선스 의존도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263640"/>
            <a:ext cx="11731752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6263640"/>
            <a:ext cx="91440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6313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SO WHAT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631364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Layer 경쟁 = 비용 자살. 주기 연장 R&amp;D 4트랙이 모든 시나리오에서 비용 우위 + 자체 IP 생존 동시 확보.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Robust · RS7 · NEW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지난 2년 사분면이 어떻게 움직였고 — 어디로 향하는가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실시간 사분면 궤적 + 9개 결정 D-day + 12개 자동 트리거 = 다운턴 신호 즉시 포착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quadrant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7680960" cy="472839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1691640"/>
            <a:ext cx="3410712" cy="219456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17830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28A0"/>
                </a:solidFill>
                <a:latin typeface="맑은 고딕"/>
              </a:rPr>
              <a:t>9개 결정 D-day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10312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D97706"/>
                </a:solidFill>
                <a:latin typeface="Calibri"/>
              </a:rPr>
              <a:t>D1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210312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맑은 고딕"/>
              </a:rPr>
              <a:t>HBM4 NVIDIA 점유율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210312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C00000"/>
                </a:solidFill>
                <a:latin typeface="Calibri"/>
              </a:rPr>
              <a:t>D-150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29514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D97706"/>
                </a:solidFill>
                <a:latin typeface="Calibri"/>
              </a:rPr>
              <a:t>D2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295144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맑은 고딕"/>
              </a:rPr>
              <a:t>소재 비중국 다각화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2295144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C00000"/>
                </a:solidFill>
                <a:latin typeface="Calibri"/>
              </a:rPr>
              <a:t>D-150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48716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D97706"/>
                </a:solidFill>
                <a:latin typeface="Calibri"/>
              </a:rPr>
              <a:t>D6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48716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맑은 고딕"/>
              </a:rPr>
              <a:t>RS1·RS4·RS6 정책화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248716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C00000"/>
                </a:solidFill>
                <a:latin typeface="Calibri"/>
              </a:rPr>
              <a:t>D-150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679191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D97706"/>
                </a:solidFill>
                <a:latin typeface="Calibri"/>
              </a:rPr>
              <a:t>D3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679191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맑은 고딕"/>
              </a:rPr>
              <a:t>3D DRAM + IMEC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2679191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B7280"/>
                </a:solidFill>
                <a:latin typeface="Calibri"/>
              </a:rPr>
              <a:t>D-240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871215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D97706"/>
                </a:solidFill>
                <a:latin typeface="Calibri"/>
              </a:rPr>
              <a:t>D4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871215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맑은 고딕"/>
              </a:rPr>
              <a:t>텍사스 1·2단계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2871215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B7280"/>
                </a:solidFill>
                <a:latin typeface="Calibri"/>
              </a:rPr>
              <a:t>D-240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063239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D97706"/>
                </a:solidFill>
                <a:latin typeface="Calibri"/>
              </a:rPr>
              <a:t>D5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063239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맑은 고딕"/>
              </a:rPr>
              <a:t>AI 효율화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3063239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B7280"/>
                </a:solidFill>
                <a:latin typeface="Calibri"/>
              </a:rPr>
              <a:t>D-240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255263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D97706"/>
                </a:solidFill>
                <a:latin typeface="Calibri"/>
              </a:rPr>
              <a:t>D8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255263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맑은 고딕"/>
              </a:rPr>
              <a:t>텍사스 추가 보조금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3255263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B7280"/>
                </a:solidFill>
                <a:latin typeface="Calibri"/>
              </a:rPr>
              <a:t>D-240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447287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D97706"/>
                </a:solidFill>
                <a:latin typeface="Calibri"/>
              </a:rPr>
              <a:t>D9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3447287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맑은 고딕"/>
              </a:rPr>
              <a:t>M&amp;A 펀드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3447287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B7280"/>
                </a:solidFill>
                <a:latin typeface="Calibri"/>
              </a:rPr>
              <a:t>D-240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639311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D97706"/>
                </a:solidFill>
                <a:latin typeface="Calibri"/>
              </a:rPr>
              <a:t>D7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3639311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맑은 고딕"/>
              </a:rPr>
              <a:t>잉여 인력 전환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3639311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B7280"/>
                </a:solidFill>
                <a:latin typeface="Calibri"/>
              </a:rPr>
              <a:t>D-330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3977639"/>
            <a:ext cx="3410712" cy="201168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0" y="40690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12개 자동 트리거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429768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D97706"/>
                </a:solidFill>
                <a:latin typeface="맑은 고딕"/>
              </a:rPr>
              <a:t>발동 시 30일 내 전략 전환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457200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D97706"/>
                </a:solidFill>
                <a:latin typeface="맑은 고딕"/>
              </a:rPr>
              <a:t>다운턴 신호 (5)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4736592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맑은 고딕"/>
              </a:rPr>
              <a:t>빅테크 CapEx -25% / MS CapEx -20% / HBM 가격 -30% / CXMT HBM4 / Hsinx 라이선스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4919472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D97706"/>
                </a:solidFill>
                <a:latin typeface="맑은 고딕"/>
              </a:rPr>
              <a:t>지정학 (2)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5084064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맑은 고딕"/>
              </a:rPr>
              <a:t>MATCH 통과 / 텍사스 2단계 미발표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5266944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D97706"/>
                </a:solidFill>
                <a:latin typeface="맑은 고딕"/>
              </a:rPr>
              <a:t>가속 신호 (2)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5431536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맑은 고딕"/>
              </a:rPr>
              <a:t>AI 매출 $500B / 3D DRAM 50% PoC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5614416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D97706"/>
                </a:solidFill>
                <a:latin typeface="맑은 고딕"/>
              </a:rPr>
              <a:t>전략 위기 (3)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5779008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맑은 고딕"/>
              </a:rPr>
              <a:t>HBM4 미인증 / 단일 고객 &gt;25% / M&amp;A 타깃 EV&lt;5x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6263640"/>
            <a:ext cx="11731752" cy="3657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6263640"/>
            <a:ext cx="91440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6313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SO WHAT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28800" y="631364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현재 위치 (DF1 +7.5, DF2 +0.5) — B 시나리오 강한 모멘텀, 그러나 자동 실현 아님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대시보드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9개 결정은 묶음이다 — 분리해서 처리하면 효과가 사라진다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D1·D5·D7 직렬 의존 / D4·D8 동시 처리 / D6이 D9 거버넌스 기반 — 모든 결정 시한 2026 Q4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3749039" cy="1280160"/>
          </a:xfrm>
          <a:prstGeom prst="rect">
            <a:avLst/>
          </a:prstGeom>
          <a:solidFill>
            <a:srgbClr val="FEF2F2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91440" cy="12801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  <a:latin typeface="Calibri"/>
              </a:rPr>
              <a:t>D1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82880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HBM4 NVIDIA 점유율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수율 90%+ Q3 2026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점유율 28% → 40%+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974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D97706"/>
                </a:solidFill>
                <a:latin typeface="맑은 고딕"/>
              </a:rPr>
              <a:t>D-150 · 마감 임박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2" y="1691640"/>
            <a:ext cx="3749039" cy="1280160"/>
          </a:xfrm>
          <a:prstGeom prst="rect">
            <a:avLst/>
          </a:prstGeom>
          <a:solidFill>
            <a:srgbClr val="E8EEFC"/>
          </a:solidFill>
          <a:ln>
            <a:solidFill>
              <a:srgbClr val="142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691640"/>
            <a:ext cx="91440" cy="128016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7830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428A0"/>
                </a:solidFill>
                <a:latin typeface="Calibri"/>
              </a:rPr>
              <a:t>D2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9512" y="182880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소재 비중국 다각화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24028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Q3 2026 LTA 체결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6개월 비축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6974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D97706"/>
                </a:solidFill>
                <a:latin typeface="맑은 고딕"/>
              </a:rPr>
              <a:t>캐나다·호주·카자흐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84464" y="1691640"/>
            <a:ext cx="3749039" cy="1280160"/>
          </a:xfrm>
          <a:prstGeom prst="rect">
            <a:avLst/>
          </a:prstGeom>
          <a:solidFill>
            <a:srgbClr val="E8EEFC"/>
          </a:solidFill>
          <a:ln>
            <a:solidFill>
              <a:srgbClr val="142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84464" y="1691640"/>
            <a:ext cx="91440" cy="128016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13064" y="17830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428A0"/>
                </a:solidFill>
                <a:latin typeface="Calibri"/>
              </a:rPr>
              <a:t>D3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3144" y="182880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3D DRAM R&amp;D + IMEC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224028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Q4 2026 협약 체결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$200M / 200~300인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13064" y="26974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D97706"/>
                </a:solidFill>
                <a:latin typeface="맑은 고딕"/>
              </a:rPr>
              <a:t>마이크론·SK 추격 차단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108960"/>
            <a:ext cx="3749039" cy="1280160"/>
          </a:xfrm>
          <a:prstGeom prst="rect">
            <a:avLst/>
          </a:prstGeom>
          <a:solidFill>
            <a:srgbClr val="E8EEFC"/>
          </a:solidFill>
          <a:ln>
            <a:solidFill>
              <a:srgbClr val="142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108960"/>
            <a:ext cx="91440" cy="128016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2004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428A0"/>
                </a:solidFill>
                <a:latin typeface="Calibri"/>
              </a:rPr>
              <a:t>D4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324612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텍사스 1·2단계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65760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1단계 가동 + 2단계 발표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Q4 2026 마감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1148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D97706"/>
                </a:solidFill>
                <a:latin typeface="맑은 고딕"/>
              </a:rPr>
              <a:t>$4.745B 보조금 활용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70832" y="3108960"/>
            <a:ext cx="3749039" cy="1280160"/>
          </a:xfrm>
          <a:prstGeom prst="rect">
            <a:avLst/>
          </a:prstGeom>
          <a:solidFill>
            <a:srgbClr val="E8EEFC"/>
          </a:solidFill>
          <a:ln>
            <a:solidFill>
              <a:srgbClr val="142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70832" y="3108960"/>
            <a:ext cx="91440" cy="128016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99432" y="32004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428A0"/>
                </a:solidFill>
                <a:latin typeface="Calibri"/>
              </a:rPr>
              <a:t>D5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9512" y="324612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AI 효율화 전사 도입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9432" y="365760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Q4 파일럿 → Q1 전사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RS2·RS3 선행 조건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9432" y="41148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D97706"/>
                </a:solidFill>
                <a:latin typeface="맑은 고딕"/>
              </a:rPr>
              <a:t>500~1,000억 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84464" y="3108960"/>
            <a:ext cx="3749039" cy="1280160"/>
          </a:xfrm>
          <a:prstGeom prst="rect">
            <a:avLst/>
          </a:prstGeom>
          <a:solidFill>
            <a:srgbClr val="E8EEFC"/>
          </a:solidFill>
          <a:ln>
            <a:solidFill>
              <a:srgbClr val="142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84464" y="3108960"/>
            <a:ext cx="91440" cy="128016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13064" y="32004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428A0"/>
                </a:solidFill>
                <a:latin typeface="Calibri"/>
              </a:rPr>
              <a:t>D6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53144" y="324612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RS1·RS4·RS6 정책화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13064" y="365760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다운사이클 capex 4조원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명문화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13064" y="41148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D97706"/>
                </a:solidFill>
                <a:latin typeface="맑은 고딕"/>
              </a:rPr>
              <a:t>활동가 투자자 방어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526280"/>
            <a:ext cx="3749039" cy="1280160"/>
          </a:xfrm>
          <a:prstGeom prst="rect">
            <a:avLst/>
          </a:prstGeom>
          <a:solidFill>
            <a:srgbClr val="E8EEFC"/>
          </a:solidFill>
          <a:ln>
            <a:solidFill>
              <a:srgbClr val="142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526280"/>
            <a:ext cx="91440" cy="128016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46177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428A0"/>
                </a:solidFill>
                <a:latin typeface="Calibri"/>
              </a:rPr>
              <a:t>D7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25880" y="466344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잉여 인력 전환 배치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07492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2027 Q1 가시화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분기별 사업부장 보고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5321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D97706"/>
                </a:solidFill>
                <a:latin typeface="맑은 고딕"/>
              </a:rPr>
              <a:t>추가 채용 없이 RS2·RS3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70832" y="4526280"/>
            <a:ext cx="3749039" cy="1280160"/>
          </a:xfrm>
          <a:prstGeom prst="rect">
            <a:avLst/>
          </a:prstGeom>
          <a:solidFill>
            <a:srgbClr val="E8EEFC"/>
          </a:solidFill>
          <a:ln>
            <a:solidFill>
              <a:srgbClr val="142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70832" y="4526280"/>
            <a:ext cx="91440" cy="128016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99432" y="46177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428A0"/>
                </a:solidFill>
                <a:latin typeface="Calibri"/>
              </a:rPr>
              <a:t>D8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39512" y="466344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텍사스 추가 보조금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99432" y="507492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CHIPS 추가 협상 + LTA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Tesla 외 미국계 빅테크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99432" y="55321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D97706"/>
                </a:solidFill>
                <a:latin typeface="맑은 고딕"/>
              </a:rPr>
              <a:t>JV 모델 대안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84464" y="4526280"/>
            <a:ext cx="3749039" cy="1280160"/>
          </a:xfrm>
          <a:prstGeom prst="rect">
            <a:avLst/>
          </a:prstGeom>
          <a:solidFill>
            <a:srgbClr val="E8EEFC"/>
          </a:solidFill>
          <a:ln>
            <a:solidFill>
              <a:srgbClr val="142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84464" y="4526280"/>
            <a:ext cx="91440" cy="128016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13064" y="46177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428A0"/>
                </a:solidFill>
                <a:latin typeface="Calibri"/>
              </a:rPr>
              <a:t>D9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53144" y="466344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다운사이클 M&amp;A 펀드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13064" y="507492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5,000억 원 사전 적립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A1A1A"/>
                </a:solidFill>
                <a:latin typeface="맑은 고딕"/>
              </a:rPr>
              <a:t>자동 트리거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13064" y="55321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D97706"/>
                </a:solidFill>
                <a:latin typeface="맑은 고딕"/>
              </a:rPr>
              <a:t>Disney-Marvel 모델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5989320"/>
            <a:ext cx="11274552" cy="41148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" y="6035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9개는 묶음이다 — D1·D5·D7 직렬 의존 / D4·D8 동시 처리 / D6이 D9의 거버넌스 기반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결정 요약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핵심 전략 × 해결되는 문제 — Main · Side · Robust 각 영역의 가장 중요한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맑은 고딕"/>
              </a:rPr>
              <a:t>각 전략을 3~4단어로 압축 → 어떤 문제를 푸는지 명시 → 묶음으로 모든 문제 해결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3749039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MAIN BET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맑은 고딕"/>
              </a:rPr>
              <a:t>시나리오 B 베팅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0832" y="1691640"/>
            <a:ext cx="3749039" cy="50292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7373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SIDE BETS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96596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맑은 고딕"/>
              </a:rPr>
              <a:t>나머지 시나리오 보험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84464" y="1691640"/>
            <a:ext cx="3749039" cy="502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67344" y="17373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ROBUST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344" y="196596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맑은 고딕"/>
              </a:rPr>
              <a:t>시나리오 무관 가치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86000"/>
            <a:ext cx="3749039" cy="123444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286000"/>
            <a:ext cx="91440" cy="12344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377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alibri"/>
              </a:rPr>
              <a:t>#1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377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HBM4 점유율 회복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7432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D97706"/>
                </a:solidFill>
                <a:latin typeface="맑은 고딕"/>
              </a:rPr>
              <a:t>NVIDIA Rubin 28% → 40%+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063240"/>
            <a:ext cx="3520440" cy="4114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09067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문제: 시나리오 B에서 1위 자리 미확보 시 Main Bet 무의미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11880"/>
            <a:ext cx="3749039" cy="123444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611880"/>
            <a:ext cx="91440" cy="12344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703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alibri"/>
              </a:rPr>
              <a:t>#2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03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동서 균형 공급망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0690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D97706"/>
                </a:solidFill>
                <a:latin typeface="맑은 고딕"/>
              </a:rPr>
              <a:t>서방 + 신흥 + 중국 3원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4389120"/>
            <a:ext cx="3520440" cy="4114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41655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문제: 한 지역 의존이 다운턴·지정학 충격에 취약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37760"/>
            <a:ext cx="3749039" cy="123444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937760"/>
            <a:ext cx="91440" cy="12344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alibri"/>
              </a:rPr>
              <a:t>#3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029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1c nm 원가 우위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3949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D97706"/>
                </a:solidFill>
                <a:latin typeface="맑은 고딕"/>
              </a:rPr>
              <a:t>CXMT 공세 방어 기반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5715000"/>
            <a:ext cx="3520440" cy="4114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74243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문제: 범용 DRAM 마진 잠식이 다운턴 손실 키움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70832" y="2286000"/>
            <a:ext cx="3749039" cy="123444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70832" y="2286000"/>
            <a:ext cx="91440" cy="123444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53712" y="2377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28A0"/>
                </a:solidFill>
                <a:latin typeface="Calibri"/>
              </a:rPr>
              <a:t>#1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19472" y="2377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순현금 30조 버퍼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27432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1428A0"/>
                </a:solidFill>
                <a:latin typeface="맑은 고딕"/>
              </a:rPr>
              <a:t>시나리오 C 생존 기반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07992" y="3063240"/>
            <a:ext cx="3520440" cy="4114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99432" y="309067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문제: 다운턴 자금 부족 시 R&amp;D 삭감 강요됨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70832" y="3611880"/>
            <a:ext cx="3749039" cy="123444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70832" y="3611880"/>
            <a:ext cx="91440" cy="123444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53712" y="3703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28A0"/>
                </a:solidFill>
                <a:latin typeface="Calibri"/>
              </a:rPr>
              <a:t>#2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19472" y="3703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소재 공급망 다각화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53712" y="40690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1428A0"/>
                </a:solidFill>
                <a:latin typeface="맑은 고딕"/>
              </a:rPr>
              <a:t>캐나다·호주·카자흐 LTA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07992" y="4389120"/>
            <a:ext cx="3520440" cy="4114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99432" y="441655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문제: 중국 소재 수출 통제 시 원가 30% 급등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70832" y="4937760"/>
            <a:ext cx="3749039" cy="123444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70832" y="4937760"/>
            <a:ext cx="91440" cy="123444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53712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28A0"/>
                </a:solidFill>
                <a:latin typeface="Calibri"/>
              </a:rPr>
              <a:t>#3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19472" y="5029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3D DRAM + IMEC 협약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53712" y="53949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1428A0"/>
                </a:solidFill>
                <a:latin typeface="맑은 고딕"/>
              </a:rPr>
              <a:t>시나리오 E 헤징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07992" y="5715000"/>
            <a:ext cx="3520440" cy="4114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99432" y="574243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문제: HBM 패러다임 붕괴 시 40조 매몰 비용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84464" y="2286000"/>
            <a:ext cx="3749039" cy="123444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84464" y="2286000"/>
            <a:ext cx="91440" cy="12344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67344" y="2377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alibri"/>
              </a:rPr>
              <a:t>#1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33104" y="2377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옵션형 캐파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67344" y="27432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059669"/>
                </a:solidFill>
                <a:latin typeface="맑은 고딕"/>
              </a:rPr>
              <a:t>켜고 끌 수 있는 능력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21624" y="3063240"/>
            <a:ext cx="3520440" cy="4114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13064" y="309067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문제: 잘못된 타이밍 고정 증설이 다운턴 손실 핵심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84464" y="3611880"/>
            <a:ext cx="3749039" cy="123444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84464" y="3611880"/>
            <a:ext cx="91440" cy="12344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67344" y="3703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alibri"/>
              </a:rPr>
              <a:t>#2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33104" y="3703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바벨 + AI 효율화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67344" y="40690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059669"/>
                </a:solidFill>
                <a:latin typeface="맑은 고딕"/>
              </a:rPr>
              <a:t>양 끝 + 잉여 인력 전환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21624" y="4389120"/>
            <a:ext cx="3520440" cy="4114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13064" y="441655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문제: 추가 채용 없이 RS3 동시 실행의 유일 경로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84464" y="4937760"/>
            <a:ext cx="3749039" cy="123444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84464" y="4937760"/>
            <a:ext cx="91440" cy="12344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67344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alibri"/>
              </a:rP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33104" y="5029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재무 규율 + capex 하한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67344" y="53949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059669"/>
                </a:solidFill>
                <a:latin typeface="맑은 고딕"/>
              </a:rPr>
              <a:t>호황 절제 + 다운턴 사수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421624" y="5715000"/>
            <a:ext cx="3520440" cy="4114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513064" y="574243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A1A1A"/>
                </a:solidFill>
                <a:latin typeface="맑은 고딕"/>
              </a:rPr>
              <a:t>문제: 활동가 투자자 압박에 R&amp;D 무너지면 회복 불가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6355080"/>
            <a:ext cx="11274552" cy="41148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9개 핵심 전략의 묶음 = 다운턴이 와도 흑자 유지 + 회복기 1번 자리 + 자산 폭락 시 M&amp;A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맑은 고딕"/>
              </a:rPr>
              <a:t>삼성전자  |  전략 리마인드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맑은 고딕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42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82880" cy="6400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428A0"/>
                </a:solidFill>
                <a:latin typeface="Calibri"/>
              </a:rPr>
              <a:t>DECISION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맑은 고딕"/>
              </a:rPr>
              <a:t>경영진 결의 요청 사항 — 9개 결정의 묶음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91640"/>
            <a:ext cx="54864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1428A0"/>
                </a:solidFill>
                <a:latin typeface="맑은 고딕"/>
              </a:rPr>
              <a:t>"호황의 정점이</a:t>
            </a:r>
          </a:p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1428A0"/>
                </a:solidFill>
                <a:latin typeface="맑은 고딕"/>
              </a:rPr>
              <a:t> 다운턴 준비의 마지막 기회다."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맑은 고딕"/>
              </a:rPr>
              <a:t>─ 9개 결정의 묶음 의결을 요청드립니다 ─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297680"/>
            <a:ext cx="3520440" cy="182880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4297680"/>
            <a:ext cx="73152" cy="1828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4348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8920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전략 방향 승인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25780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시나리오 B Main Bet + Side Bets + Robust 6개 전략 채택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2030~2035 메모리 1위 회복 로드맵 의결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4297680"/>
            <a:ext cx="3520440" cy="182880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4297680"/>
            <a:ext cx="73152" cy="1828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44348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48920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9개 즉시 결정 패키지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525780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HBM4·소재·3D DRAM·텍사스·AI 효율화·이사회 정책화·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잉여 인력·추가 보조금·M&amp;A 펀드 — 묶음 처리. 시한: 2026 Q4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4297680"/>
            <a:ext cx="3520440" cy="1828800"/>
          </a:xfrm>
          <a:prstGeom prst="rect">
            <a:avLst/>
          </a:prstGeom>
          <a:solidFill>
            <a:srgbClr val="E8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4297680"/>
            <a:ext cx="73152" cy="1828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44348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8920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거버넌스 + 트리거 승인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525780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30일 내 의사결정 + 자동 트리거 12개 + 다운사이클 capex 하한 4조 원/년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맑은 고딕"/>
              </a:rPr>
              <a:t>+ 활동가 투자자 방어 의결권 구조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4465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맑은 고딕"/>
              </a:rPr>
              <a:t>삼성전자  ·  DS부문 메모리사업부 전략기획팀  ·  대외비  ·  2026.05.06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Samsung 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Report Master Template v2</dc:title>
  <dc:subject>PptxGenJS Presentation</dc:subject>
  <dc:creator>Samsung Electronics - Strategy Office</dc:creator>
  <cp:lastModifiedBy>Samsung Electronics - Strategy Office</cp:lastModifiedBy>
  <cp:revision>1</cp:revision>
  <dcterms:created xsi:type="dcterms:W3CDTF">2026-05-06T06:57:34Z</dcterms:created>
  <dcterms:modified xsi:type="dcterms:W3CDTF">2026-05-06T06:57:34Z</dcterms:modified>
</cp:coreProperties>
</file>