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1 · 시나리오별 — 어떤 미래에 어떤 전략이 작동하는가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5개 시나리오 × 10개 전략 매트릭스. ●●● 핵심 가치 / ●● 의미 있는 가치 / ● 부분 가치 / − 제한적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310896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핵심전략 (메인 6 + 사이드 4)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A · 황금 요새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지속+디커플링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1691640"/>
            <a:ext cx="169164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B ★ · AI 르네상스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지속+공존 (메인)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C · 기술 냉전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붕괴+디커플링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D · 조용한 재편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붕괴+공존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E · 패러다임 전환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HBM 대체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31720"/>
            <a:ext cx="31089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331720"/>
            <a:ext cx="73152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386584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3865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커스텀 AI 메모리 솔루션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233172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23957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66360" y="233172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23957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233172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3957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233172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3957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41280" y="233172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0" y="239572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724912"/>
            <a:ext cx="31089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724912"/>
            <a:ext cx="73152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2779776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277977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고객특화·전환비용 (CMX/SCADA/FDP)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272491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27889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66360" y="272491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66360" y="27889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272491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0" y="27889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49640" y="272491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27889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41280" y="272491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41280" y="27889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118104"/>
            <a:ext cx="31089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3118104"/>
            <a:ext cx="73152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317296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" y="317296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0" y="311810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0" y="318211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66360" y="311810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6360" y="318211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0" y="311810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318211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311810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49640" y="318211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41280" y="311810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18211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511296"/>
            <a:ext cx="31089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3511296"/>
            <a:ext cx="73152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" y="35661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356616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720" y="351129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74720" y="35753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66360" y="351129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66360" y="35753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58000" y="351129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0" y="35753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49640" y="351129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49640" y="35753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41280" y="351129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241280" y="35753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904488"/>
            <a:ext cx="31089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5760" y="3904488"/>
            <a:ext cx="73152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39593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SD-1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1560" y="395935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HBM 조직 독립 P&amp;L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0" y="390448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74720" y="39684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66360" y="390448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6360" y="39684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58000" y="390448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58000" y="39684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90448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49640" y="39684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241280" y="390448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241280" y="39684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4297680"/>
            <a:ext cx="31089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" y="4297680"/>
            <a:ext cx="73152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352544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51560" y="43525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재무 규율 + 초과이익 재투자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474720" y="429768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474720" y="43616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166360" y="429768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66360" y="43616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858000" y="429768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58000" y="43616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549640" y="429768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9640" y="43616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241280" y="4297680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3616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690872"/>
            <a:ext cx="31089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4690872"/>
            <a:ext cx="73152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02920" y="4745736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51560" y="47457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일본 R&amp;D 허브 (EUV 우회 NIL)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74720" y="469087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74720" y="475488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166360" y="469087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6360" y="475488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858000" y="469087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858000" y="475488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549640" y="469087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49640" y="475488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241280" y="4690872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41280" y="475488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084064"/>
            <a:ext cx="31089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65760" y="5084064"/>
            <a:ext cx="73152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0" y="513892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1560" y="51389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산업용 AI 메모리 (자동차·의료)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474720" y="508406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474720" y="51480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66360" y="508406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166360" y="51480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858000" y="508406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858000" y="51480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549640" y="508406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49640" y="51480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1280" y="5084064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241280" y="51480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5477256"/>
            <a:ext cx="31089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5760" y="5477256"/>
            <a:ext cx="73152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0" y="55321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SE-1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1560" y="55321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3D DRAM + IMEC + M&amp;A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0" y="547725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474720" y="554126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166360" y="547725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166360" y="554126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858000" y="547725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858000" y="554126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549640" y="547725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549640" y="554126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241280" y="5477256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41280" y="554126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5760" y="5870448"/>
            <a:ext cx="31089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5760" y="5870448"/>
            <a:ext cx="73152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02920" y="592531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SE-2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51560" y="592531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CXL SIG 표준 주도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474720" y="587044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74720" y="59344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166360" y="587044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166360" y="59344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858000" y="587044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858000" y="59344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549640" y="587044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549640" y="59344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241280" y="5870448"/>
            <a:ext cx="16916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241280" y="59344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RS-3·RS-5·RS-6은 거의 모든 시나리오에서 ●● 이상 — 중심축. 사이드벳은 특정 시나리오 헤지용.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1 · 시나리오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2 · 기대효과별 — 어떤 가치를 만드는가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매출 견인 / 마진 방어 / 신시장 개척 / 리스크 헤지 — 10개 전략의 1차 효과 분류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21488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6479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매출 증대 · 점유율 회복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Revenue &amp; Market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77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커스텀 AI 메모리 솔루션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4203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하이퍼스케일러 ASIC 통합, 매출 비중 20%+ (2029)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249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724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고객특화·전환비용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8950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NVIDIA 3대 통합, 통합 매출 $8~9B/년 (2030)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72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3697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신흥시장 매출 3배+ (2028, vs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198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SD-1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4198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HBM 조직 독립 P&amp;L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584448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HBM 사업부 영업이익률 35%+ 회복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1691640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1691640"/>
            <a:ext cx="91440" cy="21488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76479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맑은 고딕"/>
              </a:rPr>
              <a:t>비용 절감 · 마진 확대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07568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Cost &amp; Margin Defense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3774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RS-6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2377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254203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1c nm 원가 -30%, NAND capex 회피 1.5~2조 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27249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RS-5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724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재무 규율 + 재투자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288950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다운턴 흑자 구조, HBM 가격 60% 하락에도 흑자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59352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59352"/>
            <a:ext cx="91440" cy="2148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3250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신규 시장 개척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343400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New Market Expansion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645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4645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일본 R&amp;D 허브 (EUV 우회 NIL)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480974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ASML 의존 탈피, 한일 소재·장비 생태계 신시장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99262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49926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산업용 AI 메모리 (자동차·의료)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15721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AEC-Q100 등급, 의료·자율주행·로봇 — 사이클 안정 신시장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5352" y="3959352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5352" y="3959352"/>
            <a:ext cx="91440" cy="2148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3952" y="403250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리스크 헤지 · 패러다임 대비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4343400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Risk Hedge &amp; Paradigm Shift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4645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SE-1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45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3D DRAM + IMEC + M&amp;A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14032" y="480974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HBM 패러다임 전환 시 피벗 자원 (5천억 펀드)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499262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SE-2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49926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CXL SIG 표준 주도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15721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차세대 메모리 패브릭 표준 결정권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메인벳 6개는 매출+마진에 집중, 사이드벳 4개는 신시장+패러다임에 분산 — 자원 배분 균형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2 · 기대효과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3 · 실행부서별 — 누가 책임지는가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메모리사업부 R&amp;D / 영업·전략 / 재무·이사회 / 일본 R&amp;D / 표준·M&amp;A — 5개 책임 그룹 매핑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11430000" cy="80467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80467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647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메모리사업부 R&amp;D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DS Memory R&amp;D · 평택·기흥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MB-4 · 커스텀 AI 메모리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베이스다이 커스텀 로직, CXL 모듈 R&amp;D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5019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RS-3 · NVIDIA 통합 (CMX/SCADA/FDP)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5019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AI SSD 컨트롤러 펌웨어 + Co-Validation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8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RS-6 · 공정 리더십 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38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1c nm DRAM + NAND 4트랙 R&amp;D + Hybrid bonding 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52657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SD-1 · HBM 조직 독립 P&amp;L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52657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전용 R&amp;D 분리, 패키징 100인+ 채용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42032"/>
            <a:ext cx="11430000" cy="80467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542032"/>
            <a:ext cx="91440" cy="80467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영업 · 전략기획 · 글로벌 사업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9260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Sales · Strategy · Global Business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615184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맑은 고딕"/>
              </a:rPr>
              <a:t>MB-2 · 동서 균형 공급망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2889504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신흥시장 영업팀 신설 (사우디·UAE·인도), 시안 라이선스 협상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39" y="2615184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맑은 고딕"/>
              </a:rPr>
              <a:t>SD-2 · 산업용 AI 메모리 (자동차·의료)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39" y="2889504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자동차·의료 OEM 신규 영업, AEC-Q100 인증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92424"/>
            <a:ext cx="11430000" cy="80467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392424"/>
            <a:ext cx="91440" cy="80467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46557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재무 · 전략 · 이사회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776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CFO · Strategy ·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465576"/>
            <a:ext cx="78181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59669"/>
                </a:solidFill>
                <a:latin typeface="맑은 고딕"/>
              </a:rPr>
              <a:t>RS-5 · 재무 규율 + 초과이익 재투자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739896"/>
            <a:ext cx="78181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재고일수 상한, FCF 기준, 다운사이클 capex 하한 4조/년 이사회 결의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42816"/>
            <a:ext cx="11430000" cy="80467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242816"/>
            <a:ext cx="91440" cy="804672"/>
          </a:xfrm>
          <a:prstGeom prst="rect">
            <a:avLst/>
          </a:prstGeom>
          <a:solidFill>
            <a:srgbClr val="E3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31596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34A4A"/>
                </a:solidFill>
                <a:latin typeface="맑은 고딕"/>
              </a:rPr>
              <a:t>일본 R&amp;D 허브 (요코하마)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62686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Japan R&amp;D Hub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4315968"/>
            <a:ext cx="78181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E34A4A"/>
                </a:solidFill>
                <a:latin typeface="맑은 고딕"/>
              </a:rPr>
              <a:t>SA-2 · 일본 R&amp;D 허브 (EUV 우회 NIL)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4590288"/>
            <a:ext cx="78181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JSR·신에쓰화학·캐논 파트너십, 나노임프린트 NIL 공동 개발 (1조 원)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093208"/>
            <a:ext cx="11430000" cy="80467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093208"/>
            <a:ext cx="91440" cy="804672"/>
          </a:xfrm>
          <a:prstGeom prst="rect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16636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46C1"/>
                </a:solidFill>
                <a:latin typeface="맑은 고딕"/>
              </a:rPr>
              <a:t>표준 컨소시엄 · M&amp;A · 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477256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Standards · M&amp;A · IP 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5166360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맑은 고딕"/>
              </a:rPr>
              <a:t>SE-1 · 3D DRAM + IMEC + 스타트업 M&amp;A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5440680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IMEC 공동 연구, 3D DRAM 스타트업 2~3개 M&amp;A (5천억 펀드)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39" y="5166360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맑은 고딕"/>
              </a:rPr>
              <a:t>SE-2 · CXL SIG 표준 주도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39" y="5440680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CXL 4.0+ 워킹그룹 인력 10→25명 확대, 자사 아키텍처 표준 반영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8076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608076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130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0" y="613076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메모리사업부 R&amp;D가 4개 전략의 책임 — AI 자동화로 잉여 자원 확보 없이는 동시 실행 불가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3 · 실행부서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4 · 시간축별 — 언제 시작하고 언제 효과를 보는가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단기 (0~6M, 2026 H2) / 중기 (6~18M, 2027) / 장기 (18M+, 2028+) — 착수 시점 + 효과 발현 시점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11430000" cy="14630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1463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647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맑은 고딕"/>
              </a:rPr>
              <a:t>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0~6M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4144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2026 H2 ~ 2027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맑은 고딕"/>
              </a:rPr>
              <a:t>즉시 착수 — 거버넌스·조직·계약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78308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RS-5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17830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재무 규율 이사회 결의 + 다운사이클 capex 하한 4조 명문화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029968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SD-1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02996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HBM 사업부 독립 P&amp;L 분리 + 패키징 인재 채용 착수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27685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MB-2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27685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신흥시장 영업팀 신설 (사우디·UAE·인도) + 시안 라이선스 협상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52374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SE-2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23744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CXL SIG 워킹그룹 인력 10→25명 즉시 확대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7706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RS-3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77063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NVIDIA CMX·SCADA 공동 개발 MOU 체결, FDP 파일럿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46120"/>
            <a:ext cx="11430000" cy="14630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3192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맑은 고딕"/>
              </a:rPr>
              <a:t>중기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7033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Calibri"/>
              </a:rPr>
              <a:t>6~18M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99592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2027 H1 ~ 2028 H1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251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맑은 고딕"/>
              </a:rPr>
              <a:t>본격 실행 — R&amp;D·인프라·시장 진입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333756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MB-4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33756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구글·아마존·MS와 메모리 공동 로드맵 협의체 가동, CXL 모듈 양산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584448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RS-6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84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1c nm 80% yield 달성, V10 hybrid bonding 양산, 자체 IP 200건 출원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38313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8313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일본 R&amp;D 허브 1조 원 투자 + 나노임프린트 NIL 공동 개발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40782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SE-1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4078224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IMEC 공동 연구 협약 + 3D DRAM 스타트업 2~3개 M&amp;A 집행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432511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3320" y="43251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자동차·의료 AI 메모리 AEC-Q100 인증 + OEM 파일럿 공급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800600"/>
            <a:ext cx="11430000" cy="14630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800600"/>
            <a:ext cx="91440" cy="1463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873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맑은 고딕"/>
              </a:rPr>
              <a:t>장기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257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8A0"/>
                </a:solidFill>
                <a:latin typeface="Calibri"/>
              </a:rPr>
              <a:t>18M+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55040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2028 H2 ~ 2030+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806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맑은 고딕"/>
              </a:rPr>
              <a:t>효과 발현 — 매출·마진·생존력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3240" y="48920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RS-6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489204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V11 자체 IP 비중 70%+ 달성, NAND 공정 주기 24개월+ 연장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5138928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513892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커스텀 AI 메모리 매출 비중 20%+ (2029), CMX SSD 점유 40%+ (2028)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63240" y="538581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03320" y="538581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FDP 검증 SSD 매출 비중 30% (2030), 통합 매출 $8~9B/년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63240" y="563270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SE-1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03320" y="5632704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3D DRAM 시제품 가동, 패러다임 전환 시 즉시 양산 피벗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3240" y="587959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SD-2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03320" y="587959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산업용 메모리 매출 안정 성장 — 사이클 충격 흡수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단기는 거버넌스·조직(돈 안 듦), 중기는 R&amp;D·인프라(자원 집중), 장기는 매출·마진(수확) — 순서 지켜야 함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4 · 시간축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부록 · 10개 전략 현황 요약 — 우리는 지금 어디에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외부 공개 자료(IR·산업 리포트·뉴스)만으로 정성·정량 분석. ✅ 확정 / 🔵 추정 / ⚠️ 정보 공백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64008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764792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691640"/>
            <a:ext cx="237744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764792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전략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91640"/>
            <a:ext cx="402336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764792"/>
            <a:ext cx="3877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현재 위치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91640"/>
            <a:ext cx="329184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1764792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다음 마일스톤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0" y="1691640"/>
            <a:ext cx="109728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71632" y="1764792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신뢰도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03120"/>
            <a:ext cx="6400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103120"/>
            <a:ext cx="54864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76272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2103120"/>
            <a:ext cx="23774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19456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커스텀 AI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103120"/>
            <a:ext cx="40233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1945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HBM 회복 (Q3 2025 35%), 베이스다이 커스텀 미가시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2103120"/>
            <a:ext cx="32918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1945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 Tech Day SCADA + Pangea v3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0" y="2103120"/>
            <a:ext cx="10972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96312"/>
            <a:ext cx="6400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496312"/>
            <a:ext cx="54864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256946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2496312"/>
            <a:ext cx="23774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2587752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고객특화·전환비용 (NVIDIA 통합)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2496312"/>
            <a:ext cx="40233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25877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CMX 진입 (PM1753), SCADA 공개 로드맵 부재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2496312"/>
            <a:ext cx="32918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0" y="258775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 SCADA AI SSD 로드맵 발표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98480" y="2496312"/>
            <a:ext cx="10972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98480" y="25877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 / ⚠️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889504"/>
            <a:ext cx="6400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2889504"/>
            <a:ext cx="54864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2962656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RS-6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" y="2889504"/>
            <a:ext cx="23774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" y="2980944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2889504"/>
            <a:ext cx="40233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0" y="29809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1c yield 60%, hybrid bonding IP 공백 (YMTC 의존 정황)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06640" y="2889504"/>
            <a:ext cx="32918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 H2 V10 BV NAND 양산 + 80% 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98480" y="2889504"/>
            <a:ext cx="10972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98480" y="29809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🔵 / ⚠️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282696"/>
            <a:ext cx="6400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3282696"/>
            <a:ext cx="54864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3355848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MB-2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05840" y="3282696"/>
            <a:ext cx="23774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992" y="3374136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3280" y="3282696"/>
            <a:ext cx="40233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4720" y="337413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5거점 구축 (한·미·일·중·인도 계획), 시안 매년 갱신 리스크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06640" y="3282696"/>
            <a:ext cx="32918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98080" y="33741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 Q4 시안 라이선스 + CHIPS 2.0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698480" y="3282696"/>
            <a:ext cx="10972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98480" y="33741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675888"/>
            <a:ext cx="6400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5760" y="3675888"/>
            <a:ext cx="54864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" y="3749040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SD-1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5840" y="3675888"/>
            <a:ext cx="23774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8992" y="3767328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HBM 조직 독립 P&amp;L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83280" y="3675888"/>
            <a:ext cx="40233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74720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메모리사업부 내 통합 운영, 분리 P&amp;L 미공개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06640" y="3675888"/>
            <a:ext cx="32918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98080" y="37673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 H1 P&amp;L 분리 결정 (목표)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98480" y="3675888"/>
            <a:ext cx="10972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98480" y="37673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⚠️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069080"/>
            <a:ext cx="6400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5760" y="4069080"/>
            <a:ext cx="54864" cy="3931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4142232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RS-5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" y="4069080"/>
            <a:ext cx="23774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78992" y="416052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재무 규율 + 초과이익 재투자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83280" y="4069080"/>
            <a:ext cx="402336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4720" y="41605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현금 $63B 강점, 다운사이클 capex 하한 정책 명문화 부재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406640" y="4069080"/>
            <a:ext cx="329184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9808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 H1 이사회 결의 + IR 사전 공시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98480" y="4069080"/>
            <a:ext cx="1097280" cy="39319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698480" y="4160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 / ⚠️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62272"/>
            <a:ext cx="6400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62272"/>
            <a:ext cx="54864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8912" y="4535424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5840" y="4462272"/>
            <a:ext cx="23774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78992" y="4553712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일본 R&amp;D 허브 (EUV 우회 NIL)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83280" y="4462272"/>
            <a:ext cx="40233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74720" y="45537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Canon NIL 양산 채택 사례 부재, R&amp;D 단계 베팅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406640" y="4462272"/>
            <a:ext cx="32918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498080" y="45537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2027 NIL 공동 개발 1차 결과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698480" y="4462272"/>
            <a:ext cx="10972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698480" y="4553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⚠️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4855464"/>
            <a:ext cx="6400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" y="4855464"/>
            <a:ext cx="54864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38912" y="4928616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05840" y="4855464"/>
            <a:ext cx="23774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8992" y="4946904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산업용 AI 메모리 (자동차·의료)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280" y="4855464"/>
            <a:ext cx="40233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474720" y="494690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Tesla 다년 계약 ✅, AEC-Q100 양산 미공개, Micron에 후행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406640" y="4855464"/>
            <a:ext cx="32918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498080" y="4946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2026~2028 AEC-Q100 인증 사이클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698480" y="4855464"/>
            <a:ext cx="10972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698480" y="4946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🔵 / ⚠️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5248656"/>
            <a:ext cx="6400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65760" y="5248656"/>
            <a:ext cx="54864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8912" y="5321808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SE-1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05840" y="5248656"/>
            <a:ext cx="23774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340096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3D DRAM + IMEC + M&amp;A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383280" y="5248656"/>
            <a:ext cx="40233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3400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SK 30년 로드맵 대비 후행, Samsung 전담 조직 미공개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406640" y="5248656"/>
            <a:ext cx="32918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534009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2026~2027 전담 R&amp;D 조직 + IMEC 협약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698480" y="5248656"/>
            <a:ext cx="10972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69848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⚠️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5641848"/>
            <a:ext cx="6400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5760" y="5641848"/>
            <a:ext cx="54864" cy="3931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38912" y="5715000"/>
            <a:ext cx="530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SE-2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5840" y="5641848"/>
            <a:ext cx="23774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78992" y="5733288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CXL SIG 표준 주도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383280" y="5641848"/>
            <a:ext cx="402336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74720" y="573328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CMM-D 첫 제품 ✅, Pangea v3 (CXL 3.2) 2026 발표 예정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406640" y="5641848"/>
            <a:ext cx="329184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8080" y="57332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2026 H1 Pangea v3 + 워킹그룹 인력 2배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698480" y="5641848"/>
            <a:ext cx="1097280" cy="393192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698480" y="5733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5760" y="6217920"/>
            <a:ext cx="11430000" cy="5943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6291072"/>
            <a:ext cx="11064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핵심 정보 공백 (⚠️ 7개): HBM P&amp;L 분리 · hybrid bonding 자체 IP · SCADA 로드맵 · 3D DRAM 전담 조직 · AEC-Q100 양산 · NIL 협력 · 다운턴 capex 하한 명문화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48640" y="6547104"/>
            <a:ext cx="11064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맑은 고딕"/>
              </a:rPr>
              <a:t>→ 2026 H1 Tech Day + 이사회 결의 + IR 사전 공시로 정보 공백 해소가 다음 단계의 첫 행동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부록 · 현황 요약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