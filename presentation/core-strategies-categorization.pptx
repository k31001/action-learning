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카테고리 1 · 시나리오별 — 어떤 미래에 어떤 전략이 작동하는가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5개 시나리오 × 10개 전략 매트릭스. ●●● 핵심 가치 / ●● 의미 있는 가치 / ● 부분 가치 / − 제한적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691640"/>
            <a:ext cx="310896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맑은 고딕"/>
              </a:rPr>
              <a:t>핵심전략 (메인 6 + 사이드 4)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691640"/>
            <a:ext cx="16916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7373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</a:rPr>
              <a:t>A · 황금 요새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0208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맑은 고딕"/>
              </a:rPr>
              <a:t>AI 지속+디커플링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66360" y="1691640"/>
            <a:ext cx="1691640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17373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</a:rPr>
              <a:t>B ★ · AI 르네상스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0208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맑은 고딕"/>
              </a:rPr>
              <a:t>AI 지속+공존 (메인)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691640"/>
            <a:ext cx="16916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17373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</a:rPr>
              <a:t>C · 기술 냉전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208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맑은 고딕"/>
              </a:rPr>
              <a:t>AI 붕괴+디커플링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49640" y="1691640"/>
            <a:ext cx="16916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7373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</a:rPr>
              <a:t>D · 조용한 재편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0208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맑은 고딕"/>
              </a:rPr>
              <a:t>AI 붕괴+공존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41280" y="1691640"/>
            <a:ext cx="1691640" cy="6400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0" y="173736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</a:rPr>
              <a:t>E · 패러다임 전환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202082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맑은 고딕"/>
              </a:rPr>
              <a:t>HBM 대체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331720"/>
            <a:ext cx="3108960" cy="356616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2331720"/>
            <a:ext cx="73152" cy="35661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2368296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MB-4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236829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커스텀 AI 메모리 솔루션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233172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0" y="2377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66360" y="233172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2377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233172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2377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49640" y="233172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377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41280" y="233172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0" y="237744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688336"/>
            <a:ext cx="3108960" cy="356616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2688336"/>
            <a:ext cx="73152" cy="35661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272491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RS-3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272491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고객특화·전환비용 (CMX/SCADA/FDP)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74720" y="2688336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0" y="273405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66360" y="2688336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66360" y="273405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58000" y="2688336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0" y="273405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49640" y="2688336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9640" y="273405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41280" y="2688336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41280" y="273405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044952"/>
            <a:ext cx="3108960" cy="356616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3044952"/>
            <a:ext cx="73152" cy="35661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3081528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RS-6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" y="30815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공정 리더십 통합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474720" y="3044952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0" y="309067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166360" y="3044952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66360" y="309067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58000" y="3044952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0" y="309067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49640" y="3044952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49640" y="309067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41280" y="3044952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0" y="309067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3401568"/>
            <a:ext cx="3108960" cy="356616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5760" y="3401568"/>
            <a:ext cx="73152" cy="35661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2920" y="3438144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MB-2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34381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동서 균형 공급망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720" y="3401568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474720" y="344728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66360" y="3401568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66360" y="344728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58000" y="3401568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58000" y="344728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549640" y="3401568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549640" y="344728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41280" y="3401568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241280" y="344728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758184"/>
            <a:ext cx="3108960" cy="356616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65760" y="3758184"/>
            <a:ext cx="73152" cy="35661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02920" y="379476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SD-1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1560" y="379476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HBM 조직 독립 P&amp;L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474720" y="3758184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74720" y="380390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66360" y="3758184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66360" y="380390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858000" y="3758184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58000" y="380390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49640" y="3758184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549640" y="380390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241280" y="3758184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241280" y="380390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4114800"/>
            <a:ext cx="3108960" cy="356616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" y="4114800"/>
            <a:ext cx="73152" cy="356616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02920" y="4151376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RS-5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51560" y="415137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재무 규율 + 초과이익 재투자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474720" y="411480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474720" y="41605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166360" y="411480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166360" y="41605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858000" y="411480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858000" y="41605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549640" y="411480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549640" y="41605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241280" y="411480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41280" y="41605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4471416"/>
            <a:ext cx="3108960" cy="356616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65760" y="4471416"/>
            <a:ext cx="73152" cy="35661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02920" y="4507992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SA-2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51560" y="45079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일본 R&amp;D 허브 (EUV 우회 NIL)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474720" y="4471416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74720" y="451713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166360" y="4471416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66360" y="451713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858000" y="4471416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858000" y="451713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549640" y="4471416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549640" y="451713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241280" y="4471416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41280" y="4517136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4828032"/>
            <a:ext cx="3108960" cy="356616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65760" y="4828032"/>
            <a:ext cx="73152" cy="35661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0" y="4864608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SD-2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51560" y="48646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산업용 AI 메모리 (자동차·의료)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474720" y="4828032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474720" y="487375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●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166360" y="4828032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166360" y="487375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858000" y="4828032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858000" y="487375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549640" y="4828032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549640" y="487375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241280" y="4828032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241280" y="4873752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" y="5184648"/>
            <a:ext cx="3108960" cy="356616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65760" y="5184648"/>
            <a:ext cx="73152" cy="35661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0" y="5221224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SE-1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1560" y="522122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3D DRAM + IMEC + M&amp;A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474720" y="5184648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474720" y="52303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166360" y="5184648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166360" y="52303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6858000" y="5184648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858000" y="52303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8549640" y="5184648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8549640" y="52303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241280" y="5184648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241280" y="5230368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65760" y="5541264"/>
            <a:ext cx="3108960" cy="356616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65760" y="5541264"/>
            <a:ext cx="73152" cy="35661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02920" y="5577840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SE-2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51560" y="557784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CXL SIG 표준 주도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474720" y="5541264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74720" y="558698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166360" y="5541264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166360" y="558698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858000" y="5541264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858000" y="558698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8549640" y="5541264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549640" y="558698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10241280" y="5541264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0241280" y="5586984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65760" y="5897880"/>
            <a:ext cx="3108960" cy="356616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65760" y="5897880"/>
            <a:ext cx="73152" cy="35661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02920" y="5934456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SE-3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051560" y="59344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맑은 고딕"/>
              </a:rPr>
              <a:t>AI 인프라 수직 진출 (Vertical Ascent)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474720" y="589788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474720" y="594360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5166360" y="589788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5166360" y="594360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858000" y="589788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858000" y="594360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Calibri"/>
              </a:rPr>
              <a:t>●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549640" y="589788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8549640" y="594360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D97706"/>
                </a:solidFill>
                <a:latin typeface="Calibri"/>
              </a:rPr>
              <a:t>●●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0241280" y="5897880"/>
            <a:ext cx="1691640" cy="356616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241280" y="594360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1428A0"/>
                </a:solidFill>
                <a:latin typeface="Calibri"/>
              </a:rPr>
              <a:t>●●●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457200" y="635508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57200" y="635508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40080" y="64050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828800" y="640508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RS-3·RS-5·RS-6·SE-3은 거의 모든 시나리오에서 ●● 이상 — 중심축. SE-3는 가치사슬 마진 헷지를 추가.</a:t>
            </a:r>
          </a:p>
        </p:txBody>
      </p:sp>
      <p:cxnSp>
        <p:nvCxnSpPr>
          <p:cNvPr id="180" name="Connector 179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카테고리 1 · 시나리오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카테고리 2 · 기대효과별 — 어떤 가치를 만드는가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매출 견인 / 마진 방어 / 신시장 개척 / 리스크 헤지 — 10개 전략의 1차 효과 분류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691640"/>
            <a:ext cx="5760720" cy="21488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21488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64792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428A0"/>
                </a:solidFill>
                <a:latin typeface="맑은 고딕"/>
              </a:rPr>
              <a:t>매출 증대 · 점유율 회복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75688"/>
            <a:ext cx="5440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Revenue &amp; Market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MB-4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774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커스텀 AI 메모리 솔루션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42032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하이퍼스케일러 ASIC 통합, 매출 비중 20%+ (2029)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249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RS-3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7249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고객특화·전환비용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889504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NVIDIA 3대 통합, 통합 매출 $8~9B/년 (2030)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MB-2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72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동서 균형 공급망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23697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신흥시장 매출 3배+ (2028, vs 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198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428A0"/>
                </a:solidFill>
                <a:latin typeface="Calibri"/>
              </a:rPr>
              <a:t>SD-1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41985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HBM 조직 독립 P&amp;L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584448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HBM 사업부 영업이익률 35%+ 회복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352" y="1691640"/>
            <a:ext cx="5760720" cy="21488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5352" y="1691640"/>
            <a:ext cx="91440" cy="21488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1764792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맑은 고딕"/>
              </a:rPr>
              <a:t>비용 절감 · 마진 확대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2075688"/>
            <a:ext cx="5440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Cost &amp; Margin Defense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23774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RS-6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23774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공정 리더십 통합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032" y="2542032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1c nm 원가 -30%, NAND capex 회피 1.5~2조 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27249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RS-5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27249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재무 규율 + 재투자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2889504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다운턴 흑자 구조, HBM 가격 60% 하락에도 흑자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959352"/>
            <a:ext cx="5760720" cy="21488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59352"/>
            <a:ext cx="91440" cy="21488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032504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맑은 고딕"/>
              </a:rPr>
              <a:t>신규 시장 개척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343400"/>
            <a:ext cx="5440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New Market Expansion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6451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SA-2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4440" y="4645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일본 R&amp;D 허브 (EUV 우회 NIL)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4809744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ASML 의존 탈피, 한일 소재·장비 생태계 신시장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499262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SD-2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34440" y="499262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산업용 AI 메모리 (자동차·의료)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34440" y="515721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AEC-Q100 등급, 의료·자율주행·로봇 — 사이클 안정 신시장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45352" y="3959352"/>
            <a:ext cx="5760720" cy="21488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45352" y="3959352"/>
            <a:ext cx="91440" cy="21488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73952" y="4032504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0000"/>
                </a:solidFill>
                <a:latin typeface="맑은 고딕"/>
              </a:rPr>
              <a:t>리스크 헤지 · 패러다임 대비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3952" y="4343400"/>
            <a:ext cx="5440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Risk Hedge &amp; Paradigm Shift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3952" y="46451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  <a:latin typeface="Calibri"/>
              </a:rPr>
              <a:t>SE-1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45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3D DRAM + IMEC + M&amp;A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14032" y="4809744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HBM 패러다임 전환 시 피벗 자원 (5천억 펀드)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73952" y="499262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  <a:latin typeface="Calibri"/>
              </a:rPr>
              <a:t>SE-2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14032" y="499262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CXL SIG 표준 주도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15721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차세대 메모리 패브릭 표준 결정권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73952" y="53400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00000"/>
                </a:solidFill>
                <a:latin typeface="Calibri"/>
              </a:rPr>
              <a:t>SE-3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4032" y="53400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A1A1A"/>
                </a:solidFill>
                <a:latin typeface="맑은 고딕"/>
              </a:rPr>
              <a:t>AI 인프라 수직 진출 (Vertical Ascent)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14032" y="5504688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맑은 고딕"/>
              </a:rPr>
              <a:t>가치사슬 마진 헷지 — 3-Tier 모델 (지분/AI Factory/자체 캠퍼스)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메인벳 6개는 매출+마진에 집중, 사이드벳 4개는 신시장+패러다임에 분산 — 자원 배분 균형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카테고리 2 · 기대효과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카테고리 3 · 실행부서별 — 누가 책임지는가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메모리사업부 R&amp;D / 영업·전략 / 재무·이사회 / 일본 R&amp;D / 표준·M&amp;A — 5개 책임 그룹 매핑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691640"/>
            <a:ext cx="11430000" cy="667512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667512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647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메모리사업부 R&amp;D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756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DS Memory R&amp;D · 평택·기흥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764792"/>
            <a:ext cx="18516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맑은 고딕"/>
              </a:rPr>
              <a:t>MB-4 · 커스텀 AI 메모리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2039112"/>
            <a:ext cx="18516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HBM 베이스다이 커스텀 로직, CXL 모듈 R&amp;D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5019" y="1764792"/>
            <a:ext cx="18516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맑은 고딕"/>
              </a:rPr>
              <a:t>RS-3 · NVIDIA 통합 (CMX/SCADA/FDP)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5019" y="2039112"/>
            <a:ext cx="18516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AI SSD 컨트롤러 펌웨어 + Co-Validation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8" y="1764792"/>
            <a:ext cx="18516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맑은 고딕"/>
              </a:rPr>
              <a:t>RS-6 · 공정 리더십 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38" y="2039112"/>
            <a:ext cx="18516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1c nm DRAM + NAND 4트랙 R&amp;D + Hybrid bonding 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52657" y="1764792"/>
            <a:ext cx="18516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맑은 고딕"/>
              </a:rPr>
              <a:t>SD-1 · HBM 조직 독립 P&amp;L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52657" y="2039112"/>
            <a:ext cx="18516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HBM 전용 R&amp;D 분리, 패키징 100인+ 채용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404872"/>
            <a:ext cx="11430000" cy="667512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2404872"/>
            <a:ext cx="91440" cy="66751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478024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맑은 고딕"/>
              </a:rPr>
              <a:t>영업 · 전략기획 · 글로벌 사업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78892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Sales · Strategy · Global Business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478024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맑은 고딕"/>
              </a:rPr>
              <a:t>MB-2 · 동서 균형 공급망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2752344"/>
            <a:ext cx="38404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신흥시장 영업팀 신설 (사우디·UAE·인도), 시안 라이선스 협상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39" y="2478024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맑은 고딕"/>
              </a:rPr>
              <a:t>SD-2 · 산업용 AI 메모리 (자동차·의료)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39" y="2752344"/>
            <a:ext cx="38404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자동차·의료 OEM 신규 영업, AEC-Q100 인증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18104"/>
            <a:ext cx="11430000" cy="667512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118104"/>
            <a:ext cx="91440" cy="6675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191256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재무 · 전략 · 이사회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50215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CFO · Strategy · 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191256"/>
            <a:ext cx="78181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59669"/>
                </a:solidFill>
                <a:latin typeface="맑은 고딕"/>
              </a:rPr>
              <a:t>RS-5 · 재무 규율 + 초과이익 재투자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3465576"/>
            <a:ext cx="78181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재고일수 상한, FCF 기준, 다운사이클 capex 하한 4조/년 이사회 결의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831336"/>
            <a:ext cx="11430000" cy="667512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831336"/>
            <a:ext cx="91440" cy="667512"/>
          </a:xfrm>
          <a:prstGeom prst="rect">
            <a:avLst/>
          </a:prstGeom>
          <a:solidFill>
            <a:srgbClr val="E3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904488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E34A4A"/>
                </a:solidFill>
                <a:latin typeface="맑은 고딕"/>
              </a:rPr>
              <a:t>일본 R&amp;D 허브 (요코하마)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215384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Japan R&amp;D Hub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86200" y="3904488"/>
            <a:ext cx="78181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E34A4A"/>
                </a:solidFill>
                <a:latin typeface="맑은 고딕"/>
              </a:rPr>
              <a:t>SA-2 · 일본 R&amp;D 허브 (EUV 우회 NIL)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86200" y="4178808"/>
            <a:ext cx="78181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JSR·신에쓰화학·캐논 파트너십, 나노임프린트 NIL 공동 개발 (1조 원)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544568"/>
            <a:ext cx="11430000" cy="667512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4544568"/>
            <a:ext cx="91440" cy="667512"/>
          </a:xfrm>
          <a:prstGeom prst="rect">
            <a:avLst/>
          </a:prstGeom>
          <a:solidFill>
            <a:srgbClr val="6B4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46177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B46C1"/>
                </a:solidFill>
                <a:latin typeface="맑은 고딕"/>
              </a:rPr>
              <a:t>표준 컨소시엄 · M&amp;A · 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4928616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Standards · M&amp;A · IP Strategy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86200" y="4617720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6B46C1"/>
                </a:solidFill>
                <a:latin typeface="맑은 고딕"/>
              </a:rPr>
              <a:t>SE-1 · 3D DRAM + IMEC + 스타트업 M&amp;A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86200" y="4892040"/>
            <a:ext cx="38404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IMEC 공동 연구, 3D DRAM 스타트업 2~3개 M&amp;A (5천억 펀드)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39" y="4617720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6B46C1"/>
                </a:solidFill>
                <a:latin typeface="맑은 고딕"/>
              </a:rPr>
              <a:t>SE-2 · CXL SIG 표준 주도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39" y="4892040"/>
            <a:ext cx="38404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CXL 4.0+ 워킹그룹 인력 10→25명 확대, 자사 아키텍처 표준 반영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257800"/>
            <a:ext cx="11430000" cy="667512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5760" y="5257800"/>
            <a:ext cx="91440" cy="667512"/>
          </a:xfrm>
          <a:prstGeom prst="rect">
            <a:avLst/>
          </a:prstGeom>
          <a:solidFill>
            <a:srgbClr val="0A7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33095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A7E8C"/>
                </a:solidFill>
                <a:latin typeface="맑은 고딕"/>
              </a:rPr>
              <a:t>그룹 컨소시엄 (수직 진출)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4184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Group Consortium · DS+C&amp;T+SDS+Heavy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86200" y="5330952"/>
            <a:ext cx="781811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A7E8C"/>
                </a:solidFill>
                <a:latin typeface="맑은 고딕"/>
              </a:rPr>
              <a:t>SE-3 · AI 인프라 수직 진출 (Vertical Ascent)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86200" y="5605272"/>
            <a:ext cx="78181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1A1A1A"/>
                </a:solidFill>
                <a:latin typeface="맑은 고딕"/>
              </a:rPr>
              <a:t>Stargate Korea LOI→DA 본계약, 4사 운영 협약, 부유식 DC, GPUaaS 확장, neocloud equity-for-supply swap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08076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" y="608076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61307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28800" y="613076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메모리사업부 R&amp;D가 4개 전략의 책임 — AI 자동화로 잉여 자원 확보 없이는 동시 실행 불가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카테고리 3 · 실행부서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카테고리 4 · 시간축별 — 언제 시작하고 언제 효과를 보는가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단기 (0~6M, 2026 H2) / 중기 (6~18M, 2027) / 장기 (18M+, 2028+) — 착수 시점 + 효과 발현 시점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691640"/>
            <a:ext cx="11430000" cy="14630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1463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647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C00000"/>
                </a:solidFill>
                <a:latin typeface="맑은 고딕"/>
              </a:rPr>
              <a:t>단기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0~6M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44144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2026 H2 ~ 2027 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맑은 고딕"/>
              </a:rPr>
              <a:t>즉시 착수 — 거버넌스·조직·계약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764792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Calibri"/>
              </a:rPr>
              <a:t>RS-5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17647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재무 규율 이사회 결의 + 다운사이클 capex 하한 4조 명문화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1988820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Calibri"/>
              </a:rPr>
              <a:t>SD-1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198882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HBM 사업부 독립 P&amp;L 분리 + 패키징 인재 채용 착수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212847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Calibri"/>
              </a:rPr>
              <a:t>MB-2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212847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신흥시장 영업팀 신설 (사우디·UAE·인도) + 시안 라이선스 협상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436876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Calibri"/>
              </a:rPr>
              <a:t>SE-2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43687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CXL SIG 워킹그룹 인력 10→25명 즉시 확대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660904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Calibri"/>
              </a:rPr>
              <a:t>RS-3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660904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NVIDIA CMX·SCADA 공동 개발 MOU 체결, FDP 파일럿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2884932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Calibri"/>
              </a:rPr>
              <a:t>SE-3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8849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Stargate Korea LOI→DA 본 계약 + 4사(Electronics·C&amp;T·SDS·Heavy) 컨소시엄 운영 협약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246120"/>
            <a:ext cx="11430000" cy="14630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246120"/>
            <a:ext cx="91440" cy="1463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31927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맑은 고딕"/>
              </a:rPr>
              <a:t>중기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37033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97706"/>
                </a:solidFill>
                <a:latin typeface="Calibri"/>
              </a:rPr>
              <a:t>6~18M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99592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2027 H1 ~ 2028 H1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2519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맑은 고딕"/>
              </a:rPr>
              <a:t>본격 실행 — R&amp;D·인프라·시장 진입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3240" y="3319272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MB-4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31927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구글·아마존·MS와 메모리 공동 로드맵 협의체 가동, CXL 모듈 양산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63240" y="3543300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RS-6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354330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1c nm 80% yield 달성, V10 hybrid bonding 양산, 자체 IP 200건 출원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3767327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SA-2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3767327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일본 R&amp;D 허브 1조 원 투자 + 나노임프린트 NIL 공동 개발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63240" y="3991356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SE-1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3320" y="399135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IMEC 공동 연구 협약 + 3D DRAM 스타트업 2~3개 M&amp;A 집행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4215384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SD-2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4215384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자동차·의료 AI 메모리 AEC-Q100 인증 + OEM 파일럿 공급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3240" y="4439412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SE-3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443941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Tier 1 neocloud equity-for-supply swap 1건 + 첫 BTO/BOO 컨소시엄 수주 (OpenAI/Anthropic 한국 capacity)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800600"/>
            <a:ext cx="11430000" cy="146304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5760" y="4800600"/>
            <a:ext cx="91440" cy="146304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87375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428A0"/>
                </a:solidFill>
                <a:latin typeface="맑은 고딕"/>
              </a:rPr>
              <a:t>장기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257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428A0"/>
                </a:solidFill>
                <a:latin typeface="Calibri"/>
              </a:rPr>
              <a:t>18M+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5550408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2028 H2 ~ 2030+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806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맑은 고딕"/>
              </a:rPr>
              <a:t>효과 발현 — 매출·마진·생존력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63240" y="4873752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Calibri"/>
              </a:rPr>
              <a:t>RS-6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03320" y="487375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V11 자체 IP 비중 70%+ 달성, NAND 공정 주기 24개월+ 연장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63240" y="5097780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Calibri"/>
              </a:rPr>
              <a:t>MB-4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03320" y="509778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커스텀 AI 메모리 매출 비중 20%+ (2029), CMX SSD 점유 40%+ (2028)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3240" y="5321807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Calibri"/>
              </a:rPr>
              <a:t>RS-3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03320" y="5321807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FDP 검증 SSD 매출 비중 30% (2030), 통합 매출 $8~9B/년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63240" y="5545836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Calibri"/>
              </a:rPr>
              <a:t>SE-1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03320" y="554583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3D DRAM 시제품 가동, 패러다임 전환 시 즉시 양산 피벗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063240" y="5769864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Calibri"/>
              </a:rPr>
              <a:t>SD-2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03320" y="5769864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산업용 메모리 매출 안정 성장 — 사이클 충격 흡수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3240" y="5993892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Calibri"/>
              </a:rPr>
              <a:t>SE-3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703320" y="59938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Hwaseong/Pyeongtaek 인접 자체 AI DC 캠퍼스 1단계 50~100MW + Sovereign AI 매출 $3B+ (2032)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9893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7200" y="59893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6039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0" y="60393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단기는 거버넌스·조직(돈 안 듦), 중기는 R&amp;D·인프라(자원 집중), 장기는 매출·마진(수확) — 순서 지켜야 함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카테고리 4 · 시간축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부록 · 11개 전략 현황 요약 — 우리는 지금 어디에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외부 공개 자료(IR·산업 리포트·뉴스)만으로 정성·정량 분석. ✅ 확정 / 🔵 추정 / ⚠️ 정보 공백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691640"/>
            <a:ext cx="640080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764792"/>
            <a:ext cx="493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1691640"/>
            <a:ext cx="2377440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764792"/>
            <a:ext cx="22311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전략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691640"/>
            <a:ext cx="4023360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764792"/>
            <a:ext cx="3877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현재 위치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91640"/>
            <a:ext cx="3291840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9792" y="1764792"/>
            <a:ext cx="3145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맑은 고딕"/>
              </a:rPr>
              <a:t>다음 마일스톤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98480" y="1691640"/>
            <a:ext cx="1097280" cy="4114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71632" y="1764792"/>
            <a:ext cx="950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맑은 고딕"/>
              </a:rPr>
              <a:t>신뢰도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03120"/>
            <a:ext cx="6400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103120"/>
            <a:ext cx="54864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157984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8A0"/>
                </a:solidFill>
                <a:latin typeface="Calibri"/>
              </a:rPr>
              <a:t>MB-4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5840" y="2103120"/>
            <a:ext cx="237744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2176272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커스텀 AI 메모리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2103120"/>
            <a:ext cx="402336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217627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HBM 회복 (Q3 2025 35%), 베이스다이 커스텀 미가시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2103120"/>
            <a:ext cx="329184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0" y="217627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2026 Tech Day SCADA + Pangea v3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98480" y="2103120"/>
            <a:ext cx="10972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0" y="217627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468880"/>
            <a:ext cx="6400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2468880"/>
            <a:ext cx="54864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2523744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8A0"/>
                </a:solidFill>
                <a:latin typeface="Calibri"/>
              </a:rPr>
              <a:t>RS-3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2468880"/>
            <a:ext cx="237744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8992" y="2542032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고객특화·전환비용 (NVIDIA 통합)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2468880"/>
            <a:ext cx="402336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254203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CMX 진입 (PM1753), SCADA 공개 로드맵 부재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06640" y="2468880"/>
            <a:ext cx="329184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0" y="254203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2026 SCADA AI SSD 로드맵 발표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98480" y="2468880"/>
            <a:ext cx="10972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98480" y="254203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✅ / ⚠️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834640"/>
            <a:ext cx="6400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2834640"/>
            <a:ext cx="54864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" y="2889504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8A0"/>
                </a:solidFill>
                <a:latin typeface="Calibri"/>
              </a:rPr>
              <a:t>RS-6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5840" y="2834640"/>
            <a:ext cx="237744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78992" y="2907792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공정 리더십 통합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83280" y="2834640"/>
            <a:ext cx="402336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0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1c yield 60%, hybrid bonding IP 공백 (YMTC 의존 정황)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06640" y="2834640"/>
            <a:ext cx="329184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0" y="290779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2026 H2 V10 BV NAND 양산 + 80% yield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98480" y="2834640"/>
            <a:ext cx="10972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98480" y="290779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🔵 / ⚠️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200400"/>
            <a:ext cx="6400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3200400"/>
            <a:ext cx="54864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8912" y="3255264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8A0"/>
                </a:solidFill>
                <a:latin typeface="Calibri"/>
              </a:rPr>
              <a:t>MB-2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05840" y="3200400"/>
            <a:ext cx="237744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8992" y="3273552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동서 균형 공급망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83280" y="3200400"/>
            <a:ext cx="402336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74720" y="327355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5거점 구축 (한·미·일·중·인도 계획), 시안 매년 갱신 리스크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06640" y="3200400"/>
            <a:ext cx="329184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98080" y="327355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2026 Q4 시안 라이선스 + CHIPS 2.0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698480" y="3200400"/>
            <a:ext cx="10972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698480" y="32735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566160"/>
            <a:ext cx="6400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65760" y="3566160"/>
            <a:ext cx="54864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" y="3621024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8A0"/>
                </a:solidFill>
                <a:latin typeface="Calibri"/>
              </a:rPr>
              <a:t>SD-1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5840" y="3566160"/>
            <a:ext cx="237744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78992" y="3639312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HBM 조직 독립 P&amp;L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383280" y="3566160"/>
            <a:ext cx="402336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74720" y="36393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메모리사업부 내 통합 운영, 분리 P&amp;L 미공개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406640" y="3566160"/>
            <a:ext cx="329184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498080" y="363931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2026 H1 P&amp;L 분리 결정 (목표)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98480" y="3566160"/>
            <a:ext cx="10972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98480" y="363931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⚠️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3931920"/>
            <a:ext cx="6400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65760" y="3931920"/>
            <a:ext cx="54864" cy="3657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38912" y="3986784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1428A0"/>
                </a:solidFill>
                <a:latin typeface="Calibri"/>
              </a:rPr>
              <a:t>RS-5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" y="3931920"/>
            <a:ext cx="237744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78992" y="4005072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재무 규율 + 초과이익 재투자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83280" y="3931920"/>
            <a:ext cx="402336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4720" y="400507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현금 $63B 강점, 다운사이클 capex 하한 정책 명문화 부재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406640" y="3931920"/>
            <a:ext cx="329184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98080" y="400507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2026 H1 이사회 결의 + IR 사전 공시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98480" y="3931920"/>
            <a:ext cx="1097280" cy="365760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698480" y="400507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✅ / ⚠️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297680"/>
            <a:ext cx="64008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65760" y="4297680"/>
            <a:ext cx="54864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8912" y="4352544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D97706"/>
                </a:solidFill>
                <a:latin typeface="Calibri"/>
              </a:rPr>
              <a:t>SA-2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05840" y="4297680"/>
            <a:ext cx="237744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78992" y="4370832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일본 R&amp;D 허브 (EUV 우회 NIL)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383280" y="4297680"/>
            <a:ext cx="402336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74720" y="437083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Canon NIL 양산 채택 사례 부재, R&amp;D 단계 베팅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406640" y="4297680"/>
            <a:ext cx="329184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498080" y="437083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2027 NIL 공동 개발 1차 결과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698480" y="4297680"/>
            <a:ext cx="109728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698480" y="437083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⚠️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4663440"/>
            <a:ext cx="64008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" y="4663440"/>
            <a:ext cx="54864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38912" y="4718304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D97706"/>
                </a:solidFill>
                <a:latin typeface="Calibri"/>
              </a:rPr>
              <a:t>SD-2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05840" y="4663440"/>
            <a:ext cx="237744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78992" y="4736592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산업용 AI 메모리 (자동차·의료)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383280" y="4663440"/>
            <a:ext cx="402336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474720" y="47365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Tesla 다년 계약 ✅, AEC-Q100 양산 미공개, Micron에 후행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406640" y="4663440"/>
            <a:ext cx="329184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498080" y="473659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2026~2028 AEC-Q100 인증 사이클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698480" y="4663440"/>
            <a:ext cx="109728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698480" y="473659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🔵 / ⚠️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65760" y="5029200"/>
            <a:ext cx="64008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65760" y="5029200"/>
            <a:ext cx="54864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38912" y="5084064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D97706"/>
                </a:solidFill>
                <a:latin typeface="Calibri"/>
              </a:rPr>
              <a:t>SE-1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05840" y="5029200"/>
            <a:ext cx="237744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8992" y="5102352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3D DRAM + IMEC + M&amp;A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383280" y="5029200"/>
            <a:ext cx="402336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474720" y="510235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SK 30년 로드맵 대비 후행, Samsung 전담 조직 미공개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406640" y="5029200"/>
            <a:ext cx="329184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0" y="510235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2026~2027 전담 R&amp;D 조직 + IMEC 협약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0698480" y="5029200"/>
            <a:ext cx="109728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0698480" y="51023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⚠️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5760" y="5394960"/>
            <a:ext cx="64008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65760" y="5394960"/>
            <a:ext cx="54864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38912" y="5449824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D97706"/>
                </a:solidFill>
                <a:latin typeface="Calibri"/>
              </a:rPr>
              <a:t>SE-2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005840" y="5394960"/>
            <a:ext cx="237744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078992" y="5468112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CXL SIG 표준 주도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383280" y="5394960"/>
            <a:ext cx="402336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474720" y="546811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CMM-D 첫 제품 ✅, Pangea v3 (CXL 3.2) 2026 발표 예정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406640" y="5394960"/>
            <a:ext cx="329184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8080" y="546811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2026 H1 Pangea v3 + 워킹그룹 인력 2배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698480" y="5394960"/>
            <a:ext cx="109728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698480" y="546811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✅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65760" y="5760720"/>
            <a:ext cx="64008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65760" y="5760720"/>
            <a:ext cx="54864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38912" y="5815584"/>
            <a:ext cx="5303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D97706"/>
                </a:solidFill>
                <a:latin typeface="Calibri"/>
              </a:rPr>
              <a:t>SE-3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05840" y="5760720"/>
            <a:ext cx="237744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78992" y="5833872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AI 인프라 수직 진출 (Vertical Ascent)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383280" y="5760720"/>
            <a:ext cx="402336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474720" y="583387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Stargate Korea LOI(2025-10) ✅, 그룹 통합 P&amp;L·통합 의사결정 부재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406640" y="5760720"/>
            <a:ext cx="329184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498080" y="5833872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1A1A1A"/>
                </a:solidFill>
                <a:latin typeface="맑은 고딕"/>
              </a:rPr>
              <a:t>2026 H1 Stargate Korea 4사 컨소시엄 운영 협약 + DA 본계약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0698480" y="5760720"/>
            <a:ext cx="1097280" cy="365760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698480" y="583387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428A0"/>
                </a:solidFill>
                <a:latin typeface="Calibri"/>
              </a:rPr>
              <a:t>✅ / ⚠️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365760" y="6236208"/>
            <a:ext cx="11430000" cy="5943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8640" y="6309360"/>
            <a:ext cx="11064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맑은 고딕"/>
              </a:rPr>
              <a:t>핵심 정보 공백 (⚠️ 7개): HBM P&amp;L 분리 · hybrid bonding 자체 IP · SCADA 로드맵 · 3D DRAM 전담 조직 · AEC-Q100 양산 · NIL 협력 · 다운턴 capex 하한 명문화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48640" y="6565392"/>
            <a:ext cx="11064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  <a:latin typeface="맑은 고딕"/>
              </a:rPr>
              <a:t>→ 2026 H1 Tech Day + 이사회 결의 + IR 사전 공시로 정보 공백 해소가 다음 단계의 첫 행동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부록 · 현황 요약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73175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맑은 고딕"/>
              </a:rPr>
              <a:t>SE-3 Deep Dive · AI 가치사슬 수직 진출 — 메모리 위 70% 마진 헷지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73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맑은 고딕"/>
              </a:rPr>
              <a:t>NVIDIA DC FY26 영업이익률 60.4% / AWS·Google Cloud 32.9% / 메모리 슈퍼사이클 ~25% — 3-Tier 단계 진입으로 가치사슬 상류 이동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65760" y="1691640"/>
            <a:ext cx="5760720" cy="23317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2331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6479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0000"/>
                </a:solidFill>
                <a:latin typeface="맑은 고딕"/>
              </a:rPr>
              <a:t>① 가치사슬 마진 분포 — 메모리는 "재료 공급자"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Margin distribution across the AI value chain (FY2025/2026)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NVIDIA Data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377440"/>
            <a:ext cx="1188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$197B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2423160"/>
            <a:ext cx="1325514" cy="1554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2377440"/>
            <a:ext cx="548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C00000"/>
                </a:solidFill>
                <a:latin typeface="Calibri"/>
              </a:rPr>
              <a:t>60.4%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97480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AWS / Google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697480"/>
            <a:ext cx="1188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$115B / $48B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743200"/>
            <a:ext cx="722010" cy="1554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2697480"/>
            <a:ext cx="548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32.9%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17520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Hyperscaler Avg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017520"/>
            <a:ext cx="1188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Big4 $388B capex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3063240"/>
            <a:ext cx="658368" cy="1554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3017520"/>
            <a:ext cx="548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~30%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337560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Memory (슈퍼사이클)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337560"/>
            <a:ext cx="1188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cyclical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383280"/>
            <a:ext cx="548640" cy="1554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06440" y="3337560"/>
            <a:ext cx="548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428A0"/>
                </a:solidFill>
                <a:latin typeface="Calibri"/>
              </a:rPr>
              <a:t>~25%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57600"/>
            <a:ext cx="18288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1A1A1A"/>
                </a:solidFill>
                <a:latin typeface="맑은 고딕"/>
              </a:rPr>
              <a:t>Server OEM (Dell)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657600"/>
            <a:ext cx="11887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280"/>
                </a:solidFill>
                <a:latin typeface="Calibri"/>
              </a:rPr>
              <a:t>$12.5B AI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3703320"/>
            <a:ext cx="98755" cy="15544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3657600"/>
            <a:ext cx="5486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6B7280"/>
                </a:solidFill>
                <a:latin typeface="Calibri"/>
              </a:rPr>
              <a:t>3~5%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1691640"/>
            <a:ext cx="5760720" cy="233172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1691640"/>
            <a:ext cx="91440" cy="233172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1764792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428A0"/>
                </a:solidFill>
                <a:latin typeface="맑은 고딕"/>
              </a:rPr>
              <a:t>② 진입 가능 TAM (2025 → 2030)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20574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Total addressable market for AI infra ascent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2377440"/>
            <a:ext cx="5394960" cy="29260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242316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맑은 고딕"/>
              </a:rPr>
              <a:t>지표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24231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2025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242316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2030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44200" y="242316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맑은 고딕"/>
              </a:rPr>
              <a:t>성장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2670048"/>
            <a:ext cx="5394960" cy="292608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2715768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전 세계 DC 용량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271576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Calibri"/>
              </a:rPr>
              <a:t>103 GW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271576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428A0"/>
                </a:solidFill>
                <a:latin typeface="Calibri"/>
              </a:rPr>
              <a:t>200 GW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44200" y="271576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+14% CAGR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46520" y="2962656"/>
            <a:ext cx="5394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3008376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AI DC 시장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300837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Calibri"/>
              </a:rPr>
              <a:t>$147B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64040" y="3008376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428A0"/>
                </a:solidFill>
                <a:latin typeface="Calibri"/>
              </a:rPr>
              <a:t>$811B (2033)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44200" y="300837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+24% CAGR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46520" y="3255264"/>
            <a:ext cx="5394960" cy="292608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37960" y="3300984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AI 서버 시장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330098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Calibri"/>
              </a:rPr>
              <a:t>$245B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300984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428A0"/>
                </a:solidFill>
                <a:latin typeface="Calibri"/>
              </a:rPr>
              <a:t>$524B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44200" y="330098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+18% CAGR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46520" y="3547872"/>
            <a:ext cx="5394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3593592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Big 4 Capex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66760" y="3593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Calibri"/>
              </a:rPr>
              <a:t>$388B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64040" y="359359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428A0"/>
                </a:solidFill>
                <a:latin typeface="Calibri"/>
              </a:rPr>
              <a:t>$630B (2026)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744200" y="3593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+62% YoY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46520" y="3840480"/>
            <a:ext cx="5394960" cy="292608"/>
          </a:xfrm>
          <a:prstGeom prst="rect">
            <a:avLst/>
          </a:prstGeom>
          <a:solidFill>
            <a:srgbClr val="E8EE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37960" y="3886200"/>
            <a:ext cx="1828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1A1A1A"/>
                </a:solidFill>
                <a:latin typeface="맑은 고딕"/>
              </a:rPr>
              <a:t>Neocloud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66760" y="388620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1A1A1A"/>
                </a:solidFill>
                <a:latin typeface="Calibri"/>
              </a:rPr>
              <a:t>$25B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64040" y="38862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1428A0"/>
                </a:solidFill>
                <a:latin typeface="Calibri"/>
              </a:rPr>
              <a:t>$180B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44200" y="388620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D97706"/>
                </a:solidFill>
                <a:latin typeface="Calibri"/>
              </a:rPr>
              <a:t>+69% CAGR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4160520"/>
            <a:ext cx="3822191" cy="219456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65760" y="4160520"/>
            <a:ext cx="91440" cy="2194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4233672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맑은 고딕"/>
              </a:rPr>
              <a:t>Tier 1 · 지분 헷지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" y="4526280"/>
            <a:ext cx="35478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Equity Hedge (Light)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4782312"/>
            <a:ext cx="3456431" cy="274320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" y="4809744"/>
            <a:ext cx="336499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맑은 고딕"/>
              </a:rPr>
              <a:t>$5~10B (5y)  ·  낮음 — 운영 부담 없음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94360" y="5138928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Catalyst Fund/계열 VC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4360" y="5330952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→ CoreWeave-급 neocloud 1~3% 지분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4360" y="5522976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HBM 장기공급 ↔ Equity swap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" y="5715000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하이퍼스케일러 Pref Equity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6025896"/>
            <a:ext cx="3456431" cy="25603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0080" y="6062472"/>
            <a:ext cx="33649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KPI · 지분 IRR 15%+ / AI 이익 환수율 5%+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79391" y="4160520"/>
            <a:ext cx="3822191" cy="219456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279391" y="4160520"/>
            <a:ext cx="91440" cy="219456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2271" y="4233672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428A0"/>
                </a:solidFill>
                <a:latin typeface="맑은 고딕"/>
              </a:rPr>
              <a:t>Tier 2 · AI Factory 파트너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62271" y="4526280"/>
            <a:ext cx="35478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Already Started (Stargate Korea LOI)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462271" y="4782312"/>
            <a:ext cx="3456431" cy="27432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53711" y="4809744"/>
            <a:ext cx="336499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맑은 고딕"/>
              </a:rPr>
              <a:t>$15~25B (5y)  ·  중 — 카니발리제이션 가능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507991" y="5138928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Stargate Korea LOI → DA 본계약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07991" y="5330952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4사 컨소시엄 운영 협약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07991" y="5522976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BTO/BOO 모델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07991" y="5715000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Floating DC 상용화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07991" y="5907024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Samsung SDS GPUaaS 확장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62271" y="6025896"/>
            <a:ext cx="3456431" cy="25603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53711" y="6062472"/>
            <a:ext cx="33649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KPI · DC 매출 $5B (2030) / C&amp;T 신규 수주 $10B/yr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193022" y="4160520"/>
            <a:ext cx="3822191" cy="2194560"/>
          </a:xfrm>
          <a:prstGeom prst="rect">
            <a:avLst/>
          </a:prstGeom>
          <a:solidFill>
            <a:srgbClr val="F8FAFC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193022" y="4160520"/>
            <a:ext cx="91440" cy="21945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375902" y="4233672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맑은 고딕"/>
              </a:rPr>
              <a:t>Tier 3 · 자체 AI 캠퍼스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375902" y="4526280"/>
            <a:ext cx="354787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Co-Owner (옵션)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75902" y="4782312"/>
            <a:ext cx="3456431" cy="274320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467342" y="4809744"/>
            <a:ext cx="336499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맑은 고딕"/>
              </a:rPr>
              <a:t>$20~40B (5y)  ·  높음 — 메모리 capex 충돌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21622" y="5138928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Hwaseong/Pyeongtaek 인접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421622" y="5330952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50~300MW AI DC 캠퍼스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421622" y="5522976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HBM 직공급 + 액침냉각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421622" y="5715000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자체 LNG/연료전지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21622" y="5907024"/>
            <a:ext cx="345643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A1A1A"/>
                </a:solidFill>
                <a:latin typeface="맑은 고딕"/>
              </a:rPr>
              <a:t>• Sovereign AI (KR·SEA·중동)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375902" y="6025896"/>
            <a:ext cx="3456431" cy="256032"/>
          </a:xfrm>
          <a:prstGeom prst="rect">
            <a:avLst/>
          </a:prstGeom>
          <a:solidFill>
            <a:srgbClr val="FEF3C7"/>
          </a:solidFill>
          <a:ln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467342" y="6062472"/>
            <a:ext cx="336499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1428A0"/>
                </a:solidFill>
                <a:latin typeface="맑은 고딕"/>
              </a:rPr>
              <a:t>KPI · 자체 DC 200MW (2030) / Sovereign $3B (2032)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7200" y="6446520"/>
            <a:ext cx="11731752" cy="36576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57200" y="6446520"/>
            <a:ext cx="91440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40080" y="649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SO WHAT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828800" y="6496520"/>
            <a:ext cx="9902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맑은 고딕"/>
              </a:rPr>
              <a:t>AI 락인 시 메모리 위에서 마진 70%가 가치사슬 상류로 누적 — 3-Tier 동시 착수 (Tier 1·2 우선, Tier 3는 옵션). RS-5 capex 하한과 별도 자본 트랙으로 운용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7200" y="6400800"/>
            <a:ext cx="11274552" cy="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맑은 고딕"/>
              </a:rPr>
              <a:t>삼성전자  |  SE-3 Deep Dive · 가치사슬 헷지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맑은 고딕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Samsung Electronics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Report Master Template v2</dc:title>
  <dc:subject>PptxGenJS Presentation</dc:subject>
  <dc:creator>Samsung Electronics - Strategy Office</dc:creator>
  <cp:lastModifiedBy>Samsung Electronics - Strategy Office</cp:lastModifiedBy>
  <cp:revision>1</cp:revision>
  <dcterms:created xsi:type="dcterms:W3CDTF">2026-05-06T06:57:34Z</dcterms:created>
  <dcterms:modified xsi:type="dcterms:W3CDTF">2026-05-06T06:57:34Z</dcterms:modified>
</cp:coreProperties>
</file>