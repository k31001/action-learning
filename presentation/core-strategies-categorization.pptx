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카테고리 1 · 시나리오별 — 어떤 미래에 어떤 전략이 작동하는가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5개 시나리오 × 10개 전략 매트릭스. ●●● 핵심 가치 / ●● 의미 있는 가치 / ● 부분 가치 / − 제한적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691640"/>
            <a:ext cx="3108960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핵심전략 (메인 6 + 사이드 4)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91640"/>
            <a:ext cx="1691640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A · 황금 요새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208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맑은 고딕"/>
              </a:rPr>
              <a:t>AI 지속+디커플링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691640"/>
            <a:ext cx="169164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B ★ · AI 르네상스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0208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맑은 고딕"/>
              </a:rPr>
              <a:t>AI 지속+공존 (메인)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691640"/>
            <a:ext cx="1691640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737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C · 기술 냉전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208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맑은 고딕"/>
              </a:rPr>
              <a:t>AI 붕괴+디커플링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691640"/>
            <a:ext cx="1691640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37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D · 조용한 재편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0208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맑은 고딕"/>
              </a:rPr>
              <a:t>AI 붕괴+공존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1691640"/>
            <a:ext cx="1691640" cy="6400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73736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E · 패러다임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0208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맑은 고딕"/>
              </a:rPr>
              <a:t>HBM 대체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331720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38658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MB-4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38658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커스텀 AI 메모리 솔루션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33172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3957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233172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3957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33172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3957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233172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3957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233172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3957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724912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2724912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7797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RS-3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277977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고객특화·전환비용 (CMX/SCADA/FDP)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72491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27889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272491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27889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272491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27889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9640" y="272491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7889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1280" y="272491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27889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118104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3118104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17296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RS-6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317296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공정 리더십 통합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311810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3182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311810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66360" y="3182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311810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182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311810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3182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1280" y="311810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41280" y="31821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511296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3511296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356616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MB-2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356616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동서 균형 공급망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0" y="351129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0" y="3575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66360" y="351129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66360" y="3575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351129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0" y="3575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49640" y="351129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3575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41280" y="351129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41280" y="357530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904488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3904488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395935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SD-1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395935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HBM 조직 독립 P&amp;L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390448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0" y="3968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66360" y="390448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6360" y="3968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58000" y="390448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3968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49640" y="390448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49640" y="3968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1280" y="390448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41280" y="3968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4297680"/>
            <a:ext cx="3108960" cy="393192"/>
          </a:xfrm>
          <a:prstGeom prst="rect">
            <a:avLst/>
          </a:prstGeom>
          <a:solidFill>
            <a:srgbClr val="FEF3C7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" y="4297680"/>
            <a:ext cx="73152" cy="39319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4352544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RS-5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" y="435254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재무 규율 + 초과이익 재투자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74720" y="429768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74720" y="43616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166360" y="429768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66360" y="43616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58000" y="429768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0" y="43616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49640" y="429768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43616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241280" y="4297680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41280" y="436168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4690872"/>
            <a:ext cx="3108960" cy="393192"/>
          </a:xfrm>
          <a:prstGeom prst="rect">
            <a:avLst/>
          </a:prstGeom>
          <a:solidFill>
            <a:srgbClr val="E8EE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5760" y="4690872"/>
            <a:ext cx="73152" cy="3931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474573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SA-2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1560" y="474573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일본 R&amp;D 허브 (EUV 우회 NIL)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474720" y="469087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47472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66360" y="469087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663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58000" y="469087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5800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49640" y="469087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4964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241280" y="4690872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4128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5084064"/>
            <a:ext cx="3108960" cy="393192"/>
          </a:xfrm>
          <a:prstGeom prst="rect">
            <a:avLst/>
          </a:prstGeom>
          <a:solidFill>
            <a:srgbClr val="E8EE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5760" y="5084064"/>
            <a:ext cx="73152" cy="3931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2920" y="5138928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SD-2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1560" y="513892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산업용 AI 메모리 (자동차·의료)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74720" y="508406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74720" y="51480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●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66360" y="508406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66360" y="51480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858000" y="508406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858000" y="51480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49640" y="508406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49640" y="51480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241280" y="5084064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41280" y="51480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5477256"/>
            <a:ext cx="3108960" cy="393192"/>
          </a:xfrm>
          <a:prstGeom prst="rect">
            <a:avLst/>
          </a:prstGeom>
          <a:solidFill>
            <a:srgbClr val="E8EE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65760" y="5477256"/>
            <a:ext cx="73152" cy="3931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2920" y="55321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SE-1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1560" y="553212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3D DRAM + IMEC + M&amp;A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474720" y="547725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474720" y="5541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166360" y="547725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166360" y="5541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58000" y="547725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58000" y="5541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49640" y="547725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549640" y="5541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241280" y="5477256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241280" y="554126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5870448"/>
            <a:ext cx="3108960" cy="393192"/>
          </a:xfrm>
          <a:prstGeom prst="rect">
            <a:avLst/>
          </a:prstGeom>
          <a:solidFill>
            <a:srgbClr val="E8EE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5760" y="5870448"/>
            <a:ext cx="73152" cy="3931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2920" y="59253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SE-2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51560" y="592531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CXL SIG 표준 주도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474720" y="587044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74720" y="5934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166360" y="587044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166360" y="5934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858000" y="587044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858000" y="5934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●●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49640" y="587044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549640" y="5934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241280" y="5870448"/>
            <a:ext cx="16916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241280" y="59344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28A0"/>
                </a:solidFill>
                <a:latin typeface="Calibri"/>
              </a:rPr>
              <a:t>●●●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RS-3·RS-5·RS-6은 거의 모든 시나리오에서 ●● 이상 — 중심축. 사이드벳은 특정 시나리오 헤지용.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카테고리 1 · 시나리오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카테고리 2 · 기대효과별 — 어떤 가치를 만드는가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매출 견인 / 마진 방어 / 신시장 개척 / 리스크 헤지 — 10개 전략의 1차 효과 분류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691640"/>
            <a:ext cx="5760720" cy="21488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21488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매출 증대 · 점유율 회복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Revenue &amp; Market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MB-4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커스텀 AI 메모리 솔루션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하이퍼스케일러 ASIC 통합, 매출 비중 20%+ (2029)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RS-3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24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고객특화·전환비용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950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NVIDIA 3대 통합, 통합 매출 $8~9B/년 (2030)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72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MB-2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동서 균형 공급망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3697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신흥시장 매출 3배+ (2028, vs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Calibri"/>
              </a:rPr>
              <a:t>SD-1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198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HBM 조직 독립 P&amp;L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84448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HBM 사업부 영업이익률 35%+ 회복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1691640"/>
            <a:ext cx="5760720" cy="21488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691640"/>
            <a:ext cx="91440" cy="2148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764792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맑은 고딕"/>
              </a:rPr>
              <a:t>비용 절감 · 마진 확대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075688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Cost &amp; Margin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377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RS-6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공정 리더십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5420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1c nm 원가 -30%, NAND capex 회피 1.5~2조 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7249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RS-5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724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재무 규율 + 재투자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88950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다운턴 흑자 구조, HBM 가격 60% 하락에도 흑자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59352"/>
            <a:ext cx="5760720" cy="21488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59352"/>
            <a:ext cx="91440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03250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신규 시장 개척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43400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New Market Expansion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6451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SA-2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645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일본 R&amp;D 허브 (EUV 우회 NIL)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80974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ASML 의존 탈피, 한일 소재·장비 생태계 신시장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9926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SD-2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9926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산업용 AI 메모리 (자동차·의료)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15721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AEC-Q100 등급, 의료·자율주행·로봇 — 사이클 안정 신시장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3959352"/>
            <a:ext cx="5760720" cy="21488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3959352"/>
            <a:ext cx="91440" cy="2148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403250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리스크 헤지 · 패러다임 대비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343400"/>
            <a:ext cx="5440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Risk Hedge &amp; Paradigm Shift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46451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SE-1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4645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3D DRAM + IMEC + M&amp;A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2" y="480974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HBM 패러다임 전환 시 피벗 자원 (5천억 펀드)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49926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SE-2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4032" y="49926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맑은 고딕"/>
              </a:rPr>
              <a:t>CXL SIG 표준 주도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515721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맑은 고딕"/>
              </a:rPr>
              <a:t>차세대 메모리 패브릭 표준 결정권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메인벳 6개는 매출+마진에 집중, 사이드벳 4개는 신시장+패러다임에 분산 — 자원 배분 균형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카테고리 2 · 기대효과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카테고리 3 · 실행부서별 — 누가 책임지는가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메모리사업부 R&amp;D / 영업·전략 / 재무·이사회 / 일본 R&amp;D / 표준·M&amp;A — 5개 책임 그룹 매핑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691640"/>
            <a:ext cx="11430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804672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메모리사업부 R&amp;D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DS Memory R&amp;D · 평택·기흥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64792"/>
            <a:ext cx="18516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맑은 고딕"/>
              </a:rPr>
              <a:t>MB-4 · 커스텀 AI 메모리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39112"/>
            <a:ext cx="18516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HBM 베이스다이 커스텀 로직, CXL 모듈 R&amp;D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5019" y="1764792"/>
            <a:ext cx="18516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맑은 고딕"/>
              </a:rPr>
              <a:t>RS-3 · NVIDIA 통합 (CMX/SCADA/FDP)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5019" y="2039112"/>
            <a:ext cx="18516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AI SSD 컨트롤러 펌웨어 + Co-Validation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8" y="1764792"/>
            <a:ext cx="18516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맑은 고딕"/>
              </a:rPr>
              <a:t>RS-6 · 공정 리더십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38" y="2039112"/>
            <a:ext cx="18516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1c nm DRAM + NAND 4트랙 R&amp;D + Hybrid bonding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2657" y="1764792"/>
            <a:ext cx="18516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맑은 고딕"/>
              </a:rPr>
              <a:t>SD-1 · HBM 조직 독립 P&amp;L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2657" y="2039112"/>
            <a:ext cx="18516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HBM 전용 R&amp;D 분리, 패키징 100인+ 채용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42032"/>
            <a:ext cx="11430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42032"/>
            <a:ext cx="91440" cy="8046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영업 · 전략기획 · 글로벌 사업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260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Sales · Strategy · Global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615184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맑은 고딕"/>
              </a:rPr>
              <a:t>MB-2 · 동서 균형 공급망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89504"/>
            <a:ext cx="3840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신흥시장 영업팀 신설 (사우디·UAE·인도), 시안 라이선스 협상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39" y="2615184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맑은 고딕"/>
              </a:rPr>
              <a:t>SD-2 · 산업용 AI 메모리 (자동차·의료)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39" y="2889504"/>
            <a:ext cx="3840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자동차·의료 OEM 신규 영업, AEC-Q100 인증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92424"/>
            <a:ext cx="11430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392424"/>
            <a:ext cx="91440" cy="80467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46557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맑은 고딕"/>
              </a:rPr>
              <a:t>재무 · 전략 · 이사회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76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CFO · Strategy ·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465576"/>
            <a:ext cx="7818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  <a:latin typeface="맑은 고딕"/>
              </a:rPr>
              <a:t>RS-5 · 재무 규율 + 초과이익 재투자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739896"/>
            <a:ext cx="78181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재고일수 상한, FCF 기준, 다운사이클 capex 하한 4조/년 이사회 결의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42816"/>
            <a:ext cx="11430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42816"/>
            <a:ext cx="91440" cy="804672"/>
          </a:xfrm>
          <a:prstGeom prst="rect">
            <a:avLst/>
          </a:prstGeom>
          <a:solidFill>
            <a:srgbClr val="E3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1596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34A4A"/>
                </a:solidFill>
                <a:latin typeface="맑은 고딕"/>
              </a:rPr>
              <a:t>일본 R&amp;D 허브 (요코하마)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2686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Japan R&amp;D 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315968"/>
            <a:ext cx="78181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34A4A"/>
                </a:solidFill>
                <a:latin typeface="맑은 고딕"/>
              </a:rPr>
              <a:t>SA-2 · 일본 R&amp;D 허브 (EUV 우회 NIL)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590288"/>
            <a:ext cx="78181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JSR·신에쓰화학·캐논 파트너십, 나노임프린트 NIL 공동 개발 (1조 원)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93208"/>
            <a:ext cx="11430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093208"/>
            <a:ext cx="91440" cy="80467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16636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46C1"/>
                </a:solidFill>
                <a:latin typeface="맑은 고딕"/>
              </a:rPr>
              <a:t>표준 컨소시엄 · M&amp;A ·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477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Standards · M&amp;A · IP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166360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46C1"/>
                </a:solidFill>
                <a:latin typeface="맑은 고딕"/>
              </a:rPr>
              <a:t>SE-1 · 3D DRAM + IMEC + 스타트업 M&amp;A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5440680"/>
            <a:ext cx="3840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IMEC 공동 연구, 3D DRAM 스타트업 2~3개 M&amp;A (5천억 펀드)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39" y="5166360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46C1"/>
                </a:solidFill>
                <a:latin typeface="맑은 고딕"/>
              </a:rPr>
              <a:t>SE-2 · CXL SIG 표준 주도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39" y="5440680"/>
            <a:ext cx="3840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CXL 4.0+ 워킹그룹 인력 10→25명 확대, 자사 아키텍처 표준 반영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8076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608076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130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613076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메모리사업부 R&amp;D가 4개 전략의 책임 — AI 자동화로 잉여 자원 확보 없이는 동시 실행 불가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카테고리 3 · 실행부서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카테고리 4 · 시간축별 — 언제 시작하고 언제 효과를 보는가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단기 (0~6M, 2026 H2) / 중기 (6~18M, 2027) / 장기 (18M+, 2028+) — 착수 시점 + 효과 발현 시점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691640"/>
            <a:ext cx="114300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91440" cy="1463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맑은 고딕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0~6M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14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2026 H2 ~ 2027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  <a:latin typeface="맑은 고딕"/>
              </a:rPr>
              <a:t>즉시 착수 — 거버넌스·조직·계약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7830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RS-5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7830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재무 규율 이사회 결의 + 다운사이클 capex 하한 4조 명문화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0299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SD-1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2996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HBM 사업부 독립 P&amp;L 분리 + 패키징 인재 채용 착수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7685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MB-2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27685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신흥시장 영업팀 신설 (사우디·UAE·인도) + 시안 라이선스 협상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52374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SE-2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23744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CXL SIG 워킹그룹 인력 10→25명 즉시 확대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77063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Calibri"/>
              </a:rPr>
              <a:t>RS-3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77063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NVIDIA CMX·SCADA 공동 개발 MOU 체결, FDP 파일럿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114300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91440" cy="1463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19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맑은 고딕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03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6~18M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959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2027 H1 ~ 2028 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  <a:latin typeface="맑은 고딕"/>
              </a:rPr>
              <a:t>본격 실행 — R&amp;D·인프라·시장 진입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3375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MB-4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33756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구글·아마존·MS와 메모리 공동 로드맵 협의체 가동, CXL 모듈 양산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58444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RS-6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58444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1c nm 80% yield 달성, V10 hybrid bonding 양산, 자체 IP 200건 출원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8313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SA-2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8313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일본 R&amp;D 허브 1조 원 투자 + 나노임프린트 NIL 공동 개발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0782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SE-1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078224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IMEC 공동 연구 협약 + 3D DRAM 스타트업 2~3개 M&amp;A 집행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32511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SD-2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3251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자동차·의료 AI 메모리 AEC-Q100 인증 + OEM 파일럿 공급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00600"/>
            <a:ext cx="114300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800600"/>
            <a:ext cx="91440" cy="1463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73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맑은 고딕"/>
              </a:rPr>
              <a:t>장기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257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28A0"/>
                </a:solidFill>
                <a:latin typeface="Calibri"/>
              </a:rPr>
              <a:t>18M+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5504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2028 H2 ~ 2030+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806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  <a:latin typeface="맑은 고딕"/>
              </a:rPr>
              <a:t>효과 발현 — 매출·마진·생존력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8920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Calibri"/>
              </a:rPr>
              <a:t>RS-6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89204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V11 자체 IP 비중 70%+ 달성, NAND 공정 주기 24개월+ 연장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51389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Calibri"/>
              </a:rPr>
              <a:t>MB-4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51389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커스텀 AI 메모리 매출 비중 20%+ (2029), CMX SSD 점유 40%+ (2028)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3240" y="53858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Calibri"/>
              </a:rPr>
              <a:t>RS-3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538581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FDP 검증 SSD 매출 비중 30% (2030), 통합 매출 $8~9B/년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563270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Calibri"/>
              </a:rPr>
              <a:t>SE-1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632704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3D DRAM 시제품 가동, 패러다임 전환 시 즉시 양산 피벗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3240" y="58795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428A0"/>
                </a:solidFill>
                <a:latin typeface="Calibri"/>
              </a:rPr>
              <a:t>SD-2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587959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산업용 메모리 매출 안정 성장 — 사이클 충격 흡수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단기는 거버넌스·조직(돈 안 듦), 중기는 R&amp;D·인프라(자원 집중), 장기는 매출·마진(수확) — 순서 지켜야 함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카테고리 4 · 시간축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