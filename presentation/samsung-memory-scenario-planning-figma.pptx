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F5A623"/>
                </a:solidFill>
                <a:latin typeface="Calibri"/>
              </a:rPr>
              <a:t>01  ·  CYCLE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메모리는 30년간 5번의 다운턴을 겪은 사이클 산업이다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1995~2026  ·  4~5년 주기로 100%+ 등락 반복  ·  다운턴은 항상 호황 직후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3474720"/>
          </a:xfrm>
          <a:prstGeom prst="rect">
            <a:avLst/>
          </a:prstGeom>
          <a:solidFill>
            <a:srgbClr val="1428A0"/>
          </a:solidFill>
          <a:ln w="9525">
            <a:solidFill>
              <a:srgbClr val="1E3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" y="1965960"/>
            <a:ext cx="780897" cy="310896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123809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1996~98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123809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−65%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4056" y="1965960"/>
            <a:ext cx="557784" cy="310896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01168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2001~02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19456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−55%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8305" y="1965960"/>
            <a:ext cx="557784" cy="310896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6593" y="201168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2008~09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6593" y="219456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−50%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4112" y="1965960"/>
            <a:ext cx="557784" cy="310896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01168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2015~16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−40%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65960"/>
            <a:ext cx="557784" cy="310896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3536" y="201168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2022~23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536" y="2194560"/>
            <a:ext cx="101498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−45%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02920" y="2496312"/>
            <a:ext cx="446227" cy="877823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9147" y="2496312"/>
            <a:ext cx="446227" cy="1609344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95374" y="3227832"/>
            <a:ext cx="669341" cy="877824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064715" y="2350008"/>
            <a:ext cx="446227" cy="877824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10942" y="2350008"/>
            <a:ext cx="446227" cy="1609344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957169" y="3374135"/>
            <a:ext cx="892455" cy="585217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49624" y="2203704"/>
            <a:ext cx="1115568" cy="1170431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65192" y="2203704"/>
            <a:ext cx="557784" cy="1550822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22976" y="3081528"/>
            <a:ext cx="1115568" cy="672998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38544" y="2291486"/>
            <a:ext cx="557783" cy="790042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96327" y="2291486"/>
            <a:ext cx="669341" cy="1228953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65668" y="3081528"/>
            <a:ext cx="892455" cy="438911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58123" y="2350008"/>
            <a:ext cx="892454" cy="731520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50577" y="2350008"/>
            <a:ext cx="557784" cy="1316736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08361" y="2496312"/>
            <a:ext cx="780898" cy="1170432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89259" y="2496312"/>
            <a:ext cx="669341" cy="2194560"/>
          </a:xfrm>
          <a:prstGeom prst="line">
            <a:avLst/>
          </a:prstGeom>
          <a:ln w="317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1548872" y="4581144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18520" y="42793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현재  Q1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44897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사상 최고점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1995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9319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8599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7160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6440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50292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532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  <a:latin typeface="Calibri"/>
              </a:rPr>
              <a:t>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호황기 평균 18~24개월  ·  다운턴 평균 12~18개월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다운턴마다 우리 매출은 −38%, 영업이익은 −84% 사라졌다 (분기 −10조 원 적자 포함)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F5A623"/>
                </a:solidFill>
                <a:latin typeface="Calibri"/>
              </a:rPr>
              <a:t>02  ·  SCENARIO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1B5C"/>
                </a:solidFill>
                <a:latin typeface="Arial Black"/>
              </a:rPr>
              <a:t>두 축의 조합이 5개의 대안적 미래를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DF1 (AI 수요)  ×  DF2 (미중 디커플링)  +  DF3 와일드카드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783080"/>
            <a:ext cx="3657600" cy="214884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40680" y="1783080"/>
            <a:ext cx="3657600" cy="214884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3931920"/>
            <a:ext cx="3657600" cy="21488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3931920"/>
            <a:ext cx="3657600" cy="21488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1783080"/>
            <a:ext cx="7315200" cy="4297680"/>
          </a:xfrm>
          <a:prstGeom prst="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36108" y="1920240"/>
            <a:ext cx="9144" cy="4023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3927348"/>
            <a:ext cx="704088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1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디커플링 심화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8064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관리된 공존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02335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AI 거품 붕괴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02335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A1A1A"/>
                </a:solidFill>
                <a:latin typeface="Calibri"/>
              </a:rPr>
              <a:t>AI 수요 지속</a:t>
            </a:r>
          </a:p>
        </p:txBody>
      </p:sp>
      <p:sp>
        <p:nvSpPr>
          <p:cNvPr id="18" name="Oval 17"/>
          <p:cNvSpPr/>
          <p:nvPr/>
        </p:nvSpPr>
        <p:spPr>
          <a:xfrm>
            <a:off x="2103120" y="224028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2313432"/>
            <a:ext cx="384048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4327" y="22768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327" y="23134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10~15%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761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</a:rPr>
              <a:t>기술 냉전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1272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이중 충격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2240280"/>
            <a:ext cx="384048" cy="384048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313432"/>
            <a:ext cx="384048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22768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23134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25~30%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761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</a:rPr>
              <a:t>황금 요새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1272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Calibri"/>
              </a:rPr>
              <a:t>서방 듀오폴리</a:t>
            </a:r>
          </a:p>
        </p:txBody>
      </p:sp>
      <p:sp>
        <p:nvSpPr>
          <p:cNvPr id="30" name="Oval 29"/>
          <p:cNvSpPr/>
          <p:nvPr/>
        </p:nvSpPr>
        <p:spPr>
          <a:xfrm>
            <a:off x="2103120" y="4389120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4462272"/>
            <a:ext cx="384048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4327" y="44256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4327" y="446227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20~25%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9103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</a:rPr>
              <a:t>조용한 재편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2760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사이클 재현</a:t>
            </a:r>
          </a:p>
        </p:txBody>
      </p:sp>
      <p:sp>
        <p:nvSpPr>
          <p:cNvPr id="36" name="Oval 35"/>
          <p:cNvSpPr/>
          <p:nvPr/>
        </p:nvSpPr>
        <p:spPr>
          <a:xfrm>
            <a:off x="5760720" y="438912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4443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4256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46227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30~35%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 Black"/>
              </a:rPr>
              <a:t>AI 르네상스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5394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★ MAIN BET ★</a:t>
            </a:r>
          </a:p>
        </p:txBody>
      </p:sp>
      <p:sp>
        <p:nvSpPr>
          <p:cNvPr id="42" name="Oval 41"/>
          <p:cNvSpPr/>
          <p:nvPr/>
        </p:nvSpPr>
        <p:spPr>
          <a:xfrm>
            <a:off x="5074920" y="3566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37490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343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/>
              </a:rPr>
              <a:t>패러다임 전환  5~10%  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B5C"/>
                </a:solidFill>
                <a:latin typeface="Arial Black"/>
              </a:rPr>
              <a:t>5개 대안적 미래</a:t>
            </a:r>
          </a:p>
        </p:txBody>
      </p:sp>
      <p:sp>
        <p:nvSpPr>
          <p:cNvPr id="46" name="Oval 45"/>
          <p:cNvSpPr/>
          <p:nvPr/>
        </p:nvSpPr>
        <p:spPr>
          <a:xfrm>
            <a:off x="9235440" y="2377439"/>
            <a:ext cx="274320" cy="27432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2872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19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황금 요새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26060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AI 지속 + 디커플링</a:t>
            </a:r>
          </a:p>
        </p:txBody>
      </p:sp>
      <p:sp>
        <p:nvSpPr>
          <p:cNvPr id="50" name="Oval 49"/>
          <p:cNvSpPr/>
          <p:nvPr/>
        </p:nvSpPr>
        <p:spPr>
          <a:xfrm>
            <a:off x="9235440" y="2971799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30175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19" y="29260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AI 르네상스 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19" y="320039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AI 지속 + 공존</a:t>
            </a:r>
          </a:p>
        </p:txBody>
      </p:sp>
      <p:sp>
        <p:nvSpPr>
          <p:cNvPr id="54" name="Oval 53"/>
          <p:cNvSpPr/>
          <p:nvPr/>
        </p:nvSpPr>
        <p:spPr>
          <a:xfrm>
            <a:off x="9235440" y="3566159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62872" y="3611879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35204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기술 냉전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6919" y="379475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AI 붕괴 + 디커플링</a:t>
            </a:r>
          </a:p>
        </p:txBody>
      </p:sp>
      <p:sp>
        <p:nvSpPr>
          <p:cNvPr id="58" name="Oval 57"/>
          <p:cNvSpPr/>
          <p:nvPr/>
        </p:nvSpPr>
        <p:spPr>
          <a:xfrm>
            <a:off x="9235440" y="416052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62872" y="42062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조용한 재편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19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AI 붕괴 + 공존</a:t>
            </a:r>
          </a:p>
        </p:txBody>
      </p:sp>
      <p:sp>
        <p:nvSpPr>
          <p:cNvPr id="62" name="Oval 61"/>
          <p:cNvSpPr/>
          <p:nvPr/>
        </p:nvSpPr>
        <p:spPr>
          <a:xfrm>
            <a:off x="9235440" y="475488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62872" y="48006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19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패러다임 전환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19" y="4983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HBM 대체 (와일드카드)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059669"/>
                </a:solidFill>
                <a:latin typeface="Calibri"/>
              </a:rPr>
              <a:t>03  ·  MAIN BET  ·  SCENARIO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1B5C"/>
                </a:solidFill>
                <a:latin typeface="Arial Black"/>
              </a:rPr>
              <a:t>Main Bet은 시나리오 B 「AI 르네상스」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확률 30~35%  ·  자동 실현되지 않는다 — 9개의 즉시 결정 묶음이 전제 조건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840480" cy="4572000"/>
          </a:xfrm>
          <a:prstGeom prst="roundRect">
            <a:avLst>
              <a:gd name="adj" fmla="val 5000"/>
            </a:avLst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8404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474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0" b="1" i="0">
                <a:solidFill>
                  <a:srgbClr val="F5A623"/>
                </a:solidFill>
                <a:latin typeface="Arial Black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8912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1069848" cy="914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30~35%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5개 시나리오 중 1순위 확률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86400"/>
            <a:ext cx="54864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AI 르네상스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AI 수요 지속 + 미중 관리된 공존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1B5C"/>
                </a:solidFill>
                <a:latin typeface="Arial Black"/>
              </a:rPr>
              <a:t>5대 핵심 이니셔티브 (MB-1 ~ MB-5)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756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2030~2035 글로벌 1위 회복 로드맵 — 단일 결정이 아닌 결정의 묶음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468880"/>
            <a:ext cx="704088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468880"/>
            <a:ext cx="73152" cy="777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2606040"/>
            <a:ext cx="594360" cy="274320"/>
          </a:xfrm>
          <a:prstGeom prst="roundRect">
            <a:avLst>
              <a:gd name="adj" fmla="val 1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63347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MB-1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58775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HBM4E·HBM5 기술 1위 탈환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8803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Q3 2026 NVIDIA Rubin 공급 점유 30%+ → HBM5 리더십 2027년 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337560"/>
            <a:ext cx="704088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33756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0" y="3474720"/>
            <a:ext cx="59436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50215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MB-2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45643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동서 균형 공급망 4거점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7490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한국·미국·일본·신흥시장 — 디커플링·공존 모두 대응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206240"/>
            <a:ext cx="704088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20624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54880" y="4343400"/>
            <a:ext cx="59436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370831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MB-3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2511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1c nm 공정 전환 + 원가 우위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617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2027년 수율 80%+ 도달 + 비트당 원가 −25%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507492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54880" y="5212080"/>
            <a:ext cx="59436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523951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MB-4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19379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커스텀 AI 메모리 솔루션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4864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하이퍼스케일러 co-design, FDP/SCADA 호스트 협력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5943600"/>
            <a:ext cx="704088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594360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54880" y="6080760"/>
            <a:ext cx="594360" cy="2743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610819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MB-5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606247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텍사스 테일러 2단계 발표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63550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CHIPS Act 2.0 추가 보조금 협상 + 2030년 가동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F5A623"/>
                </a:solidFill>
                <a:latin typeface="Calibri"/>
              </a:rPr>
              <a:t>04  ·  ROBUST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1B5C"/>
                </a:solidFill>
                <a:latin typeface="Arial Black"/>
              </a:rPr>
              <a:t>어떤 미래가 와도 가치를 만드는 Robust 7개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5개 시나리오 모두 ✅ 4개+ — 시나리오 불확실성과 무관하게 즉시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" cy="1920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5000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옵션형 캐파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"켜고 끌 수 있는 능력" — Nucor 미니밀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783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1783080"/>
            <a:ext cx="54864" cy="1920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3008" y="196596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1984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1920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35000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바벨 포트폴리오 + AI 효율화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9718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양 끝의 강함 — 중간 어정쩡 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42900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1783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1783080"/>
            <a:ext cx="54864" cy="1920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0216" y="196596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984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1920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35000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고객특화·전환비용 극대화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9718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Marriott Asset-Light SW $5B/2030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42900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544" y="1783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24544" y="1783080"/>
            <a:ext cx="54864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07424" y="196596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842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235000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고객 포트폴리오 분산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29718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LTA·Take-or-Pay 협상력 tier화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42900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13048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813048"/>
            <a:ext cx="54864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3995928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0142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379976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정책 리스크 지역 분산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0017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한국·미국·일본·인도 4거점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45896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0128" y="3813048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10128" y="3813048"/>
            <a:ext cx="54864" cy="1920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93008" y="3995928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93008" y="40142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87568" y="3950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93008" y="4379976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재무 규율 + capex 하한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50017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Nucor·ExxonMobil — R&amp;D 4조원/년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93008" y="545896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7336" y="3813048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17336" y="3813048"/>
            <a:ext cx="54864" cy="1920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66176" y="393192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6176" y="39593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 spc="20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0216" y="3995928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0216" y="401421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4776" y="3950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4379976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NAND 공정 전환 주기 연장 R&amp;D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50017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신규 — Hybrid Bonding 자체 IP, 4 트랙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545896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✅ 5/5 시나리오 (A·B·C·D·E)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24544" y="3813048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07424" y="39959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 Black"/>
              </a:rPr>
              <a:t>★ 5개 핵심 (RS1·RS2·RS3·RS6·RS7)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07424" y="44074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각 슬라이드에서 상세 시각화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07424" y="4773168"/>
            <a:ext cx="548640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07424" y="4864608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RS7 NAND 공정 전환 주기 연장 R&amp;D는 2026-05-06 신규 추가 (Weber/PSU 학습곡선 + YMTC IP 종속 회피)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059669"/>
                </a:solidFill>
                <a:latin typeface="Calibri"/>
              </a:rPr>
              <a:t>05  ·  RS7  · 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B5C"/>
                </a:solidFill>
                <a:latin typeface="Arial Black"/>
              </a:rPr>
              <a:t>NAND는 layer 경쟁이 아니라 "주기 연장" 경쟁이다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양산 ramp 6개월 지연 = 누적 이익의 2/3 소실 (Weber/PSU). 4사 모두 process upgrade 선회. YMTC IP 종속 회피 = 디커플링 시 생존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F5A623"/>
                </a:solidFill>
                <a:latin typeface="Calibri"/>
              </a:rPr>
              <a:t>WHY NOW · 3가지 증거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577840" cy="13075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54864" cy="13075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C00000"/>
                </a:solidFill>
                <a:latin typeface="Arial Black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학습곡선의 잔혹함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060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C00000"/>
                </a:solidFill>
                <a:latin typeface="Arial Black"/>
              </a:rPr>
              <a:t>−2/3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65176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ramp 6개월 지연 → 누적 이익 손실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1년 지연 → 손실 전환 / 1분당 약 $5,000 손실 (PSU Weber)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5577840" cy="13075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566160"/>
            <a:ext cx="54864" cy="1307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Arial Black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업계 일제 선회 (2026)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233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Arial Black"/>
              </a:rPr>
              <a:t>+5%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39" y="406908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2026 NAND capex $22.2B 증가율만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4사 모두 capa 확장 대신 process upgrade·hybrid bonding (TrendForce)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83480"/>
            <a:ext cx="5577840" cy="13075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54864" cy="13075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074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28A0"/>
                </a:solidFill>
                <a:latin typeface="Arial Black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YMTC IP 지배 — 디커플링 시 차단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4406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28A0"/>
                </a:solidFill>
                <a:latin typeface="Arial Black"/>
              </a:rPr>
              <a:t>70%+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39" y="548640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YMTC가 hybrid bonding 핵심 IP 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989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시나리오 C 발생 시 양산 불가. 자체 IP = 국가 안보 R&amp;D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8308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59669"/>
                </a:solidFill>
                <a:latin typeface="Calibri"/>
              </a:rPr>
              <a:t>4 R&amp;D 트랙 (병행)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1488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14884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2313432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3408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228600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Hybrid Bonding 자체 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260604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YMTC 우회 특허 200건+ (2027). 한국 IP 컨소시엄. V11에 자체 IP 70%+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15468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15468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6520" y="3319272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3467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29184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Multi-deck 정교화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361188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Deck 당 layer 한계 돌파. V9→V10 fab 재구성 비용 30% 절감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16052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16052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4325112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5254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429768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bit-per-cell 확장 (TLC→QLC→PLC)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59" y="461772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QLC 비중 30%+ (2026). PLC 시제품 (2028) → 양산 검토 (2029)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1663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516636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46520" y="5330952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583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59" y="530352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호스트 협력 firmware (FDP·SCADA)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9" y="562356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endurance 2배+, throughput 30%+. RS3 SW 매출과 R&amp;D 자원 공유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6126480"/>
            <a:ext cx="11185855" cy="411480"/>
          </a:xfrm>
          <a:prstGeom prst="roundRect">
            <a:avLst>
              <a:gd name="adj" fmla="val 10000"/>
            </a:avLst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619963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✱  3년 누적 capex 회피 1.5~2조 원  ·  KPI 4: 자체 IP 비율 / ramp 시간 / capex/bit / YMTC 의존도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400">
                <a:solidFill>
                  <a:srgbClr val="F5A623"/>
                </a:solidFill>
                <a:latin typeface="Calibri"/>
              </a:rPr>
              <a:t>06  ·  EWI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9개 결정 + 28개 지표 + 12개 자동 트리거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Vercel 자동 배포  ·  GitHub git integration  ·  데이터 변경 시 양쪽 갈래 동시 갱신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F5A623"/>
                </a:solidFill>
                <a:latin typeface="Calibri"/>
              </a:rPr>
              <a:t>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즉시 결정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39" y="1691640"/>
            <a:ext cx="1783080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599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059669"/>
                </a:solidFill>
                <a:latin typeface="Calibri"/>
              </a:rPr>
              <a:t>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99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EWI 모니터링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691640"/>
            <a:ext cx="1783080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C00000"/>
                </a:solidFill>
                <a:latin typeface="Calibri"/>
              </a:rPr>
              <a:t>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자동 트리거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79" y="1691640"/>
            <a:ext cx="178308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7C3AED"/>
                </a:solidFill>
                <a:latin typeface="Calibri"/>
              </a:rPr>
              <a:t>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대안적 미래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169164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F5A623"/>
                </a:solidFill>
                <a:latin typeface="Calibri"/>
              </a:rPr>
              <a:t>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30+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GitHub 추적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691640"/>
            <a:ext cx="1783080" cy="86868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1691640"/>
            <a:ext cx="1783080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7830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059669"/>
                </a:solidFill>
                <a:latin typeface="Calibri"/>
              </a:rPr>
              <a:t>ROBUST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9659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3774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즉시 실행 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74320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8529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5A623"/>
                </a:solidFill>
                <a:latin typeface="Calibri"/>
              </a:rPr>
              <a:t>QUADRANT TRAJECTORY · 2년 사분면 위치 변화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1089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DF1 (AI 수요)  ×  DF2 (디커플링)  —  현재 → B 시나리오 강한 모멘텀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430268"/>
            <a:ext cx="4754880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1548" y="3383280"/>
            <a:ext cx="9144" cy="21031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2560320" y="4224528"/>
            <a:ext cx="685800" cy="315468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46120" y="4224528"/>
            <a:ext cx="228600" cy="736092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74720" y="4960620"/>
            <a:ext cx="457200" cy="210312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931920" y="5170932"/>
            <a:ext cx="228600" cy="210312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60520" y="5381244"/>
            <a:ext cx="228600" cy="0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505456" y="4485132"/>
            <a:ext cx="109728" cy="10972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4613147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24.05</a:t>
            </a:r>
          </a:p>
        </p:txBody>
      </p:sp>
      <p:sp>
        <p:nvSpPr>
          <p:cNvPr id="49" name="Oval 48"/>
          <p:cNvSpPr/>
          <p:nvPr/>
        </p:nvSpPr>
        <p:spPr>
          <a:xfrm>
            <a:off x="3191256" y="4169664"/>
            <a:ext cx="109728" cy="10972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297679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25.05</a:t>
            </a:r>
          </a:p>
        </p:txBody>
      </p:sp>
      <p:sp>
        <p:nvSpPr>
          <p:cNvPr id="51" name="Oval 50"/>
          <p:cNvSpPr/>
          <p:nvPr/>
        </p:nvSpPr>
        <p:spPr>
          <a:xfrm>
            <a:off x="3419856" y="4905756"/>
            <a:ext cx="109728" cy="109728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5033771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25.11</a:t>
            </a:r>
          </a:p>
        </p:txBody>
      </p:sp>
      <p:sp>
        <p:nvSpPr>
          <p:cNvPr id="53" name="Oval 52"/>
          <p:cNvSpPr/>
          <p:nvPr/>
        </p:nvSpPr>
        <p:spPr>
          <a:xfrm>
            <a:off x="3877056" y="5116068"/>
            <a:ext cx="109728" cy="109728"/>
          </a:xfrm>
          <a:prstGeom prst="ellipse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03320" y="5244083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26.02</a:t>
            </a:r>
          </a:p>
        </p:txBody>
      </p:sp>
      <p:sp>
        <p:nvSpPr>
          <p:cNvPr id="55" name="Oval 54"/>
          <p:cNvSpPr/>
          <p:nvPr/>
        </p:nvSpPr>
        <p:spPr>
          <a:xfrm>
            <a:off x="4105656" y="532638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454395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26.04</a:t>
            </a:r>
          </a:p>
        </p:txBody>
      </p:sp>
      <p:sp>
        <p:nvSpPr>
          <p:cNvPr id="57" name="Oval 56"/>
          <p:cNvSpPr/>
          <p:nvPr/>
        </p:nvSpPr>
        <p:spPr>
          <a:xfrm>
            <a:off x="4297680" y="5289804"/>
            <a:ext cx="182880" cy="18288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506120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A623"/>
                </a:solidFill>
                <a:latin typeface="Calibri"/>
              </a:rPr>
              <a:t>현재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5490971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26.05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35204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  <a:latin typeface="Calibri"/>
              </a:rPr>
              <a:t>C 기술냉전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79" y="352044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1E3AC8"/>
                </a:solidFill>
                <a:latin typeface="Calibri"/>
              </a:rPr>
              <a:t>A 황금 요새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53949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D 조용한 재편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6279" y="539496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059669"/>
                </a:solidFill>
                <a:latin typeface="Calibri"/>
              </a:rPr>
              <a:t>B AI 르네상스 ★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274320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28529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5A623"/>
                </a:solidFill>
                <a:latin typeface="Calibri"/>
              </a:rPr>
              <a:t>DECISIONS · 9개 즉시 결정 진척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3246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D1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32461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HBM4 NVIDIA 점유율 회복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2461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2026.09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46920" y="329184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46920" y="3291840"/>
            <a:ext cx="822959" cy="914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64240" y="3246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5A623"/>
                </a:solidFill>
                <a:latin typeface="Calibri"/>
              </a:rPr>
              <a:t>60%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361187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D2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61187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소재 공급망 비중국 다각화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361187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2026.09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46920" y="365760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646920" y="365760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64240" y="361187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5A623"/>
                </a:solidFill>
                <a:latin typeface="Calibri"/>
              </a:rPr>
              <a:t>40%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397763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D3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397763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3D DRAM R&amp;D + IMEC 협약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397763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2026.12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46920" y="4023359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646920" y="4023359"/>
            <a:ext cx="274320" cy="914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064240" y="397763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00000"/>
                </a:solidFill>
                <a:latin typeface="Calibri"/>
              </a:rPr>
              <a:t>20%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43434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D5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43434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 개발 효율화 도구 전사 도입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61120" y="43434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2026.12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646920" y="438912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646920" y="4389120"/>
            <a:ext cx="411479" cy="914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064240" y="43434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5A623"/>
                </a:solidFill>
                <a:latin typeface="Calibri"/>
              </a:rPr>
              <a:t>30%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470915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D6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0" y="470915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이사회 정책 패키지 의결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0" y="470915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2026.06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46920" y="4754879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646920" y="4754879"/>
            <a:ext cx="102870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64240" y="470915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  <a:latin typeface="Calibri"/>
              </a:rPr>
              <a:t>75%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50749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D9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0" y="50749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다운사이클 M&amp;A 펀드 적립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61120" y="50749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2026.12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46920" y="512064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646920" y="5120640"/>
            <a:ext cx="0" cy="9144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64240" y="50749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00000"/>
                </a:solidFill>
                <a:latin typeface="Calibri"/>
              </a:rPr>
              <a:t>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54406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D10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83680" y="54406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NAND 공정 전환 주기 R&amp;D (RS7)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61120" y="5440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2026.12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646920" y="548640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1E3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646920" y="5486400"/>
            <a:ext cx="6858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64240" y="54406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9669"/>
                </a:solidFill>
                <a:latin typeface="Calibri"/>
              </a:rPr>
              <a:t>5%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75720" y="5458968"/>
            <a:ext cx="18288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5A623"/>
                </a:solidFill>
                <a:latin typeface="Calibri"/>
              </a:rPr>
              <a:t>✱  데이터 변경 한 번 → 양쪽 갈래(① PPTX + ② 대시보드) 동시 갱신 → git push origin main → Vercel 자동 배포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500">
                <a:solidFill>
                  <a:srgbClr val="F5A623"/>
                </a:solidFill>
                <a:latin typeface="Calibri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 Black"/>
              </a:rPr>
              <a:t>호황의 정점이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 Black"/>
              </a:rPr>
              <a:t>다운턴 준비의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5A623"/>
                </a:solidFill>
                <a:latin typeface="Arial Black"/>
              </a:rPr>
              <a:t>마지막 기회다.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46304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─ 9개 결정의 묶음 의결을 요청드립니다 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54864" cy="1371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Arial Black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전략 방향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BD5E1"/>
                </a:solidFill>
                <a:latin typeface="Calibri"/>
              </a:rPr>
              <a:t>시나리오 B Main Bet + Side Bets +
Robust 7개 전략 채택 의결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846320"/>
            <a:ext cx="54864" cy="1371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9834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Arial Blac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9개 즉시 결정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BD5E1"/>
                </a:solidFill>
                <a:latin typeface="Calibri"/>
              </a:rPr>
              <a:t>HBM4·소재·3D DRAM·텍사스·AI효율화·이사회정책·
잉여인력·보조금·M&amp;A·NAND R&amp;D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54864" cy="1371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834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거버넌스 + 트리거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BD5E1"/>
                </a:solidFill>
                <a:latin typeface="Calibri"/>
              </a:rPr>
              <a:t>30일 내 의사결정 + 트리거 12개 +
capex 하한 4조원/년 + 의결권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삼성전자  ·  DS부문 메모리사업부 전략기획팀  ·  대외비  ·  2026.05.06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