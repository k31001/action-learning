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6"/>
    <p:sldId id="268" r:id="rId5"/>
    <p:sldId id="269" r:id="rId4"/>
    <p:sldId id="270" r:id="rId3"/>
    <p:sldId id="271" r:id="rId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6.xml"/><Relationship Id="rId3" Type="http://schemas.openxmlformats.org/officeDocument/2006/relationships/slide" Target="slides/slide15.xml"/><Relationship Id="rId4" Type="http://schemas.openxmlformats.org/officeDocument/2006/relationships/slide" Target="slides/slide14.xml"/><Relationship Id="rId5" Type="http://schemas.openxmlformats.org/officeDocument/2006/relationships/slide" Target="slides/slide13.xml"/><Relationship Id="rId6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82880" cy="731520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7AFF"/>
                </a:solidFill>
                <a:latin typeface="SF Pro Display"/>
              </a:rPr>
              <a:t>SAMSUNG ELECTRONICS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188720"/>
            <a:ext cx="548640" cy="45720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10058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1" i="0">
                <a:solidFill>
                  <a:srgbClr val="1D1D1F"/>
                </a:solidFill>
                <a:latin typeface="SF Pro Text"/>
              </a:rPr>
              <a:t>호황의 정점에서</a:t>
            </a:r>
          </a:p>
          <a:p>
            <a:pPr algn="l">
              <a:lnSpc>
                <a:spcPct val="110000"/>
              </a:lnSpc>
            </a:pPr>
            <a:r>
              <a:rPr sz="4400" b="1" i="0">
                <a:solidFill>
                  <a:srgbClr val="1D1D1F"/>
                </a:solidFill>
                <a:latin typeface="SF Pro Text"/>
              </a:rPr>
              <a:t>다운턴을 준비하는 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007AFF"/>
                </a:solidFill>
                <a:latin typeface="SF Pro Text"/>
              </a:rPr>
              <a:t>시나리오 플래닝 기반 전략 보고서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14400" y="4937760"/>
            <a:ext cx="4572000" cy="0"/>
          </a:xfrm>
          <a:prstGeom prst="line">
            <a:avLst/>
          </a:prstGeom>
          <a:ln w="15875">
            <a:solidFill>
              <a:srgbClr val="FF95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5212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6E6E73"/>
                </a:solidFill>
                <a:latin typeface="SF Pro Display"/>
              </a:rPr>
              <a:t>작성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4864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D1D1F"/>
                </a:solidFill>
                <a:latin typeface="SF Pro Text"/>
              </a:rPr>
              <a:t>DS부문 메모리사업부 전략기획팀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5212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6E6E73"/>
                </a:solidFill>
                <a:latin typeface="SF Pro Display"/>
              </a:rPr>
              <a:t>일자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54864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D1D1F"/>
                </a:solidFill>
                <a:latin typeface="SF Pro Text"/>
              </a:rPr>
              <a:t>2026년 5월 6일 (Q1 결산 직후)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52120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6E6E73"/>
                </a:solidFill>
                <a:latin typeface="SF Pro Display"/>
              </a:rPr>
              <a:t>분류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54864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3B30"/>
                </a:solidFill>
                <a:latin typeface="SF Pro Text"/>
              </a:rPr>
              <a:t>대외비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D1D1F"/>
                </a:solidFill>
                <a:latin typeface="SF Pro Text"/>
              </a:rPr>
              <a:t>목차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E6E73"/>
                </a:solidFill>
                <a:latin typeface="SF Pro Text"/>
              </a:rPr>
              <a:t>9단계 논리 흐름 — 호황의 정점에서 다운턴을 준비하기 위한 사고 과정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C6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828800"/>
            <a:ext cx="3749039" cy="1280160"/>
          </a:xfrm>
          <a:prstGeom prst="rect">
            <a:avLst/>
          </a:prstGeom>
          <a:solidFill>
            <a:srgbClr val="F2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73152" cy="1280160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6596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07AFF"/>
                </a:solidFill>
                <a:latin typeface="SF Pro Display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0116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D1D1F"/>
                </a:solidFill>
                <a:latin typeface="SF Pro Text"/>
              </a:rPr>
              <a:t>현재 상황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6888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  <a:latin typeface="SF Pro Text"/>
              </a:rPr>
              <a:t>호황의 정점 + 사이클 산업의 본질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78892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FF9500"/>
                </a:solidFill>
                <a:latin typeface="SF Pro Display"/>
              </a:rPr>
              <a:t>슬라이드 3~6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1828800"/>
            <a:ext cx="3749039" cy="1280160"/>
          </a:xfrm>
          <a:prstGeom prst="rect">
            <a:avLst/>
          </a:prstGeom>
          <a:solidFill>
            <a:srgbClr val="F2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828800"/>
            <a:ext cx="73152" cy="1280160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96596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07AFF"/>
                </a:solidFill>
                <a:latin typeface="SF Pro Display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20116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D1D1F"/>
                </a:solidFill>
                <a:latin typeface="SF Pro Text"/>
              </a:rPr>
              <a:t>불확실성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46888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  <a:latin typeface="SF Pro Text"/>
              </a:rPr>
              <a:t>다운턴 시점·규모는 알 수 없음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78892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FF9500"/>
                </a:solidFill>
                <a:latin typeface="SF Pro Display"/>
              </a:rPr>
              <a:t>슬라이드 7~8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21040" y="1828800"/>
            <a:ext cx="3749039" cy="1280160"/>
          </a:xfrm>
          <a:prstGeom prst="rect">
            <a:avLst/>
          </a:prstGeom>
          <a:solidFill>
            <a:srgbClr val="F2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21040" y="1828800"/>
            <a:ext cx="73152" cy="1280160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49640" y="196596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07AFF"/>
                </a:solidFill>
                <a:latin typeface="SF Pro Display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20116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D1D1F"/>
                </a:solidFill>
                <a:latin typeface="SF Pro Text"/>
              </a:rPr>
              <a:t>시나리오 플래닝의 정당화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246888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  <a:latin typeface="SF Pro Text"/>
              </a:rPr>
              <a:t>Shell·ExxonMobil·Disney·Samsung 사례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278892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FF9500"/>
                </a:solidFill>
                <a:latin typeface="SF Pro Display"/>
              </a:rPr>
              <a:t>슬라이드 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291840"/>
            <a:ext cx="3749039" cy="1280160"/>
          </a:xfrm>
          <a:prstGeom prst="rect">
            <a:avLst/>
          </a:prstGeom>
          <a:solidFill>
            <a:srgbClr val="F2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3291840"/>
            <a:ext cx="73152" cy="1280160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342900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07AFF"/>
                </a:solidFill>
                <a:latin typeface="SF Pro Display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34747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D1D1F"/>
                </a:solidFill>
                <a:latin typeface="SF Pro Text"/>
              </a:rPr>
              <a:t>방법론 워크플로우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393192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  <a:latin typeface="SF Pro Text"/>
              </a:rPr>
              <a:t>8단계 시나리오 플래닝 프로세스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425196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FF9500"/>
                </a:solidFill>
                <a:latin typeface="SF Pro Display"/>
              </a:rPr>
              <a:t>슬라이드 10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89120" y="3291840"/>
            <a:ext cx="3749039" cy="1280160"/>
          </a:xfrm>
          <a:prstGeom prst="rect">
            <a:avLst/>
          </a:prstGeom>
          <a:solidFill>
            <a:srgbClr val="F2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89120" y="3291840"/>
            <a:ext cx="73152" cy="1280160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17720" y="342900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07AFF"/>
                </a:solidFill>
                <a:latin typeface="SF Pro Display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0" y="34747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D1D1F"/>
                </a:solidFill>
                <a:latin typeface="SF Pro Text"/>
              </a:rPr>
              <a:t>메모리 사업 적용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17720" y="393192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  <a:latin typeface="SF Pro Text"/>
              </a:rPr>
              <a:t>단계별 상세 적용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17720" y="425196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FF9500"/>
                </a:solidFill>
                <a:latin typeface="SF Pro Display"/>
              </a:rPr>
              <a:t>슬라이드 11~17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21040" y="3291840"/>
            <a:ext cx="3749039" cy="1280160"/>
          </a:xfrm>
          <a:prstGeom prst="rect">
            <a:avLst/>
          </a:prstGeom>
          <a:solidFill>
            <a:srgbClr val="F2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321040" y="3291840"/>
            <a:ext cx="73152" cy="1280160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49640" y="342900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07AFF"/>
                </a:solidFill>
                <a:latin typeface="SF Pro Display"/>
              </a:rP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35440" y="34747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D1D1F"/>
                </a:solidFill>
                <a:latin typeface="SF Pro Text"/>
              </a:rPr>
              <a:t>Robust 전략 8개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49640" y="393192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  <a:latin typeface="SF Pro Text"/>
              </a:rPr>
              <a:t>RS-1~RS-8 (RS-8 농수산 헷지 신규)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49640" y="425196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FF9500"/>
                </a:solidFill>
                <a:latin typeface="SF Pro Display"/>
              </a:rPr>
              <a:t>슬라이드 18~25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4754880"/>
            <a:ext cx="3749039" cy="1280160"/>
          </a:xfrm>
          <a:prstGeom prst="rect">
            <a:avLst/>
          </a:prstGeom>
          <a:solidFill>
            <a:srgbClr val="F2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" y="4754880"/>
            <a:ext cx="73152" cy="1280160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" y="489204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07AFF"/>
                </a:solidFill>
                <a:latin typeface="SF Pro Display"/>
              </a:rPr>
              <a:t>07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71600" y="49377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D1D1F"/>
                </a:solidFill>
                <a:latin typeface="SF Pro Text"/>
              </a:rPr>
              <a:t>EWI 대시보드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" y="539496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  <a:latin typeface="SF Pro Text"/>
              </a:rPr>
              <a:t>실시간 모니터링 + 자동 트리거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" y="571500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FF9500"/>
                </a:solidFill>
                <a:latin typeface="SF Pro Display"/>
              </a:rPr>
              <a:t>슬라이드 26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389120" y="4754880"/>
            <a:ext cx="3749039" cy="1280160"/>
          </a:xfrm>
          <a:prstGeom prst="rect">
            <a:avLst/>
          </a:prstGeom>
          <a:solidFill>
            <a:srgbClr val="F2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389120" y="4754880"/>
            <a:ext cx="73152" cy="1280160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617720" y="489204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07AFF"/>
                </a:solidFill>
                <a:latin typeface="SF Pro Display"/>
              </a:rPr>
              <a:t>08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03520" y="49377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D1D1F"/>
                </a:solidFill>
                <a:latin typeface="SF Pro Text"/>
              </a:rPr>
              <a:t>전략 리마인드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17720" y="539496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  <a:latin typeface="SF Pro Text"/>
              </a:rPr>
              <a:t>12개 결정 + 문제 해결 가능성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617720" y="571500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FF9500"/>
                </a:solidFill>
                <a:latin typeface="SF Pro Display"/>
              </a:rPr>
              <a:t>슬라이드 27~28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321040" y="4754880"/>
            <a:ext cx="3749039" cy="1280160"/>
          </a:xfrm>
          <a:prstGeom prst="rect">
            <a:avLst/>
          </a:prstGeom>
          <a:solidFill>
            <a:srgbClr val="F2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321040" y="4754880"/>
            <a:ext cx="73152" cy="1280160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549640" y="489204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07AFF"/>
                </a:solidFill>
                <a:latin typeface="SF Pro Display"/>
              </a:rPr>
              <a:t>09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235440" y="49377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D1D1F"/>
                </a:solidFill>
                <a:latin typeface="SF Pro Text"/>
              </a:rPr>
              <a:t>최종 메시지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549640" y="539496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  <a:latin typeface="SF Pro Text"/>
              </a:rPr>
              <a:t>Decision Request 클로징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549640" y="571500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FF9500"/>
                </a:solidFill>
                <a:latin typeface="SF Pro Display"/>
              </a:rPr>
              <a:t>슬라이드 29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C6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E6E73"/>
                </a:solidFill>
                <a:latin typeface="SF Pro Text"/>
              </a:rPr>
              <a:t>삼성전자  |  목차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E6E73"/>
                </a:solidFill>
                <a:latin typeface="SF Pro Text"/>
              </a:rPr>
              <a:t>2 / 29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D1D1F"/>
                </a:solidFill>
                <a:latin typeface="SF Pro Text"/>
              </a:rPr>
              <a:t>우리는 지금 메모리 호황의 정점에 서 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E6E73"/>
                </a:solidFill>
                <a:latin typeface="SF Pro Text"/>
              </a:rPr>
              <a:t>Q1 2026 메모리 매출 사상 최대 ($50.4B, +292% YoY) · 빅테크 AI CapEx $725B · HBM4 캐파 전량 Sold Out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C6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691640"/>
            <a:ext cx="5779008" cy="2103120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50292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  <a:latin typeface="SF Pro Display"/>
              </a:rPr>
              <a:t>$50.4B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632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F Pro Text"/>
              </a:rPr>
              <a:t>삼성 Q1 2026 메모리 매출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3832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F Pro Text"/>
              </a:rPr>
              <a:t>사상 최대 분기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6327648" y="1691640"/>
            <a:ext cx="5779008" cy="2103120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93408" y="1965960"/>
            <a:ext cx="50292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  <a:latin typeface="SF Pro Display"/>
              </a:rPr>
              <a:t>+292%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93408" y="30632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F Pro Text"/>
              </a:rPr>
              <a:t>YoY 성장률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93408" y="33832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F Pro Text"/>
              </a:rPr>
              <a:t>메모리 사업 사상 최대 폭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886200"/>
            <a:ext cx="5779008" cy="2103120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160520"/>
            <a:ext cx="50292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  <a:latin typeface="SF Pro Display"/>
              </a:rPr>
              <a:t>$725B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2578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F Pro Text"/>
              </a:rPr>
              <a:t>빅테크 4사 AI CapEx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5778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F Pro Text"/>
              </a:rPr>
              <a:t>+77% YoY ($410B → $725B)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27648" y="3886200"/>
            <a:ext cx="5779008" cy="2103120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93408" y="4160520"/>
            <a:ext cx="50292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  <a:latin typeface="SF Pro Display"/>
              </a:rPr>
              <a:t>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93408" y="52578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F Pro Text"/>
              </a:rPr>
              <a:t>HBM4 2026 캐파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93408" y="55778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F Pro Text"/>
              </a:rPr>
              <a:t>전량 Sold Out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989320"/>
            <a:ext cx="11731752" cy="365760"/>
          </a:xfrm>
          <a:prstGeom prst="rect">
            <a:avLst/>
          </a:prstGeom>
          <a:solidFill>
            <a:srgbClr val="FFF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5989320"/>
            <a:ext cx="91440" cy="365760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60393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F9500"/>
                </a:solidFill>
                <a:latin typeface="SF Pro Display"/>
              </a:rPr>
              <a:t>SO WHAT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6039320"/>
            <a:ext cx="99029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D1D1F"/>
                </a:solidFill>
                <a:latin typeface="SF Pro Text"/>
              </a:rPr>
              <a:t>지금이 호황의 정점 — 그러나 메모리는 사이클 산업이다.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C6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E6E73"/>
                </a:solidFill>
                <a:latin typeface="SF Pro Text"/>
              </a:rPr>
              <a:t>삼성전자  |  현재 상황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E6E73"/>
                </a:solidFill>
                <a:latin typeface="SF Pro Text"/>
              </a:rPr>
              <a:t>3 / 29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D1D1F"/>
                </a:solidFill>
                <a:latin typeface="SF Pro Text"/>
              </a:rPr>
              <a:t>그러나 메모리는 30년간 5번의 다운턴을 겪은 사이클 산업이다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E6E73"/>
                </a:solidFill>
                <a:latin typeface="SF Pro Text"/>
              </a:rPr>
              <a:t>1995~2026년 시장 사이클 — 4~5년 주기로 100%+ 등락 반복, 다운턴은 항상 호황 직후에 도래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C6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cycle_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7772400" cy="39319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503920" y="1554480"/>
            <a:ext cx="3200400" cy="4389120"/>
          </a:xfrm>
          <a:prstGeom prst="rect">
            <a:avLst/>
          </a:prstGeom>
          <a:solidFill>
            <a:srgbClr val="F2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0" y="169164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7AFF"/>
                </a:solidFill>
                <a:latin typeface="SF Pro Text"/>
              </a:rPr>
              <a:t>핵심 시사점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210312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E6E73"/>
                </a:solidFill>
                <a:latin typeface="SF Pro Display"/>
              </a:rPr>
              <a:t>KEY INSIGHTS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2606040"/>
            <a:ext cx="29260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D1D1F"/>
                </a:solidFill>
                <a:latin typeface="SF Pro Text"/>
              </a:rPr>
              <a:t>· 모든 다운턴은 "예측 불가"한 시점에 도래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3383280"/>
            <a:ext cx="29260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D1D1F"/>
                </a:solidFill>
                <a:latin typeface="SF Pro Text"/>
              </a:rPr>
              <a:t>· 2022~23 다운턴: 빅테크 클라우드 capex −15%로 시작 → 메모리 가격 −50%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4160520"/>
            <a:ext cx="29260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D1D1F"/>
                </a:solidFill>
                <a:latin typeface="SF Pro Text"/>
              </a:rPr>
              <a:t>· 호황기 평균 18~24개월 / 다운턴 평균 12~18개월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4937760"/>
            <a:ext cx="29260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D1D1F"/>
                </a:solidFill>
                <a:latin typeface="SF Pro Text"/>
              </a:rPr>
              <a:t>· 다운턴 진입 후에는 이미 늦음 — 사이클 진입 전 준비 필수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C6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E6E73"/>
                </a:solidFill>
                <a:latin typeface="SF Pro Text"/>
              </a:rPr>
              <a:t>삼성전자  |  현재 상황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E6E73"/>
                </a:solidFill>
                <a:latin typeface="SF Pro Text"/>
              </a:rPr>
              <a:t>4 / 29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D1D1F"/>
                </a:solidFill>
                <a:latin typeface="SF Pro Text"/>
              </a:rPr>
              <a:t>다운턴마다 우리 매출은 −38%, 영업이익은 −84% 사라졌다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E6E73"/>
                </a:solidFill>
                <a:latin typeface="SF Pro Text"/>
              </a:rPr>
              <a:t>삼성 메모리사업부 2014~2026 Q1 — 3번의 다운턴 (2015·2019·2022~23) 직접 경험치, 분기 −10조 원 적자 포함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C6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samsung_quarter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7772400" cy="39319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503920" y="1554480"/>
            <a:ext cx="3200400" cy="4389120"/>
          </a:xfrm>
          <a:prstGeom prst="rect">
            <a:avLst/>
          </a:prstGeom>
          <a:solidFill>
            <a:srgbClr val="F2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0" y="169164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3B30"/>
                </a:solidFill>
                <a:latin typeface="SF Pro Text"/>
              </a:rPr>
              <a:t>다운턴 손실 (실측)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224028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7AFF"/>
                </a:solidFill>
                <a:latin typeface="SF Pro Text"/>
              </a:rPr>
              <a:t>2015 다운턴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251460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  <a:latin typeface="SF Pro Text"/>
              </a:rPr>
              <a:t>매출 −32%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274320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  <a:latin typeface="SF Pro Text"/>
              </a:rPr>
              <a:t>영업이익 −75%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315468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7AFF"/>
                </a:solidFill>
                <a:latin typeface="SF Pro Text"/>
              </a:rPr>
              <a:t>2019 다운턴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342900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  <a:latin typeface="SF Pro Text"/>
              </a:rPr>
              <a:t>매출 −38%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365760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  <a:latin typeface="SF Pro Text"/>
              </a:rPr>
              <a:t>영업이익 −88%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406908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7AFF"/>
                </a:solidFill>
                <a:latin typeface="SF Pro Text"/>
              </a:rPr>
              <a:t>2022~23 다운턴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434340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  <a:latin typeface="SF Pro Text"/>
              </a:rPr>
              <a:t>매출 −45%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457200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  <a:latin typeface="SF Pro Text"/>
              </a:rPr>
              <a:t>영업이익 분기 −10조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0" y="5212080"/>
            <a:ext cx="2743200" cy="640080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60" y="5285232"/>
            <a:ext cx="2606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FFFFFF"/>
                </a:solidFill>
                <a:latin typeface="SF Pro Text"/>
              </a:rPr>
              <a:t>평균: 매출 −38%</a:t>
            </a:r>
          </a:p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FFFFFF"/>
                </a:solidFill>
                <a:latin typeface="SF Pro Text"/>
              </a:rPr>
              <a:t>영업이익 −84%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C6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E6E73"/>
                </a:solidFill>
                <a:latin typeface="SF Pro Text"/>
              </a:rPr>
              <a:t>삼성전자  |  현재 상황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E6E73"/>
                </a:solidFill>
                <a:latin typeface="SF Pro Text"/>
              </a:rPr>
              <a:t>5 / 29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D1D1F"/>
                </a:solidFill>
                <a:latin typeface="SF Pro Text"/>
              </a:rPr>
              <a:t>게다가 호황 속에서도 우리는 33년 만에 1위를 내줬다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E6E73"/>
                </a:solidFill>
                <a:latin typeface="SF Pro Text"/>
              </a:rPr>
              <a:t>매출 호황과 점유율 패배가 동시 진행 — DRAM 1위 역전, HBM 점유율 40%→17%, AI ROI 경고음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C6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691640"/>
            <a:ext cx="5394960" cy="4206240"/>
          </a:xfrm>
          <a:prstGeom prst="rect">
            <a:avLst/>
          </a:prstGeom>
          <a:solidFill>
            <a:srgbClr val="F2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34C759"/>
                </a:solidFill>
                <a:latin typeface="SF Pro Text"/>
              </a:rPr>
              <a:t>호황 지표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E6E73"/>
                </a:solidFill>
                <a:latin typeface="SF Pro Display"/>
              </a:rPr>
              <a:t>BOOM SIGNALS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974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7AFF"/>
                </a:solidFill>
                <a:latin typeface="SF Pro Text"/>
              </a:rPr>
              <a:t>■  메모리 시장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1089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D1D1F"/>
                </a:solidFill>
                <a:latin typeface="SF Pro Text"/>
              </a:rPr>
              <a:t>2024 $170B → 2026 $552B (+225%)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033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7AFF"/>
                </a:solidFill>
                <a:latin typeface="SF Pro Text"/>
              </a:rPr>
              <a:t>■  HBM 시장 Sold 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1148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D1D1F"/>
                </a:solidFill>
                <a:latin typeface="SF Pro Text"/>
              </a:rPr>
              <a:t>2026 $54.6B 전량 공급 부족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7091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7AFF"/>
                </a:solidFill>
                <a:latin typeface="SF Pro Text"/>
              </a:rPr>
              <a:t>■  빅테크 AI CapEx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1206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D1D1F"/>
                </a:solidFill>
                <a:latin typeface="SF Pro Text"/>
              </a:rPr>
              <a:t>2024 $200B → 2026 $725B (+263%)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97880" y="1691640"/>
            <a:ext cx="411480" cy="4206240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97880" y="3520440"/>
            <a:ext cx="411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80000"/>
              </a:lnSpc>
            </a:pPr>
            <a:r>
              <a:rPr sz="2200" b="1" i="0">
                <a:solidFill>
                  <a:srgbClr val="FFFFFF"/>
                </a:solidFill>
                <a:latin typeface="SF Pro Display"/>
              </a:rPr>
              <a:t>B</a:t>
            </a:r>
          </a:p>
          <a:p>
            <a:pPr algn="ctr">
              <a:lnSpc>
                <a:spcPct val="80000"/>
              </a:lnSpc>
            </a:pPr>
            <a:r>
              <a:rPr sz="2200" b="1" i="0">
                <a:solidFill>
                  <a:srgbClr val="FFFFFF"/>
                </a:solidFill>
                <a:latin typeface="SF Pro Display"/>
              </a:rPr>
              <a:t>U</a:t>
            </a:r>
          </a:p>
          <a:p>
            <a:pPr algn="ctr">
              <a:lnSpc>
                <a:spcPct val="80000"/>
              </a:lnSpc>
            </a:pPr>
            <a:r>
              <a:rPr sz="2200" b="1" i="0">
                <a:solidFill>
                  <a:srgbClr val="FFFFFF"/>
                </a:solidFill>
                <a:latin typeface="SF Pro Display"/>
              </a:rPr>
              <a:t>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5080" y="1691640"/>
            <a:ext cx="5394960" cy="4206240"/>
          </a:xfrm>
          <a:prstGeom prst="rect">
            <a:avLst/>
          </a:prstGeom>
          <a:solidFill>
            <a:srgbClr val="FF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18288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3B30"/>
                </a:solidFill>
                <a:latin typeface="SF Pro Text"/>
              </a:rPr>
              <a:t>위기 지표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19456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E6E73"/>
                </a:solidFill>
                <a:latin typeface="SF Pro Display"/>
              </a:rPr>
              <a:t>WARNING SIGNALS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6974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3B30"/>
                </a:solidFill>
                <a:latin typeface="SF Pro Text"/>
              </a:rPr>
              <a:t>■  DRAM 1위 역전 — 33년 만에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31089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D1D1F"/>
                </a:solidFill>
                <a:latin typeface="SF Pro Text"/>
              </a:rPr>
              <a:t>2025: SK $49.6B &gt; 삼성 $46.4B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7033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3B30"/>
                </a:solidFill>
                <a:latin typeface="SF Pro Text"/>
              </a:rPr>
              <a:t>■  HBM 점유율 추락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41148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D1D1F"/>
                </a:solidFill>
                <a:latin typeface="SF Pro Text"/>
              </a:rPr>
              <a:t>2023 40% → 2025 Q2 17% → 2026 NVIDIA Rubin 28%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47091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3B30"/>
                </a:solidFill>
                <a:latin typeface="SF Pro Text"/>
              </a:rPr>
              <a:t>■  AI ROI 경고음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51206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D1D1F"/>
                </a:solidFill>
                <a:latin typeface="SF Pro Text"/>
              </a:rPr>
              <a:t>MIT 95% ROI 미실현 / Microsoft FCF −28% 전망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989320"/>
            <a:ext cx="11731752" cy="365760"/>
          </a:xfrm>
          <a:prstGeom prst="rect">
            <a:avLst/>
          </a:prstGeom>
          <a:solidFill>
            <a:srgbClr val="FFF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5989320"/>
            <a:ext cx="91440" cy="365760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60393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F9500"/>
                </a:solidFill>
                <a:latin typeface="SF Pro Display"/>
              </a:rPr>
              <a:t>SO WHAT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6039320"/>
            <a:ext cx="99029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D1D1F"/>
                </a:solidFill>
                <a:latin typeface="SF Pro Text"/>
              </a:rPr>
              <a:t>매출 호황 + 점유율 패배 + 거시 경고가 동시에 — 다운턴 신호일 수 있다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C6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E6E73"/>
                </a:solidFill>
                <a:latin typeface="SF Pro Text"/>
              </a:rPr>
              <a:t>삼성전자  |  현재 상황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E6E73"/>
                </a:solidFill>
                <a:latin typeface="SF Pro Text"/>
              </a:rPr>
              <a:t>6 / 29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D1D1F"/>
                </a:solidFill>
                <a:latin typeface="SF Pro Text"/>
              </a:rPr>
              <a:t>호황이 더 길게 갈지, 다운턴이 언제·얼마나 클지 — 모두 알 수 없다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E6E73"/>
                </a:solidFill>
                <a:latin typeface="SF Pro Text"/>
              </a:rPr>
              <a:t>호황 지속 / 약한 조정 / 중간 다운턴 — 3가지 가설 모두 실현 가능, 각각 다른 전략 요구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C6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691640"/>
            <a:ext cx="3749039" cy="457200"/>
          </a:xfrm>
          <a:prstGeom prst="rect">
            <a:avLst/>
          </a:prstGeom>
          <a:solidFill>
            <a:srgbClr val="34C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F Pro Text"/>
              </a:rPr>
              <a:t>가설 A — 호황 지속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54680" y="181051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1">
                <a:solidFill>
                  <a:srgbClr val="FFFFFF"/>
                </a:solidFill>
                <a:latin typeface="SF Pro Text"/>
              </a:rPr>
              <a:t>다운턴 2030+ 이후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48840"/>
            <a:ext cx="3749039" cy="4114800"/>
          </a:xfrm>
          <a:prstGeom prst="rect">
            <a:avLst/>
          </a:prstGeom>
          <a:solidFill>
            <a:srgbClr val="FFFFFF"/>
          </a:solidFill>
          <a:ln>
            <a:solidFill>
              <a:srgbClr val="C6C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24028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34C759"/>
                </a:solidFill>
                <a:latin typeface="SF Pro Display"/>
              </a:rPr>
              <a:t>~2030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3464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E6E73"/>
                </a:solidFill>
                <a:latin typeface="SF Pro Text"/>
              </a:rPr>
              <a:t>CapEx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20" y="283464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D1D1F"/>
                </a:solidFill>
                <a:latin typeface="SF Pro Text"/>
              </a:rPr>
              <a:t>AI ROI 안정 실현</a:t>
            </a:r>
          </a:p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D1D1F"/>
                </a:solidFill>
                <a:latin typeface="SF Pro Text"/>
              </a:rPr>
              <a:t>빅테크 CapEx 지속 성장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9184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E6E73"/>
                </a:solidFill>
                <a:latin typeface="SF Pro Text"/>
              </a:rPr>
              <a:t>메모리 가격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20" y="329184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D1D1F"/>
                </a:solidFill>
                <a:latin typeface="SF Pro Text"/>
              </a:rPr>
              <a:t>HBM 슈퍼사이클</a:t>
            </a:r>
          </a:p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D1D1F"/>
                </a:solidFill>
                <a:latin typeface="SF Pro Text"/>
              </a:rPr>
              <a:t>2027 $1조 돌파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74904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E6E73"/>
                </a:solidFill>
                <a:latin typeface="SF Pro Text"/>
              </a:rPr>
              <a:t>삼성 영업이익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20" y="374904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D1D1F"/>
                </a:solidFill>
                <a:latin typeface="SF Pro Text"/>
              </a:rPr>
              <a:t>삼성 영업이익률 50%+</a:t>
            </a:r>
          </a:p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D1D1F"/>
                </a:solidFill>
                <a:latin typeface="SF Pro Text"/>
              </a:rPr>
              <a:t>사상 최대 지속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20624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E6E73"/>
                </a:solidFill>
                <a:latin typeface="SF Pro Text"/>
              </a:rPr>
              <a:t>지속 기간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20" y="420624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D1D1F"/>
                </a:solidFill>
                <a:latin typeface="SF Pro Text"/>
              </a:rPr>
              <a:t>4~5년 호황 사이클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66344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E6E73"/>
                </a:solidFill>
                <a:latin typeface="SF Pro Text"/>
              </a:rPr>
              <a:t>과거 사례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20" y="466344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D1D1F"/>
                </a:solidFill>
                <a:latin typeface="SF Pro Text"/>
              </a:rPr>
              <a:t>2017~18 슈퍼사이클</a:t>
            </a:r>
          </a:p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D1D1F"/>
                </a:solidFill>
                <a:latin typeface="SF Pro Text"/>
              </a:rPr>
              <a:t>+ AI 재가속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5303520"/>
            <a:ext cx="3520440" cy="868680"/>
          </a:xfrm>
          <a:prstGeom prst="rect">
            <a:avLst/>
          </a:prstGeom>
          <a:solidFill>
            <a:srgbClr val="FFF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534924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FF9500"/>
                </a:solidFill>
                <a:latin typeface="SF Pro Text"/>
              </a:rPr>
              <a:t>필요 전략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596127"/>
            <a:ext cx="33832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 i="0">
                <a:solidFill>
                  <a:srgbClr val="1D1D1F"/>
                </a:solidFill>
                <a:latin typeface="SF Pro Text"/>
              </a:rPr>
              <a:t>호황 최대 활용 — HBM 캐파 가속 증설, 신흥시장 선점, 단가 프리미엄 LTA 락인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70832" y="1691640"/>
            <a:ext cx="3749039" cy="457200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53712" y="173736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F Pro Text"/>
              </a:rPr>
              <a:t>가설 B — 약한 조정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68312" y="181051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1">
                <a:solidFill>
                  <a:srgbClr val="FFFFFF"/>
                </a:solidFill>
                <a:latin typeface="SF Pro Text"/>
              </a:rPr>
              <a:t>12개월 회복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70832" y="2148840"/>
            <a:ext cx="3749039" cy="4114800"/>
          </a:xfrm>
          <a:prstGeom prst="rect">
            <a:avLst/>
          </a:prstGeom>
          <a:solidFill>
            <a:srgbClr val="FFFFFF"/>
          </a:solidFill>
          <a:ln>
            <a:solidFill>
              <a:srgbClr val="C6C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53712" y="224028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F9500"/>
                </a:solidFill>
                <a:latin typeface="SF Pro Display"/>
              </a:rPr>
              <a:t>2027 Q4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53712" y="283464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E6E73"/>
                </a:solidFill>
                <a:latin typeface="SF Pro Text"/>
              </a:rPr>
              <a:t>CapEx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88152" y="283464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D1D1F"/>
                </a:solidFill>
                <a:latin typeface="SF Pro Text"/>
              </a:rPr>
              <a:t>빅테크 CapEx YoY</a:t>
            </a:r>
          </a:p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D1D1F"/>
                </a:solidFill>
                <a:latin typeface="SF Pro Text"/>
              </a:rPr>
              <a:t>−10~15%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53712" y="329184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E6E73"/>
                </a:solidFill>
                <a:latin typeface="SF Pro Text"/>
              </a:rPr>
              <a:t>메모리 가격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88152" y="329184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D1D1F"/>
                </a:solidFill>
                <a:latin typeface="SF Pro Text"/>
              </a:rPr>
              <a:t>메모리 가격 −20~30%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53712" y="374904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E6E73"/>
                </a:solidFill>
                <a:latin typeface="SF Pro Text"/>
              </a:rPr>
              <a:t>삼성 영업이익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88152" y="374904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D1D1F"/>
                </a:solidFill>
                <a:latin typeface="SF Pro Text"/>
              </a:rPr>
              <a:t>삼성 영업이익 −50%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53712" y="420624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E6E73"/>
                </a:solidFill>
                <a:latin typeface="SF Pro Text"/>
              </a:rPr>
              <a:t>지속 기간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88152" y="420624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D1D1F"/>
                </a:solidFill>
                <a:latin typeface="SF Pro Text"/>
              </a:rPr>
              <a:t>회복 12개월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53712" y="466344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E6E73"/>
                </a:solidFill>
                <a:latin typeface="SF Pro Text"/>
              </a:rPr>
              <a:t>과거 사례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88152" y="466344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D1D1F"/>
                </a:solidFill>
                <a:latin typeface="SF Pro Text"/>
              </a:rPr>
              <a:t>2022~23 형태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07992" y="5303520"/>
            <a:ext cx="3520440" cy="868680"/>
          </a:xfrm>
          <a:prstGeom prst="rect">
            <a:avLst/>
          </a:prstGeom>
          <a:solidFill>
            <a:srgbClr val="FFF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99432" y="534924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FF9500"/>
                </a:solidFill>
                <a:latin typeface="SF Pro Text"/>
              </a:rPr>
              <a:t>필요 전략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99432" y="5596127"/>
            <a:ext cx="33832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 i="0">
                <a:solidFill>
                  <a:srgbClr val="1D1D1F"/>
                </a:solidFill>
                <a:latin typeface="SF Pro Text"/>
              </a:rPr>
              <a:t>재고일수 상한 발동 + RS1 옵션형 캐파로 즉시 일시정지 + R&amp;D 사수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84464" y="1691640"/>
            <a:ext cx="3749039" cy="457200"/>
          </a:xfrm>
          <a:prstGeom prst="rect">
            <a:avLst/>
          </a:prstGeom>
          <a:solidFill>
            <a:srgbClr val="FF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67344" y="173736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F Pro Text"/>
              </a:rPr>
              <a:t>가설 C — 중간 다운턴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81944" y="181051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1">
                <a:solidFill>
                  <a:srgbClr val="FFFFFF"/>
                </a:solidFill>
                <a:latin typeface="SF Pro Text"/>
              </a:rPr>
              <a:t>18~24개월 회복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84464" y="2148840"/>
            <a:ext cx="3749039" cy="4114800"/>
          </a:xfrm>
          <a:prstGeom prst="rect">
            <a:avLst/>
          </a:prstGeom>
          <a:solidFill>
            <a:srgbClr val="FFFFFF"/>
          </a:solidFill>
          <a:ln>
            <a:solidFill>
              <a:srgbClr val="C6C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67344" y="224028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F3B30"/>
                </a:solidFill>
                <a:latin typeface="SF Pro Display"/>
              </a:rPr>
              <a:t>2028 Q1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67344" y="283464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E6E73"/>
                </a:solidFill>
                <a:latin typeface="SF Pro Text"/>
              </a:rPr>
              <a:t>CapEx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01784" y="283464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D1D1F"/>
                </a:solidFill>
                <a:latin typeface="SF Pro Text"/>
              </a:rPr>
              <a:t>AI ROI 실망 + CapEx</a:t>
            </a:r>
          </a:p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D1D1F"/>
                </a:solidFill>
                <a:latin typeface="SF Pro Text"/>
              </a:rPr>
              <a:t>−25~30%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67344" y="329184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E6E73"/>
                </a:solidFill>
                <a:latin typeface="SF Pro Text"/>
              </a:rPr>
              <a:t>메모리 가격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01784" y="329184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D1D1F"/>
                </a:solidFill>
                <a:latin typeface="SF Pro Text"/>
              </a:rPr>
              <a:t>메모리 가격 −45%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67344" y="374904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E6E73"/>
                </a:solidFill>
                <a:latin typeface="SF Pro Text"/>
              </a:rPr>
              <a:t>삼성 영업이익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01784" y="374904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D1D1F"/>
                </a:solidFill>
                <a:latin typeface="SF Pro Text"/>
              </a:rPr>
              <a:t>삼성 영업이익 −85%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67344" y="420624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E6E73"/>
                </a:solidFill>
                <a:latin typeface="SF Pro Text"/>
              </a:rPr>
              <a:t>지속 기간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701784" y="420624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D1D1F"/>
                </a:solidFill>
                <a:latin typeface="SF Pro Text"/>
              </a:rPr>
              <a:t>회복 18~24개월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67344" y="466344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E6E73"/>
                </a:solidFill>
                <a:latin typeface="SF Pro Text"/>
              </a:rPr>
              <a:t>과거 사례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701784" y="466344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D1D1F"/>
                </a:solidFill>
                <a:latin typeface="SF Pro Text"/>
              </a:rPr>
              <a:t>2008~09 형태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421624" y="5303520"/>
            <a:ext cx="3520440" cy="868680"/>
          </a:xfrm>
          <a:prstGeom prst="rect">
            <a:avLst/>
          </a:prstGeom>
          <a:solidFill>
            <a:srgbClr val="FFF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513064" y="534924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FF9500"/>
                </a:solidFill>
                <a:latin typeface="SF Pro Text"/>
              </a:rPr>
              <a:t>필요 전략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513064" y="5596127"/>
            <a:ext cx="33832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 i="0">
                <a:solidFill>
                  <a:srgbClr val="1D1D1F"/>
                </a:solidFill>
                <a:latin typeface="SF Pro Text"/>
              </a:rPr>
              <a:t>순현금 30조 버퍼 + 다운사이클 capex 4조원 사수 + Disney-Marvel 모델 M&amp;A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57200" y="6263640"/>
            <a:ext cx="11731752" cy="365760"/>
          </a:xfrm>
          <a:prstGeom prst="rect">
            <a:avLst/>
          </a:prstGeom>
          <a:solidFill>
            <a:srgbClr val="FFF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57200" y="6263640"/>
            <a:ext cx="91440" cy="365760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0080" y="63136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F9500"/>
                </a:solidFill>
                <a:latin typeface="SF Pro Display"/>
              </a:rPr>
              <a:t>SO WHAT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828800" y="6313640"/>
            <a:ext cx="99029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D1D1F"/>
                </a:solidFill>
                <a:latin typeface="SF Pro Text"/>
              </a:rPr>
              <a:t>호황 지속도 다운턴도 모두 가능 — 어느 가설이든 "지금 시작한 준비"가 양쪽 모두에서 가치를 만든다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C6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E6E73"/>
                </a:solidFill>
                <a:latin typeface="SF Pro Text"/>
              </a:rPr>
              <a:t>삼성전자  |  불확실성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E6E73"/>
                </a:solidFill>
                <a:latin typeface="SF Pro Text"/>
              </a:rPr>
              <a:t>7 / 29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D1D1F"/>
                </a:solidFill>
                <a:latin typeface="SF Pro Text"/>
              </a:rPr>
              <a:t>단선 예측은 위험하다 — 독립 변수 2개면 시나리오는 4개+이다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E6E73"/>
                </a:solidFill>
                <a:latin typeface="SF Pro Text"/>
              </a:rPr>
              <a:t>단일 미래 가정의 함정 vs 시나리오 플래닝의 강점 — 복수 미래 동시 준비, 자동 트리거 전환, 30일 내 의사결정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C6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691640"/>
            <a:ext cx="5486400" cy="4297680"/>
          </a:xfrm>
          <a:prstGeom prst="rect">
            <a:avLst/>
          </a:prstGeom>
          <a:solidFill>
            <a:srgbClr val="FFE5E3"/>
          </a:solidFill>
          <a:ln>
            <a:solidFill>
              <a:srgbClr val="FF3B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3B30"/>
                </a:solidFill>
                <a:latin typeface="SF Pro Text"/>
              </a:rPr>
              <a:t>단선 예측의 함정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F3B30"/>
                </a:solidFill>
                <a:latin typeface="SF Pro Display"/>
              </a:rPr>
              <a:t>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51460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D1D1F"/>
                </a:solidFill>
                <a:latin typeface="SF Pro Text"/>
              </a:rPr>
              <a:t>단일 미래 가정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926080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  <a:latin typeface="SF Pro Text"/>
              </a:rPr>
              <a:t>"AI 호황은 5년 더 갈 것" → 한 시나리오 실패 시 회사가 휘청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5661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F3B30"/>
                </a:solidFill>
                <a:latin typeface="SF Pro Display"/>
              </a:rPr>
              <a:t>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118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D1D1F"/>
                </a:solidFill>
                <a:latin typeface="SF Pro Text"/>
              </a:rPr>
              <a:t>의사결정 마비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023360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  <a:latin typeface="SF Pro Text"/>
              </a:rPr>
              <a:t>"확실하지 않으니 결정 미룸" → 사이클이 끝나도 준비 안 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6634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F3B30"/>
                </a:solidFill>
                <a:latin typeface="SF Pro Display"/>
              </a:rPr>
              <a:t>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70916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D1D1F"/>
                </a:solidFill>
                <a:latin typeface="SF Pro Text"/>
              </a:rPr>
              <a:t>사후 정당화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120640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  <a:latin typeface="SF Pro Text"/>
              </a:rPr>
              <a:t>"그때는 그게 정답이었다" → 학습 없음, 다음 사이클 같은 실수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691640"/>
            <a:ext cx="5486400" cy="4297680"/>
          </a:xfrm>
          <a:prstGeom prst="rect">
            <a:avLst/>
          </a:prstGeom>
          <a:solidFill>
            <a:srgbClr val="E3F9E9"/>
          </a:solidFill>
          <a:ln>
            <a:solidFill>
              <a:srgbClr val="34C7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82880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34C759"/>
                </a:solidFill>
                <a:latin typeface="SF Pro Text"/>
              </a:rPr>
              <a:t>시나리오 플래닝의 강점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4688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34C759"/>
                </a:solidFill>
                <a:latin typeface="SF Pro Display"/>
              </a:rPr>
              <a:t>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251460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D1D1F"/>
                </a:solidFill>
                <a:latin typeface="SF Pro Text"/>
              </a:rPr>
              <a:t>복수 미래 동시 준비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29260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  <a:latin typeface="SF Pro Text"/>
              </a:rPr>
              <a:t>각 미래에 강건한 전략을 미리 구축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3375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34C759"/>
                </a:solidFill>
                <a:latin typeface="SF Pro Display"/>
              </a:rPr>
              <a:t>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33832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D1D1F"/>
                </a:solidFill>
                <a:latin typeface="SF Pro Text"/>
              </a:rPr>
              <a:t>Robust 전략 식별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379476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  <a:latin typeface="SF Pro Text"/>
              </a:rPr>
              <a:t>어떤 미래가 와도 가치를 만드는 전략 도출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2062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34C759"/>
                </a:solidFill>
                <a:latin typeface="SF Pro Display"/>
              </a:rPr>
              <a:t>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80" y="425196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D1D1F"/>
                </a:solidFill>
                <a:latin typeface="SF Pro Text"/>
              </a:rPr>
              <a:t>트리거 기반 자동 전환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466344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  <a:latin typeface="SF Pro Text"/>
              </a:rPr>
              <a:t>특정 신호가 오면 사전 정의된 전략 자동 발동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50749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34C759"/>
                </a:solidFill>
                <a:latin typeface="SF Pro Display"/>
              </a:rPr>
              <a:t>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2280" y="512064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D1D1F"/>
                </a:solidFill>
                <a:latin typeface="SF Pro Text"/>
              </a:rPr>
              <a:t>의사결정 속도 향상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2280" y="55321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  <a:latin typeface="SF Pro Text"/>
              </a:rPr>
              <a:t>다운턴 시점에 빠르게 대응 가능 (30일 내)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C6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E6E73"/>
                </a:solidFill>
                <a:latin typeface="SF Pro Text"/>
              </a:rPr>
              <a:t>삼성전자  |  불확실성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E6E73"/>
                </a:solidFill>
                <a:latin typeface="SF Pro Text"/>
              </a:rPr>
              <a:t>8 / 29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D1D1F"/>
                </a:solidFill>
                <a:latin typeface="SF Pro Text"/>
              </a:rPr>
              <a:t>Shell·ExxonMobil·Disney·Samsung도 시나리오로 위기를 기회로 바꿨다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E6E73"/>
                </a:solidFill>
                <a:latin typeface="SF Pro Text"/>
              </a:rPr>
              <a:t>4가지 모두 "다운턴 사전 준비 + 호황기 절제 + 회복기 가속" 조합 — 시나리오 플래닝은 검증된 방법론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C6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691640"/>
            <a:ext cx="5779008" cy="457200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F Pro Text"/>
              </a:rPr>
              <a:t>Shell 1973 오일쇼크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48840"/>
            <a:ext cx="5779008" cy="1691640"/>
          </a:xfrm>
          <a:prstGeom prst="rect">
            <a:avLst/>
          </a:prstGeom>
          <a:solidFill>
            <a:srgbClr val="FFFFFF"/>
          </a:solidFill>
          <a:ln>
            <a:solidFill>
              <a:srgbClr val="C6C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240280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D1D1F"/>
                </a:solidFill>
                <a:latin typeface="SF Pro Text"/>
              </a:rPr>
              <a:t>1972년 시나리오 플래닝팀 신설 → 유가 안정/급등 두 시나리오 준비</a:t>
            </a:r>
          </a:p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D1D1F"/>
                </a:solidFill>
                <a:latin typeface="SF Pro Text"/>
              </a:rPr>
              <a:t>1973 OPEC 1차 오일쇼크 발발 → Shell만 미리 준비된 7대 메이저 중 1곳</a:t>
            </a:r>
          </a:p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D1D1F"/>
                </a:solidFill>
                <a:latin typeface="SF Pro Text"/>
              </a:rPr>
              <a:t>1970년대 말 BP·엑손 다음 1위로 도약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383280"/>
            <a:ext cx="5486400" cy="365760"/>
          </a:xfrm>
          <a:prstGeom prst="rect">
            <a:avLst/>
          </a:prstGeom>
          <a:solidFill>
            <a:srgbClr val="FFF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44728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1">
                <a:solidFill>
                  <a:srgbClr val="FF9500"/>
                </a:solidFill>
                <a:latin typeface="SF Pro Text"/>
              </a:rPr>
              <a:t>"불확실성 자체를 계획에 포함시켜라"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27648" y="1691640"/>
            <a:ext cx="5779008" cy="457200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17373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F Pro Text"/>
              </a:rPr>
              <a:t>ExxonMobil 2014~20 유가 폭락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27648" y="2148840"/>
            <a:ext cx="5779008" cy="1691640"/>
          </a:xfrm>
          <a:prstGeom prst="rect">
            <a:avLst/>
          </a:prstGeom>
          <a:solidFill>
            <a:srgbClr val="FFFFFF"/>
          </a:solidFill>
          <a:ln>
            <a:solidFill>
              <a:srgbClr val="C6C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0528" y="2240280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D1D1F"/>
                </a:solidFill>
                <a:latin typeface="SF Pro Text"/>
              </a:rPr>
              <a:t>유가 $100 → $30 → 음(-) 전개</a:t>
            </a:r>
          </a:p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D1D1F"/>
                </a:solidFill>
                <a:latin typeface="SF Pro Text"/>
              </a:rPr>
              <a:t>활동가 투자자 압박에도 capex 사수 (2020년 다우 산업평균 제외 + 첫 적자 감수)</a:t>
            </a:r>
          </a:p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D1D1F"/>
                </a:solidFill>
                <a:latin typeface="SF Pro Text"/>
              </a:rPr>
              <a:t>2023년 Pioneer Natural Resources $59.5B 인수 (5개월 종결)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10528" y="3383280"/>
            <a:ext cx="5486400" cy="365760"/>
          </a:xfrm>
          <a:prstGeom prst="rect">
            <a:avLst/>
          </a:prstGeom>
          <a:solidFill>
            <a:srgbClr val="FFF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47688" y="344728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1">
                <a:solidFill>
                  <a:srgbClr val="FF9500"/>
                </a:solidFill>
                <a:latin typeface="SF Pro Text"/>
              </a:rPr>
              <a:t>"다운사이클은 비축, 회복기는 재투자"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931920"/>
            <a:ext cx="5779008" cy="457200"/>
          </a:xfrm>
          <a:prstGeom prst="rect">
            <a:avLst/>
          </a:prstGeom>
          <a:solidFill>
            <a:srgbClr val="FF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977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F Pro Text"/>
              </a:rPr>
              <a:t>Disney 2009 글로벌 금융위기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389120"/>
            <a:ext cx="5779008" cy="1691640"/>
          </a:xfrm>
          <a:prstGeom prst="rect">
            <a:avLst/>
          </a:prstGeom>
          <a:solidFill>
            <a:srgbClr val="FFFFFF"/>
          </a:solidFill>
          <a:ln>
            <a:solidFill>
              <a:srgbClr val="C6C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480560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D1D1F"/>
                </a:solidFill>
                <a:latin typeface="SF Pro Text"/>
              </a:rPr>
              <a:t>2009년 8월 Marvel을 $4B 인수 (PER 37배) — 시장 부정적, S&amp;P 신용 부정</a:t>
            </a:r>
          </a:p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D1D1F"/>
                </a:solidFill>
                <a:latin typeface="SF Pro Text"/>
              </a:rPr>
              <a:t>10년 후 MCU 박스오피스 $18B+ 창출</a:t>
            </a:r>
          </a:p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D1D1F"/>
                </a:solidFill>
                <a:latin typeface="SF Pro Text"/>
              </a:rPr>
              <a:t>2009년 위기를 활용한 단일 베팅이 회사 재편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623560"/>
            <a:ext cx="5486400" cy="365760"/>
          </a:xfrm>
          <a:prstGeom prst="rect">
            <a:avLst/>
          </a:prstGeom>
          <a:solidFill>
            <a:srgbClr val="FFF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68756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1">
                <a:solidFill>
                  <a:srgbClr val="FF9500"/>
                </a:solidFill>
                <a:latin typeface="SF Pro Text"/>
              </a:rPr>
              <a:t>"위기는 자산 가격을 낮춘다"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27648" y="3931920"/>
            <a:ext cx="5779008" cy="457200"/>
          </a:xfrm>
          <a:prstGeom prst="rect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0528" y="3977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F Pro Text"/>
              </a:rPr>
              <a:t>Samsung 2022~23 메모리 다운사이클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27648" y="4389120"/>
            <a:ext cx="5779008" cy="1691640"/>
          </a:xfrm>
          <a:prstGeom prst="rect">
            <a:avLst/>
          </a:prstGeom>
          <a:solidFill>
            <a:srgbClr val="FFFFFF"/>
          </a:solidFill>
          <a:ln>
            <a:solidFill>
              <a:srgbClr val="C6C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10528" y="4480560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D1D1F"/>
                </a:solidFill>
                <a:latin typeface="SF Pro Text"/>
              </a:rPr>
              <a:t>TSMC·마이크론 capex −10%+ 삭감, 삼성: 47.7조 원 capex 집행 (감산 거부)</a:t>
            </a:r>
          </a:p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D1D1F"/>
                </a:solidFill>
                <a:latin typeface="SF Pro Text"/>
              </a:rPr>
              <a:t>2025~26 호황기에 점유율 흡수 + 사상 최대 분기</a:t>
            </a:r>
          </a:p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D1D1F"/>
                </a:solidFill>
                <a:latin typeface="SF Pro Text"/>
              </a:rPr>
              <a:t>역사이클 투자의 모범 사례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10528" y="5623560"/>
            <a:ext cx="5486400" cy="365760"/>
          </a:xfrm>
          <a:prstGeom prst="rect">
            <a:avLst/>
          </a:prstGeom>
          <a:solidFill>
            <a:srgbClr val="FFF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47688" y="568756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1">
                <a:solidFill>
                  <a:srgbClr val="FF9500"/>
                </a:solidFill>
                <a:latin typeface="SF Pro Text"/>
              </a:rPr>
              <a:t>"인위적 감산은 고려하지 않는다"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6263640"/>
            <a:ext cx="11731752" cy="365760"/>
          </a:xfrm>
          <a:prstGeom prst="rect">
            <a:avLst/>
          </a:prstGeom>
          <a:solidFill>
            <a:srgbClr val="FFF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6263640"/>
            <a:ext cx="91440" cy="365760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63136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F9500"/>
                </a:solidFill>
                <a:latin typeface="SF Pro Display"/>
              </a:rPr>
              <a:t>SO WHAT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0" y="6313640"/>
            <a:ext cx="99029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D1D1F"/>
                </a:solidFill>
                <a:latin typeface="SF Pro Text"/>
              </a:rPr>
              <a:t>4개 사례 모두 — "다운턴 사전 준비 + 호황기 절제 + 회복기 가속"의 조합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C6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E6E73"/>
                </a:solidFill>
                <a:latin typeface="SF Pro Text"/>
              </a:rPr>
              <a:t>삼성전자  |  시나리오 플래닝 정당화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E6E73"/>
                </a:solidFill>
                <a:latin typeface="SF Pro Text"/>
              </a:rPr>
              <a:t>9 / 29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D1D1F"/>
                </a:solidFill>
                <a:latin typeface="SF Pro Text"/>
              </a:rPr>
              <a:t>시나리오 플래닝은 8단계 프로세스 — 우리도 같은 길을 따라갔다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E6E73"/>
                </a:solidFill>
                <a:latin typeface="SF Pro Text"/>
              </a:rPr>
              <a:t>Focal Issue → STEEP 50개 → I×U 매트릭스 → Driving Forces 2개 → 시나리오 5개 → Main Bet → Side Bets → Robust + EWI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C6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338560" cy="260058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4114800"/>
            <a:ext cx="1335024" cy="914400"/>
          </a:xfrm>
          <a:prstGeom prst="rect">
            <a:avLst/>
          </a:prstGeom>
          <a:solidFill>
            <a:srgbClr val="F2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206240"/>
            <a:ext cx="115214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07AFF"/>
                </a:solidFill>
                <a:latin typeface="SF Pro Text"/>
              </a:rPr>
              <a:t>01 Focal Issue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526280"/>
            <a:ext cx="115214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1D1D1F"/>
                </a:solidFill>
                <a:latin typeface="SF Pro Text"/>
              </a:rPr>
              <a:t>→ 1개 핵심 질문</a:t>
            </a:r>
          </a:p>
        </p:txBody>
      </p:sp>
      <p:sp>
        <p:nvSpPr>
          <p:cNvPr id="9" name="Rectangle 8"/>
          <p:cNvSpPr/>
          <p:nvPr/>
        </p:nvSpPr>
        <p:spPr>
          <a:xfrm>
            <a:off x="1929384" y="4114800"/>
            <a:ext cx="1335024" cy="914400"/>
          </a:xfrm>
          <a:prstGeom prst="rect">
            <a:avLst/>
          </a:prstGeom>
          <a:solidFill>
            <a:srgbClr val="F2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20824" y="4206240"/>
            <a:ext cx="115214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07AFF"/>
                </a:solidFill>
                <a:latin typeface="SF Pro Text"/>
              </a:rPr>
              <a:t>02 STEEP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20824" y="4526280"/>
            <a:ext cx="115214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1D1D1F"/>
                </a:solidFill>
                <a:latin typeface="SF Pro Text"/>
              </a:rPr>
              <a:t>→ 50개 환경 요인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01568" y="4114800"/>
            <a:ext cx="1335024" cy="914400"/>
          </a:xfrm>
          <a:prstGeom prst="rect">
            <a:avLst/>
          </a:prstGeom>
          <a:solidFill>
            <a:srgbClr val="F2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93008" y="4206240"/>
            <a:ext cx="115214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07AFF"/>
                </a:solidFill>
                <a:latin typeface="SF Pro Text"/>
              </a:rPr>
              <a:t>03 I×U 매트릭스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93008" y="4526280"/>
            <a:ext cx="115214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1D1D1F"/>
                </a:solidFill>
                <a:latin typeface="SF Pro Text"/>
              </a:rPr>
              <a:t>→ 상위 10개 핵심 불확실성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73752" y="4114800"/>
            <a:ext cx="1335024" cy="914400"/>
          </a:xfrm>
          <a:prstGeom prst="rect">
            <a:avLst/>
          </a:prstGeom>
          <a:solidFill>
            <a:srgbClr val="F2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65192" y="4206240"/>
            <a:ext cx="115214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07AFF"/>
                </a:solidFill>
                <a:latin typeface="SF Pro Text"/>
              </a:rPr>
              <a:t>04 Driving Forces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65192" y="4526280"/>
            <a:ext cx="115214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1D1D1F"/>
                </a:solidFill>
                <a:latin typeface="SF Pro Text"/>
              </a:rPr>
              <a:t>→ 2개 독립 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45936" y="4114800"/>
            <a:ext cx="1335024" cy="914400"/>
          </a:xfrm>
          <a:prstGeom prst="rect">
            <a:avLst/>
          </a:prstGeom>
          <a:solidFill>
            <a:srgbClr val="F2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37376" y="4206240"/>
            <a:ext cx="115214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07AFF"/>
                </a:solidFill>
                <a:latin typeface="SF Pro Text"/>
              </a:rPr>
              <a:t>05 시나리오 매트릭스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37376" y="4526280"/>
            <a:ext cx="115214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1D1D1F"/>
                </a:solidFill>
                <a:latin typeface="SF Pro Text"/>
              </a:rPr>
              <a:t>→ 5개 대안적 미래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18120" y="4114800"/>
            <a:ext cx="1335024" cy="914400"/>
          </a:xfrm>
          <a:prstGeom prst="rect">
            <a:avLst/>
          </a:prstGeom>
          <a:solidFill>
            <a:srgbClr val="F2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09560" y="4206240"/>
            <a:ext cx="115214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07AFF"/>
                </a:solidFill>
                <a:latin typeface="SF Pro Text"/>
              </a:rPr>
              <a:t>06 Main Bet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09560" y="4526280"/>
            <a:ext cx="115214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1D1D1F"/>
                </a:solidFill>
                <a:latin typeface="SF Pro Text"/>
              </a:rPr>
              <a:t>→ 핵심 전략 시나리오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90304" y="4114800"/>
            <a:ext cx="1335024" cy="914400"/>
          </a:xfrm>
          <a:prstGeom prst="rect">
            <a:avLst/>
          </a:prstGeom>
          <a:solidFill>
            <a:srgbClr val="F2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81744" y="4206240"/>
            <a:ext cx="115214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07AFF"/>
                </a:solidFill>
                <a:latin typeface="SF Pro Text"/>
              </a:rPr>
              <a:t>07 Side Bets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81744" y="4526280"/>
            <a:ext cx="115214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1D1D1F"/>
                </a:solidFill>
                <a:latin typeface="SF Pro Text"/>
              </a:rPr>
              <a:t>→ 4개 헤징 전략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762488" y="4114800"/>
            <a:ext cx="1335024" cy="914400"/>
          </a:xfrm>
          <a:prstGeom prst="rect">
            <a:avLst/>
          </a:prstGeom>
          <a:solidFill>
            <a:srgbClr val="F2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853928" y="4206240"/>
            <a:ext cx="115214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007AFF"/>
                </a:solidFill>
                <a:latin typeface="SF Pro Text"/>
              </a:rPr>
              <a:t>08 Robust + EWI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53928" y="4526280"/>
            <a:ext cx="115214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1D1D1F"/>
                </a:solidFill>
                <a:latin typeface="SF Pro Text"/>
              </a:rPr>
              <a:t>→ 6개 전략 + 모니터링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44068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6E6E73"/>
                </a:solidFill>
                <a:latin typeface="SF Pro Text"/>
              </a:rPr>
              <a:t>프로젝트 기간: 2026년 4월~5월 (6주) · 50개 STEEP 요인 → 5개 시나리오 → 6개 Robust 전략 → 9개 즉시 결정 도출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C6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E6E73"/>
                </a:solidFill>
                <a:latin typeface="SF Pro Text"/>
              </a:rPr>
              <a:t>삼성전자  |  방법론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E6E73"/>
                </a:solidFill>
                <a:latin typeface="SF Pro Text"/>
              </a:rPr>
              <a:t>10 / 29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D1D1F"/>
                </a:solidFill>
                <a:latin typeface="SF Pro Text"/>
              </a:rPr>
              <a:t>Step 1 · 모든 분석은 "2030~2035 1위 유지를 위해 지금 무엇을 결정할 것인가"라는 단 하나의 질문에 답한다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E6E73"/>
                </a:solidFill>
                <a:latin typeface="SF Pro Text"/>
              </a:rPr>
              <a:t>호황의 정점·33년 만의 점유율 역전·HBM 세대 전환 분기점 — 세 가지 압박 위에서 도출된 Focal Issue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C6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1371600" y="1828800"/>
            <a:ext cx="9445752" cy="3108960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1920240"/>
            <a:ext cx="1828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 i="0">
                <a:solidFill>
                  <a:srgbClr val="FF9500"/>
                </a:solidFill>
                <a:latin typeface="SF Pro Display"/>
              </a:rPr>
              <a:t>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2286000"/>
            <a:ext cx="82296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b="1" i="0">
                <a:solidFill>
                  <a:srgbClr val="FFFFFF"/>
                </a:solidFill>
                <a:latin typeface="SF Pro Text"/>
              </a:rPr>
              <a:t>삼성전자 메모리사업부가</a:t>
            </a:r>
          </a:p>
          <a:p>
            <a:pPr algn="l">
              <a:lnSpc>
                <a:spcPct val="140000"/>
              </a:lnSpc>
            </a:pPr>
            <a:r>
              <a:rPr sz="2200" b="1" i="0">
                <a:solidFill>
                  <a:srgbClr val="FFFFFF"/>
                </a:solidFill>
                <a:latin typeface="SF Pro Text"/>
              </a:rPr>
              <a:t>AI 메모리 시대인 2030~2035년에도</a:t>
            </a:r>
          </a:p>
          <a:p>
            <a:pPr algn="l">
              <a:lnSpc>
                <a:spcPct val="140000"/>
              </a:lnSpc>
            </a:pPr>
            <a:r>
              <a:rPr sz="2200" b="1" i="0">
                <a:solidFill>
                  <a:srgbClr val="FFFFFF"/>
                </a:solidFill>
                <a:latin typeface="SF Pro Text"/>
              </a:rPr>
              <a:t>글로벌 리더십을 유지하기 위해,</a:t>
            </a:r>
          </a:p>
          <a:p>
            <a:pPr algn="l">
              <a:lnSpc>
                <a:spcPct val="140000"/>
              </a:lnSpc>
            </a:pPr>
            <a:r>
              <a:rPr sz="2200" b="1" i="0">
                <a:solidFill>
                  <a:srgbClr val="FFFFFF"/>
                </a:solidFill>
                <a:latin typeface="SF Pro Text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2200" b="1" i="0">
                <a:solidFill>
                  <a:srgbClr val="FFFFFF"/>
                </a:solidFill>
                <a:latin typeface="SF Pro Text"/>
              </a:rPr>
              <a:t>어떤 전략적 결정을</a:t>
            </a:r>
          </a:p>
          <a:p>
            <a:pPr algn="l">
              <a:lnSpc>
                <a:spcPct val="140000"/>
              </a:lnSpc>
            </a:pPr>
            <a:r>
              <a:rPr sz="2200" b="1" i="0">
                <a:solidFill>
                  <a:srgbClr val="FFFFFF"/>
                </a:solidFill>
                <a:latin typeface="SF Pro Text"/>
              </a:rPr>
              <a:t>지금(2026년) 내려야 하는가?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5212080"/>
            <a:ext cx="3383280" cy="822960"/>
          </a:xfrm>
          <a:prstGeom prst="rect">
            <a:avLst/>
          </a:prstGeom>
          <a:solidFill>
            <a:srgbClr val="FF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3035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F Pro Text"/>
              </a:rPr>
              <a:t>현황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57784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FFFFFF"/>
                </a:solidFill>
                <a:latin typeface="SF Pro Text"/>
              </a:rPr>
              <a:t>호황의 정점</a:t>
            </a:r>
          </a:p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FFFFFF"/>
                </a:solidFill>
                <a:latin typeface="SF Pro Text"/>
              </a:rPr>
              <a:t>점유율 1위 역전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5212080"/>
            <a:ext cx="3383280" cy="822960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53035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F Pro Text"/>
              </a:rPr>
              <a:t>시간 압박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557784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FFFFFF"/>
                </a:solidFill>
                <a:latin typeface="SF Pro Text"/>
              </a:rPr>
              <a:t>HBM 세대 전환 분기점</a:t>
            </a:r>
          </a:p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FFFFFF"/>
                </a:solidFill>
                <a:latin typeface="SF Pro Text"/>
              </a:rPr>
              <a:t>2026~2027 결정 시점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5212080"/>
            <a:ext cx="3383280" cy="822960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53035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F Pro Text"/>
              </a:rPr>
              <a:t>불확실성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557784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FFFFFF"/>
                </a:solidFill>
                <a:latin typeface="SF Pro Text"/>
              </a:rPr>
              <a:t>AI 슈퍼사이클 vs 거품</a:t>
            </a:r>
          </a:p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FFFFFF"/>
                </a:solidFill>
                <a:latin typeface="SF Pro Text"/>
              </a:rPr>
              <a:t>미중 디커플링 vs 공존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C6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E6E73"/>
                </a:solidFill>
                <a:latin typeface="SF Pro Text"/>
              </a:rPr>
              <a:t>삼성전자  |  Step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E6E73"/>
                </a:solidFill>
                <a:latin typeface="SF Pro Text"/>
              </a:rPr>
              <a:t>11 / 29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D1D1F"/>
                </a:solidFill>
                <a:latin typeface="SF Pro Text"/>
              </a:rPr>
              <a:t>Step 2·3 · 50개 환경 요인 중 20개가 핵심 불확실성이다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E6E73"/>
                </a:solidFill>
                <a:latin typeface="SF Pro Text"/>
              </a:rPr>
              <a:t>STEEP 5개 카테고리 × 10개씩 = 50개 → I×U 매트릭스 → 상위 4개 (I×U=25): 3D DRAM·AI 버블·수출통제·대만 해협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C6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iu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1554480"/>
            <a:ext cx="7680960" cy="508604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1554480"/>
            <a:ext cx="3383280" cy="4389120"/>
          </a:xfrm>
          <a:prstGeom prst="rect">
            <a:avLst/>
          </a:prstGeom>
          <a:solidFill>
            <a:srgbClr val="F2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7AFF"/>
                </a:solidFill>
                <a:latin typeface="SF Pro Text"/>
              </a:rPr>
              <a:t>STEEP 분류 (50개)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D1D1F"/>
                </a:solidFill>
                <a:latin typeface="SF Pro Text"/>
              </a:rPr>
              <a:t>S Social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19456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E6E73"/>
                </a:solidFill>
                <a:latin typeface="SF Pro Display"/>
              </a:rPr>
              <a:t>10개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19456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07AFF"/>
                </a:solidFill>
                <a:latin typeface="SF Pro Text"/>
              </a:rPr>
              <a:t>평균  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060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D1D1F"/>
                </a:solidFill>
                <a:latin typeface="SF Pro Text"/>
              </a:rPr>
              <a:t>T Technology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60604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E6E73"/>
                </a:solidFill>
                <a:latin typeface="SF Pro Display"/>
              </a:rPr>
              <a:t>10개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260604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07AFF"/>
                </a:solidFill>
                <a:latin typeface="SF Pro Text"/>
              </a:rPr>
              <a:t>12 (T3 3D DRAM = 25)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017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D1D1F"/>
                </a:solidFill>
                <a:latin typeface="SF Pro Text"/>
              </a:rPr>
              <a:t>Ec Economy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0175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E6E73"/>
                </a:solidFill>
                <a:latin typeface="SF Pro Display"/>
              </a:rPr>
              <a:t>10개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301752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07AFF"/>
                </a:solidFill>
                <a:latin typeface="SF Pro Text"/>
              </a:rPr>
              <a:t>11 (Ec6 AI 버블 = 25)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4290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D1D1F"/>
                </a:solidFill>
                <a:latin typeface="SF Pro Text"/>
              </a:rPr>
              <a:t>En Environment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4290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E6E73"/>
                </a:solidFill>
                <a:latin typeface="SF Pro Display"/>
              </a:rPr>
              <a:t>10개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342900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07AFF"/>
                </a:solidFill>
                <a:latin typeface="SF Pro Text"/>
              </a:rPr>
              <a:t>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8404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D1D1F"/>
                </a:solidFill>
                <a:latin typeface="SF Pro Text"/>
              </a:rPr>
              <a:t>P Political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38404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E6E73"/>
                </a:solidFill>
                <a:latin typeface="SF Pro Display"/>
              </a:rPr>
              <a:t>10개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38404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007AFF"/>
                </a:solidFill>
                <a:latin typeface="SF Pro Text"/>
              </a:rPr>
              <a:t>12 (P1·P8 = 25)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5720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9500"/>
                </a:solidFill>
                <a:latin typeface="SF Pro Text"/>
              </a:rPr>
              <a:t>분류 결과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93776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1D1D1F"/>
                </a:solidFill>
                <a:latin typeface="SF Pro Text"/>
              </a:rPr>
              <a:t>● 핵심 불확실성 (I≥4, U≥4) : 20개</a:t>
            </a:r>
          </a:p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1D1D1F"/>
                </a:solidFill>
                <a:latin typeface="SF Pro Text"/>
              </a:rPr>
              <a:t>◆ 기정사실 (I≥3, U≤3) : 8개</a:t>
            </a:r>
          </a:p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1D1D1F"/>
                </a:solidFill>
                <a:latin typeface="SF Pro Text"/>
              </a:rPr>
              <a:t>○ 주변부 : 22개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C6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E6E73"/>
                </a:solidFill>
                <a:latin typeface="SF Pro Text"/>
              </a:rPr>
              <a:t>삼성전자  |  Step 2·3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E6E73"/>
                </a:solidFill>
                <a:latin typeface="SF Pro Text"/>
              </a:rPr>
              <a:t>12 / 29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D1D1F"/>
                </a:solidFill>
                <a:latin typeface="SF Pro Text"/>
              </a:rPr>
              <a:t>Step 4 · 두 개의 독립적 축이 우리 미래를 결정한다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E6E73"/>
                </a:solidFill>
                <a:latin typeface="SF Pro Text"/>
              </a:rPr>
              <a:t>DF1 AI 수요 (기술·경제 논리) × DF2 미중 디커플링 (외교·안보 논리) — 서로 다른 인과 경로 = 독립 변수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C6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691640"/>
            <a:ext cx="5779008" cy="411480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F Pro Text"/>
              </a:rPr>
              <a:t>DF1: AI 수요의 구조적 지속성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5779008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6C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1D1D1F"/>
                </a:solidFill>
                <a:latin typeface="SF Pro Text"/>
              </a:rPr>
              <a:t>AI CapEx + HBM 수요가 2030~2035년까지</a:t>
            </a:r>
          </a:p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1D1D1F"/>
                </a:solidFill>
                <a:latin typeface="SF Pro Text"/>
              </a:rPr>
              <a:t>구조적으로 유지되는가?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971800"/>
            <a:ext cx="2697480" cy="1371600"/>
          </a:xfrm>
          <a:prstGeom prst="rect">
            <a:avLst/>
          </a:prstGeom>
          <a:solidFill>
            <a:srgbClr val="FF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063240"/>
            <a:ext cx="26060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FF3B30"/>
                </a:solidFill>
                <a:latin typeface="SF Pro Text"/>
              </a:rPr>
              <a:t>슈퍼사이클</a:t>
            </a:r>
          </a:p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FF3B30"/>
                </a:solidFill>
                <a:latin typeface="SF Pro Text"/>
              </a:rPr>
              <a:t>AI ROI 실현</a:t>
            </a:r>
          </a:p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FF3B30"/>
                </a:solidFill>
                <a:latin typeface="SF Pro Text"/>
              </a:rPr>
              <a:t>2027 빅테크 $1조</a:t>
            </a:r>
          </a:p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FF3B30"/>
                </a:solidFill>
                <a:latin typeface="SF Pro Text"/>
              </a:rPr>
              <a:t>HBM이 DRAM 50%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2971800"/>
            <a:ext cx="2697480" cy="1371600"/>
          </a:xfrm>
          <a:prstGeom prst="rect">
            <a:avLst/>
          </a:prstGeom>
          <a:solidFill>
            <a:srgbClr val="E3F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3063240"/>
            <a:ext cx="26060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34C759"/>
                </a:solidFill>
                <a:latin typeface="SF Pro Text"/>
              </a:rPr>
              <a:t>버블 붕괴</a:t>
            </a:r>
          </a:p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34C759"/>
                </a:solidFill>
                <a:latin typeface="SF Pro Text"/>
              </a:rPr>
              <a:t>AI ROI 미실현</a:t>
            </a:r>
          </a:p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34C759"/>
                </a:solidFill>
                <a:latin typeface="SF Pro Text"/>
              </a:rPr>
              <a:t>2027 빅테크 −30%</a:t>
            </a:r>
          </a:p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34C759"/>
                </a:solidFill>
                <a:latin typeface="SF Pro Text"/>
              </a:rPr>
              <a:t>2022~23 재현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5262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9500"/>
                </a:solidFill>
                <a:latin typeface="SF Pro Text"/>
              </a:rPr>
              <a:t>현재 위치 → 70% 슈퍼사이클 방향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9377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D1D1F"/>
                </a:solidFill>
                <a:latin typeface="SF Pro Text"/>
              </a:rPr>
              <a:t>근거: 2026 HBM Sold Out + AI CapEx +77% YoY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715000"/>
            <a:ext cx="5394960" cy="502920"/>
          </a:xfrm>
          <a:prstGeom prst="rect">
            <a:avLst/>
          </a:prstGeom>
          <a:solidFill>
            <a:srgbClr val="FFF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80644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9500"/>
                </a:solidFill>
                <a:latin typeface="SF Pro Text"/>
              </a:rPr>
              <a:t>인과 경로: 기술·경제 내적 논리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27648" y="1691640"/>
            <a:ext cx="5779008" cy="411480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0528" y="173736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F Pro Text"/>
              </a:rPr>
              <a:t>DF2: 미중 기술 디커플링 강도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27648" y="2103120"/>
            <a:ext cx="5779008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6C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0528" y="219456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1D1D1F"/>
                </a:solidFill>
                <a:latin typeface="SF Pro Text"/>
              </a:rPr>
              <a:t>미국 주도 수출 통제가</a:t>
            </a:r>
          </a:p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1D1D1F"/>
                </a:solidFill>
                <a:latin typeface="SF Pro Text"/>
              </a:rPr>
              <a:t>전면 디커플링 vs 관리된 공존?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10528" y="2971800"/>
            <a:ext cx="2697480" cy="1371600"/>
          </a:xfrm>
          <a:prstGeom prst="rect">
            <a:avLst/>
          </a:prstGeom>
          <a:solidFill>
            <a:srgbClr val="FF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1968" y="3063240"/>
            <a:ext cx="26060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FF3B30"/>
                </a:solidFill>
                <a:latin typeface="SF Pro Text"/>
              </a:rPr>
              <a:t>전면 디커플링</a:t>
            </a:r>
          </a:p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FF3B30"/>
                </a:solidFill>
                <a:latin typeface="SF Pro Text"/>
              </a:rPr>
              <a:t>MATCH 법안 통과</a:t>
            </a:r>
          </a:p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FF3B30"/>
                </a:solidFill>
                <a:latin typeface="SF Pro Text"/>
              </a:rPr>
              <a:t>시안 팹 차단</a:t>
            </a:r>
          </a:p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FF3B30"/>
                </a:solidFill>
                <a:latin typeface="SF Pro Text"/>
              </a:rPr>
              <a:t>중국 매출 소멸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53728" y="2971800"/>
            <a:ext cx="2697480" cy="1371600"/>
          </a:xfrm>
          <a:prstGeom prst="rect">
            <a:avLst/>
          </a:prstGeom>
          <a:solidFill>
            <a:srgbClr val="E3F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45168" y="3063240"/>
            <a:ext cx="26060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34C759"/>
                </a:solidFill>
                <a:latin typeface="SF Pro Text"/>
              </a:rPr>
              <a:t>관리된 공존</a:t>
            </a:r>
          </a:p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34C759"/>
                </a:solidFill>
                <a:latin typeface="SF Pro Text"/>
              </a:rPr>
              <a:t>선택적 제재·허용</a:t>
            </a:r>
          </a:p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34C759"/>
                </a:solidFill>
                <a:latin typeface="SF Pro Text"/>
              </a:rPr>
              <a:t>라이선스 갱신 지속</a:t>
            </a:r>
          </a:p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34C759"/>
                </a:solidFill>
                <a:latin typeface="SF Pro Text"/>
              </a:rPr>
              <a:t>범용 DRAM 허용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45262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9500"/>
                </a:solidFill>
                <a:latin typeface="SF Pro Text"/>
              </a:rPr>
              <a:t>현재 위치 → 중립, 진동 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49377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D1D1F"/>
                </a:solidFill>
                <a:latin typeface="SF Pro Text"/>
              </a:rPr>
              <a:t>근거: H20 재허용(공존) + VEU 폐지(디커플링)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10528" y="5715000"/>
            <a:ext cx="5394960" cy="502920"/>
          </a:xfrm>
          <a:prstGeom prst="rect">
            <a:avLst/>
          </a:prstGeom>
          <a:solidFill>
            <a:srgbClr val="FFF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47688" y="580644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9500"/>
                </a:solidFill>
                <a:latin typeface="SF Pro Text"/>
              </a:rPr>
              <a:t>인과 경로: 외교·안보 논리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7607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1">
                <a:solidFill>
                  <a:srgbClr val="FF9500"/>
                </a:solidFill>
                <a:latin typeface="SF Pro Text"/>
              </a:rPr>
              <a:t>두 축이 독립적이므로 → 4가지 미래가 가능 (+ 와일드카드 E)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C6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E6E73"/>
                </a:solidFill>
                <a:latin typeface="SF Pro Text"/>
              </a:rPr>
              <a:t>삼성전자  |  Step 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E6E73"/>
                </a:solidFill>
                <a:latin typeface="SF Pro Text"/>
              </a:rPr>
              <a:t>13 / 29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D1D1F"/>
                </a:solidFill>
                <a:latin typeface="SF Pro Text"/>
              </a:rPr>
              <a:t>Step 5 · 두 축의 조합이 5개 대안적 미래를 만든다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E6E73"/>
                </a:solidFill>
                <a:latin typeface="SF Pro Text"/>
              </a:rPr>
              <a:t>2×2 매트릭스 (4개 시나리오) + E 와일드카드 — 확률 합 100%, 각 시나리오의 2035년 시장 규모 명시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C6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scenario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691640"/>
            <a:ext cx="7467361" cy="41148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5989320"/>
            <a:ext cx="11731752" cy="365760"/>
          </a:xfrm>
          <a:prstGeom prst="rect">
            <a:avLst/>
          </a:prstGeom>
          <a:solidFill>
            <a:srgbClr val="FFF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989320"/>
            <a:ext cx="91440" cy="365760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0393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F9500"/>
                </a:solidFill>
                <a:latin typeface="SF Pro Display"/>
              </a:rPr>
              <a:t>SO WHAT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6039320"/>
            <a:ext cx="99029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D1D1F"/>
                </a:solidFill>
                <a:latin typeface="SF Pro Text"/>
              </a:rPr>
              <a:t>5개 시나리오 — 가장 가능성 높은 B(30~35%) + 헤징 4개 = 어떤 미래가 와도 대비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C6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E6E73"/>
                </a:solidFill>
                <a:latin typeface="SF Pro Text"/>
              </a:rPr>
              <a:t>삼성전자  |  Step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E6E73"/>
                </a:solidFill>
                <a:latin typeface="SF Pro Text"/>
              </a:rPr>
              <a:t>14 / 29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D1D1F"/>
                </a:solidFill>
                <a:latin typeface="SF Pro Text"/>
              </a:rPr>
              <a:t>Step 6 · Main Bet은 시나리오 B "AI 르네상스" — 그러나 자동 실현 아님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E6E73"/>
                </a:solidFill>
                <a:latin typeface="SF Pro Text"/>
              </a:rPr>
              <a:t>확률 30~35% · 2035 시장 $520B (전 시나리오 최대) · 삼성 매출 $120B 가능 — 4개 전제 조건 충족 시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C6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554480"/>
            <a:ext cx="11274552" cy="502920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27632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F Pro Text"/>
              </a:rPr>
              <a:t>⭐  MAIN BET — "AI 르네상스"  |  확률 30~35%  |  2035 시장 $520B (전 시나리오 최대)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94560"/>
            <a:ext cx="5632704" cy="2743200"/>
          </a:xfrm>
          <a:prstGeom prst="rect">
            <a:avLst/>
          </a:prstGeom>
          <a:solidFill>
            <a:srgbClr val="F2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7AFF"/>
                </a:solidFill>
                <a:latin typeface="SF Pro Text"/>
              </a:rPr>
              <a:t>2035년 세계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97480"/>
            <a:ext cx="539496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1D1D1F"/>
                </a:solidFill>
                <a:latin typeface="SF Pro Text"/>
              </a:rPr>
              <a:t>· 글로벌 메모리 시장 $520B (전 시나리오 최대)</a:t>
            </a:r>
          </a:p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1D1D1F"/>
                </a:solidFill>
                <a:latin typeface="SF Pro Text"/>
              </a:rPr>
              <a:t>· AI가 산업 전반 생산성 혁명 실현</a:t>
            </a:r>
          </a:p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1D1D1F"/>
                </a:solidFill>
                <a:latin typeface="SF Pro Text"/>
              </a:rPr>
              <a:t>· 미중 관계 2028 "선택적 제재·허용" 프레임</a:t>
            </a:r>
          </a:p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1D1D1F"/>
                </a:solidFill>
                <a:latin typeface="SF Pro Text"/>
              </a:rPr>
              <a:t>· 빅테크 AI 직접 매출 합산 2027 $500B 돌파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074920"/>
            <a:ext cx="5632704" cy="1280160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5166360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F Pro Text"/>
              </a:rPr>
              <a:t>삼성전자 2030년 전망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440680"/>
            <a:ext cx="5394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FFFFFF"/>
                </a:solidFill>
                <a:latin typeface="SF Pro Text"/>
              </a:rPr>
              <a:t>· 메모리사업부 연간 매출 $120B 돌파</a:t>
            </a:r>
          </a:p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FFFFFF"/>
                </a:solidFill>
                <a:latin typeface="SF Pro Text"/>
              </a:rPr>
              <a:t>· HBM4E NVIDIA Feynman 플랫폼 공식 탑재</a:t>
            </a:r>
          </a:p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FFFFFF"/>
                </a:solidFill>
                <a:latin typeface="SF Pro Text"/>
              </a:rPr>
              <a:t>· 텍사스 테일러 2단계(HBM) 2030년 가동</a:t>
            </a:r>
          </a:p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FFFFFF"/>
                </a:solidFill>
                <a:latin typeface="SF Pro Text"/>
              </a:rPr>
              <a:t>· 중국 일반 메모리 연 $12B 유지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2194560"/>
            <a:ext cx="5468112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9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28600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9500"/>
                </a:solidFill>
                <a:latin typeface="SF Pro Text"/>
              </a:rPr>
              <a:t>이 시나리오 현실화 4개 전제 조건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69748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D1D1F"/>
                </a:solidFill>
                <a:latin typeface="SF Pro Text"/>
              </a:rPr>
              <a:t>① AI ROI 실현 (2027~2028 분기점)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20040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D1D1F"/>
                </a:solidFill>
                <a:latin typeface="SF Pro Text"/>
              </a:rPr>
              <a:t>② 미중 반도체 무역 타협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70332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D1D1F"/>
                </a:solidFill>
                <a:latin typeface="SF Pro Text"/>
              </a:rPr>
              <a:t>③ 삼성 HBM4E 기술 추격 성공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20624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D1D1F"/>
                </a:solidFill>
                <a:latin typeface="SF Pro Text"/>
              </a:rPr>
              <a:t>④ 시안 팹 부분 운영 지속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5074920"/>
            <a:ext cx="5468112" cy="1280160"/>
          </a:xfrm>
          <a:prstGeom prst="rect">
            <a:avLst/>
          </a:prstGeom>
          <a:solidFill>
            <a:srgbClr val="E3F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516636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4C759"/>
                </a:solidFill>
                <a:latin typeface="SF Pro Text"/>
              </a:rPr>
              <a:t>2026년 5월 현재 증거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5440680"/>
            <a:ext cx="5212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1D1D1F"/>
                </a:solidFill>
                <a:latin typeface="SF Pro Text"/>
              </a:rPr>
              <a:t>✓ 빅테크 4사 CapEx $725B (강한 Pole A 모멘텀)</a:t>
            </a:r>
          </a:p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1D1D1F"/>
                </a:solidFill>
                <a:latin typeface="SF Pro Text"/>
              </a:rPr>
              <a:t>✓ H20 재허용·MATCH 미통과 (공존 신호)</a:t>
            </a:r>
          </a:p>
          <a:p>
            <a:pPr algn="l">
              <a:lnSpc>
                <a:spcPct val="140000"/>
              </a:lnSpc>
            </a:pPr>
            <a:r>
              <a:rPr sz="950" b="0" i="0">
                <a:solidFill>
                  <a:srgbClr val="1D1D1F"/>
                </a:solidFill>
                <a:latin typeface="SF Pro Text"/>
              </a:rPr>
              <a:t>✓ 삼성 HBM 점유율 17% → 28% (추격 궤도)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C6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E6E73"/>
                </a:solidFill>
                <a:latin typeface="SF Pro Text"/>
              </a:rPr>
              <a:t>삼성전자  |  Step 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E6E73"/>
                </a:solidFill>
                <a:latin typeface="SF Pro Text"/>
              </a:rPr>
              <a:t>15 / 29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D1D1F"/>
                </a:solidFill>
                <a:latin typeface="SF Pro Text"/>
              </a:rPr>
              <a:t>Step 7 · 나머지 4개 시나리오에는 +15% 추가 비용으로 보험을 든다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E6E73"/>
                </a:solidFill>
                <a:latin typeface="SF Pro Text"/>
              </a:rPr>
              <a:t>A 황금 요새 / C 기술 냉전 / D 조용한 재편 / E 패러다임 전환 — 시나리오별 맞춤 헤징 전략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C6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691640"/>
            <a:ext cx="11274552" cy="411480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F Pro Text"/>
              </a:rPr>
              <a:t>시나리오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7373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F Pro Text"/>
              </a:rPr>
              <a:t>핵심 위협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7373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F Pro Text"/>
              </a:rPr>
              <a:t>헤징 전략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1737360"/>
            <a:ext cx="20116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F Pro Text"/>
              </a:rPr>
              <a:t>투자 규모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48840"/>
            <a:ext cx="91440" cy="777240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148840"/>
            <a:ext cx="11183112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24028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07AFF"/>
                </a:solidFill>
                <a:latin typeface="SF Pro Text"/>
              </a:rPr>
              <a:t>시나리오 A · 황금 요새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24028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D1D1F"/>
                </a:solidFill>
                <a:latin typeface="SF Pro Text"/>
              </a:rPr>
              <a:t>시안 팹 상실 (NAND 40% 급감) + 대중 HBM 봉쇄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24028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D1D1F"/>
                </a:solidFill>
                <a:latin typeface="SF Pro Text"/>
              </a:rPr>
              <a:t>시안 단계적 축소 Plan B + 일본 R&amp;D 허브 + LTA 집중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0" y="224028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 i="0">
                <a:solidFill>
                  <a:srgbClr val="FF9500"/>
                </a:solidFill>
                <a:latin typeface="SF Pro Text"/>
              </a:rPr>
              <a:t>시안 이전 5조원 + 일본 R&amp;D 1조원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017520"/>
            <a:ext cx="91440" cy="777240"/>
          </a:xfrm>
          <a:prstGeom prst="rect">
            <a:avLst/>
          </a:prstGeom>
          <a:solidFill>
            <a:srgbClr val="FF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10896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FF3B30"/>
                </a:solidFill>
                <a:latin typeface="SF Pro Text"/>
              </a:rPr>
              <a:t>시나리오 C · 기술 냉전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310896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D1D1F"/>
                </a:solidFill>
                <a:latin typeface="SF Pro Text"/>
              </a:rPr>
              <a:t>HBM 수요 급냉 + 시안 차단 이중 충격 + 소재 수출 제한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10896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D1D1F"/>
                </a:solidFill>
                <a:latin typeface="SF Pro Text"/>
              </a:rPr>
              <a:t>캐나다·호주·카자흐스탄 소재 LTA + 순현금 30조원 + R&amp;D 3,000억원/년 사수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0" y="310896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 i="0">
                <a:solidFill>
                  <a:srgbClr val="FF9500"/>
                </a:solidFill>
                <a:latin typeface="SF Pro Text"/>
              </a:rPr>
              <a:t>소재 비축·대체 계약 5,000억원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886200"/>
            <a:ext cx="91440" cy="777240"/>
          </a:xfrm>
          <a:prstGeom prst="rect">
            <a:avLst/>
          </a:prstGeom>
          <a:solidFill>
            <a:srgbClr val="6E6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3886200"/>
            <a:ext cx="11183112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97764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6E6E73"/>
                </a:solidFill>
                <a:latin typeface="SF Pro Text"/>
              </a:rPr>
              <a:t>시나리오 D · 조용한 재편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397764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D1D1F"/>
                </a:solidFill>
                <a:latin typeface="SF Pro Text"/>
              </a:rPr>
              <a:t>SK하이닉스 기술 우위 고착화 + CXMT 범용 DRAM 잠식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97764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D1D1F"/>
                </a:solidFill>
                <a:latin typeface="SF Pro Text"/>
              </a:rPr>
              <a:t>HBM 조직 독립 + 패키징 인재 100인 + 산업용 AI 메모리 (차량·의료)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0" y="397764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 i="0">
                <a:solidFill>
                  <a:srgbClr val="FF9500"/>
                </a:solidFill>
                <a:latin typeface="SF Pro Text"/>
              </a:rPr>
              <a:t>R&amp;D 2,000억원 (2026~2028)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754879"/>
            <a:ext cx="91440" cy="777240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846319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FF9500"/>
                </a:solidFill>
                <a:latin typeface="SF Pro Text"/>
              </a:rPr>
              <a:t>시나리오 E · 패러다임 전환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1840" y="4846319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D1D1F"/>
                </a:solidFill>
                <a:latin typeface="SF Pro Text"/>
              </a:rPr>
              <a:t>HBM 40조원+ 매몰 비용화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846319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D1D1F"/>
                </a:solidFill>
                <a:latin typeface="SF Pro Text"/>
              </a:rPr>
              <a:t>3D DRAM R&amp;D 300인 + IMEC 협약 + CXL SIG 표준 + M&amp;A 펀드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40" y="4846319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 i="0">
                <a:solidFill>
                  <a:srgbClr val="FF9500"/>
                </a:solidFill>
                <a:latin typeface="SF Pro Text"/>
              </a:rPr>
              <a:t>3D DRAM R&amp;D 1,500억원/년 + M&amp;A 펀드 5,000억원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989320"/>
            <a:ext cx="11731752" cy="365760"/>
          </a:xfrm>
          <a:prstGeom prst="rect">
            <a:avLst/>
          </a:prstGeom>
          <a:solidFill>
            <a:srgbClr val="FFF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5989320"/>
            <a:ext cx="91440" cy="365760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60393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F9500"/>
                </a:solidFill>
                <a:latin typeface="SF Pro Display"/>
              </a:rPr>
              <a:t>SO WHAT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0" y="6039320"/>
            <a:ext cx="99029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D1D1F"/>
                </a:solidFill>
                <a:latin typeface="SF Pro Text"/>
              </a:rPr>
              <a:t>Side Bet 총 투자 ≒ Main Bet의 15% — 보험치고는 합리적 비용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C6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E6E73"/>
                </a:solidFill>
                <a:latin typeface="SF Pro Text"/>
              </a:rPr>
              <a:t>삼성전자  |  Step 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E6E73"/>
                </a:solidFill>
                <a:latin typeface="SF Pro Text"/>
              </a:rPr>
              <a:t>16 / 29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D1D1F"/>
                </a:solidFill>
                <a:latin typeface="SF Pro Text"/>
              </a:rPr>
              <a:t>Step 8 · 어떤 미래가 와도 가치를 만드는 Robust 전략 8개를 도출했다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E6E73"/>
                </a:solidFill>
                <a:latin typeface="SF Pro Text"/>
              </a:rPr>
              <a:t>재검증 후 8개 재편 (RS-1~RS-8). 지역 분산은 Side Bet으로 강등, AI 자동화 독립 승격, 1c nm DRAM은 RS-6 통합, RS-8 농수산 헷지 신규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C6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691640"/>
            <a:ext cx="2697480" cy="1143000"/>
          </a:xfrm>
          <a:prstGeom prst="rect">
            <a:avLst/>
          </a:prstGeom>
          <a:solidFill>
            <a:srgbClr val="FFF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73152" cy="1143000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0136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9500"/>
                </a:solidFill>
                <a:latin typeface="SF Pro Display"/>
              </a:rPr>
              <a:t>RS-1 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4884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D1D1F"/>
                </a:solidFill>
                <a:latin typeface="SF Pro Text"/>
              </a:rPr>
              <a:t>옵션형 캐파 체계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14600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6E6E73"/>
                </a:solidFill>
                <a:latin typeface="SF Pro Text"/>
              </a:rPr>
              <a:t>"켜고 끌 수 있는 능력"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1691640"/>
            <a:ext cx="2697480" cy="1143000"/>
          </a:xfrm>
          <a:prstGeom prst="rect">
            <a:avLst/>
          </a:prstGeom>
          <a:solidFill>
            <a:srgbClr val="FFF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1691640"/>
            <a:ext cx="73152" cy="1143000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180136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9500"/>
                </a:solidFill>
                <a:latin typeface="SF Pro Display"/>
              </a:rPr>
              <a:t>RS-2 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14884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D1D1F"/>
                </a:solidFill>
                <a:latin typeface="SF Pro Text"/>
              </a:rPr>
              <a:t>바벨 포트폴리오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514600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6E6E73"/>
                </a:solidFill>
                <a:latin typeface="SF Pro Text"/>
              </a:rPr>
              <a:t>고마진 HBM ↔ 저원가 범용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691640"/>
            <a:ext cx="2697480" cy="1143000"/>
          </a:xfrm>
          <a:prstGeom prst="rect">
            <a:avLst/>
          </a:prstGeom>
          <a:solidFill>
            <a:srgbClr val="FFF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691640"/>
            <a:ext cx="73152" cy="1143000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80136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9500"/>
                </a:solidFill>
                <a:latin typeface="SF Pro Display"/>
              </a:rPr>
              <a:t>RS-3 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14884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D1D1F"/>
                </a:solidFill>
                <a:latin typeface="SF Pro Text"/>
              </a:rPr>
              <a:t>고객특화·전환비용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514600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6E6E73"/>
                </a:solidFill>
                <a:latin typeface="SF Pro Text"/>
              </a:rPr>
              <a:t>떠나면 비싼 메모리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98280" y="1691640"/>
            <a:ext cx="2697480" cy="1143000"/>
          </a:xfrm>
          <a:prstGeom prst="rect">
            <a:avLst/>
          </a:prstGeom>
          <a:solidFill>
            <a:srgbClr val="FFF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98280" y="1691640"/>
            <a:ext cx="73152" cy="1143000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81160" y="180136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9500"/>
                </a:solidFill>
                <a:latin typeface="SF Pro Display"/>
              </a:rPr>
              <a:t>RS-4 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60" y="214884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D1D1F"/>
                </a:solidFill>
                <a:latin typeface="SF Pro Text"/>
              </a:rPr>
              <a:t>고객 포트폴리오 분산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60" y="2514600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6E6E73"/>
                </a:solidFill>
                <a:latin typeface="SF Pro Text"/>
              </a:rPr>
              <a:t>LTA·Take-or-Pay, 단일고객 ≤25%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971800"/>
            <a:ext cx="2697480" cy="1143000"/>
          </a:xfrm>
          <a:prstGeom prst="rect">
            <a:avLst/>
          </a:prstGeom>
          <a:solidFill>
            <a:srgbClr val="FFF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2971800"/>
            <a:ext cx="73152" cy="1143000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308152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9500"/>
                </a:solidFill>
                <a:latin typeface="SF Pro Display"/>
              </a:rPr>
              <a:t>RS-5 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342900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D1D1F"/>
                </a:solidFill>
                <a:latin typeface="SF Pro Text"/>
              </a:rPr>
              <a:t>재무 규율 + 초과이익 재투자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3794760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6E6E73"/>
                </a:solidFill>
                <a:latin typeface="SF Pro Text"/>
              </a:rPr>
              <a:t>Nucor·ExxonMobil 사이클 전 구간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37560" y="2971800"/>
            <a:ext cx="2697480" cy="1143000"/>
          </a:xfrm>
          <a:prstGeom prst="rect">
            <a:avLst/>
          </a:prstGeom>
          <a:solidFill>
            <a:srgbClr val="FFF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337560" y="2971800"/>
            <a:ext cx="73152" cy="1143000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20440" y="308152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9500"/>
                </a:solidFill>
                <a:latin typeface="SF Pro Display"/>
              </a:rPr>
              <a:t>RS-6 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0440" y="342900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D1D1F"/>
                </a:solidFill>
                <a:latin typeface="SF Pro Text"/>
              </a:rPr>
              <a:t>공정 리더십 통합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0440" y="3794760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6E6E73"/>
                </a:solidFill>
                <a:latin typeface="SF Pro Text"/>
              </a:rPr>
              <a:t>1c nm DRAM + NAND 주기 연장 + 자체 IP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2971800"/>
            <a:ext cx="2697480" cy="1143000"/>
          </a:xfrm>
          <a:prstGeom prst="rect">
            <a:avLst/>
          </a:prstGeom>
          <a:solidFill>
            <a:srgbClr val="FFF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17920" y="2971800"/>
            <a:ext cx="73152" cy="1143000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308152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9500"/>
                </a:solidFill>
                <a:latin typeface="SF Pro Display"/>
              </a:rPr>
              <a:t>RS-7 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342900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D1D1F"/>
                </a:solidFill>
                <a:latin typeface="SF Pro Text"/>
              </a:rPr>
              <a:t>AI 엔지니어링 자동화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3794760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6E6E73"/>
                </a:solidFill>
                <a:latin typeface="SF Pro Text"/>
              </a:rPr>
              <a:t>잉여 자원 → 다른 RS의 실행 기반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098280" y="2971800"/>
            <a:ext cx="2697480" cy="1143000"/>
          </a:xfrm>
          <a:prstGeom prst="rect">
            <a:avLst/>
          </a:prstGeom>
          <a:solidFill>
            <a:srgbClr val="FFF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098280" y="2971800"/>
            <a:ext cx="73152" cy="1143000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81160" y="308152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9500"/>
                </a:solidFill>
                <a:latin typeface="SF Pro Display"/>
              </a:rPr>
              <a:t>RS-8 ★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81160" y="342900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D1D1F"/>
                </a:solidFill>
                <a:latin typeface="SF Pro Text"/>
              </a:rPr>
              <a:t>구조화 매출 헷지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81160" y="3794760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6E6E73"/>
                </a:solidFill>
                <a:latin typeface="SF Pro Text"/>
              </a:rPr>
              <a:t>Participating Forward + HTA + Trading Desk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448056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07AFF"/>
                </a:solidFill>
                <a:latin typeface="SF Pro Text"/>
              </a:rPr>
              <a:t>시나리오별 가치 매트릭스 — 모든 RS는 4개+ 시나리오에서 ✅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103120" y="4892040"/>
            <a:ext cx="1645920" cy="320040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103120" y="492861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SF Pro Text"/>
              </a:rPr>
              <a:t>RS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794760" y="4892040"/>
            <a:ext cx="1645920" cy="320040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794760" y="492861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SF Pro Text"/>
              </a:rPr>
              <a:t>A 황금요새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0" y="4892040"/>
            <a:ext cx="1645920" cy="320040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0" y="492861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SF Pro Text"/>
              </a:rPr>
              <a:t>B AI 르네상스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178040" y="4892040"/>
            <a:ext cx="1645920" cy="320040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178040" y="492861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SF Pro Text"/>
              </a:rPr>
              <a:t>C 기술냉전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869680" y="4892040"/>
            <a:ext cx="1645920" cy="320040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869680" y="492861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SF Pro Text"/>
              </a:rPr>
              <a:t>D 조용한재편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561320" y="4892040"/>
            <a:ext cx="1645920" cy="320040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561320" y="492861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SF Pro Text"/>
              </a:rPr>
              <a:t>E 패러다임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103120" y="5257800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1D1D1F"/>
                </a:solidFill>
                <a:latin typeface="SF Pro Display"/>
              </a:rPr>
              <a:t>RS-1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794760" y="5257800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34C759"/>
                </a:solidFill>
                <a:latin typeface="SF Pro Display"/>
              </a:rPr>
              <a:t>✅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86400" y="5257800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34C759"/>
                </a:solidFill>
                <a:latin typeface="SF Pro Display"/>
              </a:rPr>
              <a:t>✅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178040" y="5257800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34C759"/>
                </a:solidFill>
                <a:latin typeface="SF Pro Display"/>
              </a:rPr>
              <a:t>✅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869680" y="5257800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34C759"/>
                </a:solidFill>
                <a:latin typeface="SF Pro Display"/>
              </a:rPr>
              <a:t>✅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561320" y="5257800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34C759"/>
                </a:solidFill>
                <a:latin typeface="SF Pro Display"/>
              </a:rPr>
              <a:t>✅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103120" y="5477256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1D1D1F"/>
                </a:solidFill>
                <a:latin typeface="SF Pro Display"/>
              </a:rPr>
              <a:t>RS-2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794760" y="5477256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34C759"/>
                </a:solidFill>
                <a:latin typeface="SF Pro Display"/>
              </a:rPr>
              <a:t>✅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486400" y="5477256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34C759"/>
                </a:solidFill>
                <a:latin typeface="SF Pro Display"/>
              </a:rPr>
              <a:t>✅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178040" y="5477256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34C759"/>
                </a:solidFill>
                <a:latin typeface="SF Pro Display"/>
              </a:rPr>
              <a:t>✅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869680" y="5477256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34C759"/>
                </a:solidFill>
                <a:latin typeface="SF Pro Display"/>
              </a:rPr>
              <a:t>✅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561320" y="5477256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9500"/>
                </a:solidFill>
                <a:latin typeface="SF Pro Display"/>
              </a:rPr>
              <a:t>⚠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103120" y="5696712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1D1D1F"/>
                </a:solidFill>
                <a:latin typeface="SF Pro Display"/>
              </a:rPr>
              <a:t>RS-3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794760" y="5696712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34C759"/>
                </a:solidFill>
                <a:latin typeface="SF Pro Display"/>
              </a:rPr>
              <a:t>✅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486400" y="5696712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34C759"/>
                </a:solidFill>
                <a:latin typeface="SF Pro Display"/>
              </a:rPr>
              <a:t>✅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178040" y="5696712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9500"/>
                </a:solidFill>
                <a:latin typeface="SF Pro Display"/>
              </a:rPr>
              <a:t>⚠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869680" y="5696712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34C759"/>
                </a:solidFill>
                <a:latin typeface="SF Pro Display"/>
              </a:rPr>
              <a:t>✅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561320" y="5696712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34C759"/>
                </a:solidFill>
                <a:latin typeface="SF Pro Display"/>
              </a:rPr>
              <a:t>✅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103120" y="5916168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1D1D1F"/>
                </a:solidFill>
                <a:latin typeface="SF Pro Display"/>
              </a:rPr>
              <a:t>RS-4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794760" y="5916168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34C759"/>
                </a:solidFill>
                <a:latin typeface="SF Pro Display"/>
              </a:rPr>
              <a:t>✅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486400" y="5916168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34C759"/>
                </a:solidFill>
                <a:latin typeface="SF Pro Display"/>
              </a:rPr>
              <a:t>✅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178040" y="5916168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34C759"/>
                </a:solidFill>
                <a:latin typeface="SF Pro Display"/>
              </a:rPr>
              <a:t>✅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69680" y="5916168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34C759"/>
                </a:solidFill>
                <a:latin typeface="SF Pro Display"/>
              </a:rPr>
              <a:t>✅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561320" y="5916168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34C759"/>
                </a:solidFill>
                <a:latin typeface="SF Pro Display"/>
              </a:rPr>
              <a:t>✅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103120" y="6135624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1D1D1F"/>
                </a:solidFill>
                <a:latin typeface="SF Pro Display"/>
              </a:rPr>
              <a:t>RS-5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794760" y="6135624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34C759"/>
                </a:solidFill>
                <a:latin typeface="SF Pro Display"/>
              </a:rPr>
              <a:t>✅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486400" y="6135624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9500"/>
                </a:solidFill>
                <a:latin typeface="SF Pro Display"/>
              </a:rPr>
              <a:t>⚠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178040" y="6135624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34C759"/>
                </a:solidFill>
                <a:latin typeface="SF Pro Display"/>
              </a:rPr>
              <a:t>✅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869680" y="6135624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34C759"/>
                </a:solidFill>
                <a:latin typeface="SF Pro Display"/>
              </a:rPr>
              <a:t>✅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561320" y="6135624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34C759"/>
                </a:solidFill>
                <a:latin typeface="SF Pro Display"/>
              </a:rPr>
              <a:t>✅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103120" y="6355080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1D1D1F"/>
                </a:solidFill>
                <a:latin typeface="SF Pro Display"/>
              </a:rPr>
              <a:t>RS-6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794760" y="6355080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34C759"/>
                </a:solidFill>
                <a:latin typeface="SF Pro Display"/>
              </a:rPr>
              <a:t>✅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486400" y="6355080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34C759"/>
                </a:solidFill>
                <a:latin typeface="SF Pro Display"/>
              </a:rPr>
              <a:t>✅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178040" y="6355080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34C759"/>
                </a:solidFill>
                <a:latin typeface="SF Pro Display"/>
              </a:rPr>
              <a:t>✅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869680" y="6355080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34C759"/>
                </a:solidFill>
                <a:latin typeface="SF Pro Display"/>
              </a:rPr>
              <a:t>✅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561320" y="6355080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34C759"/>
                </a:solidFill>
                <a:latin typeface="SF Pro Display"/>
              </a:rPr>
              <a:t>✅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103120" y="6574535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1D1D1F"/>
                </a:solidFill>
                <a:latin typeface="SF Pro Display"/>
              </a:rPr>
              <a:t>RS-7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794760" y="6574535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34C759"/>
                </a:solidFill>
                <a:latin typeface="SF Pro Display"/>
              </a:rPr>
              <a:t>✅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486400" y="6574535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34C759"/>
                </a:solidFill>
                <a:latin typeface="SF Pro Display"/>
              </a:rPr>
              <a:t>✅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178040" y="6574535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34C759"/>
                </a:solidFill>
                <a:latin typeface="SF Pro Display"/>
              </a:rPr>
              <a:t>✅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869680" y="6574535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34C759"/>
                </a:solidFill>
                <a:latin typeface="SF Pro Display"/>
              </a:rPr>
              <a:t>✅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561320" y="6574535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34C759"/>
                </a:solidFill>
                <a:latin typeface="SF Pro Display"/>
              </a:rPr>
              <a:t>✅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103120" y="6793992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1D1D1F"/>
                </a:solidFill>
                <a:latin typeface="SF Pro Display"/>
              </a:rPr>
              <a:t>RS-8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794760" y="6793992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34C759"/>
                </a:solidFill>
                <a:latin typeface="SF Pro Display"/>
              </a:rPr>
              <a:t>✅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486400" y="6793992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34C759"/>
                </a:solidFill>
                <a:latin typeface="SF Pro Display"/>
              </a:rPr>
              <a:t>✅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178040" y="6793992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34C759"/>
                </a:solidFill>
                <a:latin typeface="SF Pro Display"/>
              </a:rPr>
              <a:t>✅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869680" y="6793992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34C759"/>
                </a:solidFill>
                <a:latin typeface="SF Pro Display"/>
              </a:rPr>
              <a:t>✅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561320" y="6793992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34C759"/>
                </a:solidFill>
                <a:latin typeface="SF Pro Display"/>
              </a:rPr>
              <a:t>✅</a:t>
            </a:r>
          </a:p>
        </p:txBody>
      </p:sp>
      <p:cxnSp>
        <p:nvCxnSpPr>
          <p:cNvPr id="106" name="Connector 105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C6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TextBox 10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E6E73"/>
                </a:solidFill>
                <a:latin typeface="SF Pro Text"/>
              </a:rPr>
              <a:t>삼성전자  |  Step 8 개요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E6E73"/>
                </a:solidFill>
                <a:latin typeface="SF Pro Text"/>
              </a:rPr>
              <a:t>17 / 29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D1D1F"/>
                </a:solidFill>
                <a:latin typeface="SF Pro Text"/>
              </a:rPr>
              <a:t>RS-1 · 답은 "얼마나 짓는가"가 아니라 "켜고 끌 수 있는가"이다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E6E73"/>
                </a:solidFill>
                <a:latin typeface="SF Pro Text"/>
              </a:rPr>
              <a:t>Fab Shell 선행 + 장비 단계 반입 + 옵션 계약 + 롤링 리뷰 — Nucor 미니밀 모델, 호황·다운턴 둘 다 대응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C6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691640"/>
            <a:ext cx="6400800" cy="4297680"/>
          </a:xfrm>
          <a:prstGeom prst="rect">
            <a:avLst/>
          </a:prstGeom>
          <a:solidFill>
            <a:srgbClr val="F2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7AFF"/>
                </a:solidFill>
                <a:latin typeface="SF Pro Text"/>
              </a:rPr>
              <a:t>Fab Shell + 단계별 장비 반입 구조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5760720" cy="3383280"/>
          </a:xfrm>
          <a:prstGeom prst="rect">
            <a:avLst/>
          </a:prstGeom>
          <a:noFill/>
          <a:ln w="15875">
            <a:solidFill>
              <a:srgbClr val="007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2316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7AFF"/>
                </a:solidFill>
                <a:latin typeface="SF Pro Text"/>
              </a:rPr>
              <a:t>▢  Fab Shell (선행 건설) — Cleanroom · 유틸리티 · 인프라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2880360"/>
            <a:ext cx="137160" cy="502920"/>
          </a:xfrm>
          <a:prstGeom prst="rect">
            <a:avLst/>
          </a:prstGeom>
          <a:solidFill>
            <a:srgbClr val="34C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292608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34C759"/>
                </a:solidFill>
                <a:latin typeface="SF Pro Text"/>
              </a:rPr>
              <a:t>Stage 1 (즉시)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92608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  <a:latin typeface="SF Pro Text"/>
              </a:rPr>
              <a:t>패키징 라인 (TSV)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172968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6E6E73"/>
                </a:solidFill>
                <a:latin typeface="SF Pro Text"/>
              </a:rPr>
              <a:t>→ 트리거 발동 → 6~12개월 내 가동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" y="3520439"/>
            <a:ext cx="137160" cy="502920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3566159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9500"/>
                </a:solidFill>
                <a:latin typeface="SF Pro Text"/>
              </a:rPr>
              <a:t>Stage 2 (수요 +6개월)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566159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  <a:latin typeface="SF Pro Text"/>
              </a:rPr>
              <a:t>DRAM 라인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813047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6E6E73"/>
                </a:solidFill>
                <a:latin typeface="SF Pro Text"/>
              </a:rPr>
              <a:t>→ 트리거 발동 → 6~12개월 내 가동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5840" y="4160520"/>
            <a:ext cx="137160" cy="502920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420624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7AFF"/>
                </a:solidFill>
                <a:latin typeface="SF Pro Text"/>
              </a:rPr>
              <a:t>Stage 3 (LTA 확정)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42062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  <a:latin typeface="SF Pro Text"/>
              </a:rPr>
              <a:t>HBM 라인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453128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6E6E73"/>
                </a:solidFill>
                <a:latin typeface="SF Pro Text"/>
              </a:rPr>
              <a:t>→ 트리거 발동 → 6~12개월 내 가동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5840" y="4800600"/>
            <a:ext cx="137160" cy="502920"/>
          </a:xfrm>
          <a:prstGeom prst="rect">
            <a:avLst/>
          </a:prstGeom>
          <a:solidFill>
            <a:srgbClr val="6E6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80160" y="484632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6E6E73"/>
                </a:solidFill>
                <a:latin typeface="SF Pro Text"/>
              </a:rPr>
              <a:t>Stage 4 (옵션)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484632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D1D1F"/>
                </a:solidFill>
                <a:latin typeface="SF Pro Text"/>
              </a:rPr>
              <a:t>추가 캐파 발동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093208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6E6E73"/>
                </a:solidFill>
                <a:latin typeface="SF Pro Text"/>
              </a:rPr>
              <a:t>→ 트리거 발동 → 6~12개월 내 가동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1783080"/>
            <a:ext cx="4690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9500"/>
                </a:solidFill>
                <a:latin typeface="SF Pro Text"/>
              </a:rPr>
              <a:t>핵심 메커니즘 4개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2240280"/>
            <a:ext cx="4690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07AFF"/>
                </a:solidFill>
                <a:latin typeface="SF Pro Text"/>
              </a:rPr>
              <a:t>1. Fab Shell 선행 건설 + 장비 단계화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2606040"/>
            <a:ext cx="46908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1D1D1F"/>
                </a:solidFill>
                <a:latin typeface="SF Pro Text"/>
              </a:rPr>
              <a:t>건물은 미리, 장비는 신호 보고. 반입 결정 6~9개월 지연 가능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3108960"/>
            <a:ext cx="4690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07AFF"/>
                </a:solidFill>
                <a:latin typeface="SF Pro Text"/>
              </a:rPr>
              <a:t>2. Multi-Product Fab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3474720"/>
            <a:ext cx="46908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1D1D1F"/>
                </a:solidFill>
                <a:latin typeface="SF Pro Text"/>
              </a:rPr>
              <a:t>DRAM/NAND/Logic 비율 분기 조정. 60~80% 범위 신축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3977639"/>
            <a:ext cx="4690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07AFF"/>
                </a:solidFill>
                <a:latin typeface="SF Pro Text"/>
              </a:rPr>
              <a:t>3. 장비 발주 "반입 연기 옵션" 명문화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4343399"/>
            <a:ext cx="46908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1D1D1F"/>
                </a:solidFill>
                <a:latin typeface="SF Pro Text"/>
              </a:rPr>
              <a:t>ASML/TEL/LAM 계약에 12개월 연기권. 옵션 프리미엄 2~5% (보험)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0" y="4846320"/>
            <a:ext cx="4690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07AFF"/>
                </a:solidFill>
                <a:latin typeface="SF Pro Text"/>
              </a:rPr>
              <a:t>4. 롤링 캐파 리뷰 (분기)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0" y="5212080"/>
            <a:ext cx="46908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1D1D1F"/>
                </a:solidFill>
                <a:latin typeface="SF Pro Text"/>
              </a:rPr>
              <a:t>연간 예산 → 분기 재검토. 이사회 승인 아젠다 제도화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989320"/>
            <a:ext cx="11731752" cy="365760"/>
          </a:xfrm>
          <a:prstGeom prst="rect">
            <a:avLst/>
          </a:prstGeom>
          <a:solidFill>
            <a:srgbClr val="FFF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7200" y="5989320"/>
            <a:ext cx="91440" cy="365760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60393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F9500"/>
                </a:solidFill>
                <a:latin typeface="SF Pro Display"/>
              </a:rPr>
              <a:t>SO WHAT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28800" y="6039320"/>
            <a:ext cx="99029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D1D1F"/>
                </a:solidFill>
                <a:latin typeface="SF Pro Text"/>
              </a:rPr>
              <a:t>결정해야 할 것은 "얼마나 짓는가"가 아니라 "얼마나 빠르게 켤 수 있는가"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C6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E6E73"/>
                </a:solidFill>
                <a:latin typeface="SF Pro Text"/>
              </a:rPr>
              <a:t>삼성전자  |  Robust · RS-1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E6E73"/>
                </a:solidFill>
                <a:latin typeface="SF Pro Text"/>
              </a:rPr>
              <a:t>18 / 29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D1D1F"/>
                </a:solidFill>
                <a:latin typeface="SF Pro Text"/>
              </a:rPr>
              <a:t>RS-2 · 양 끝에 베팅하라 — 가운데 어정쩡한 제품은 죽인다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E6E73"/>
                </a:solidFill>
                <a:latin typeface="SF Pro Text"/>
              </a:rPr>
              <a:t>프리미엄 HBM (호황 마진) + 범용 1c nm DRAM (다운턴 흑자). 실행 자원은 RS-7(AI 자동화)에서 조달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C6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balance_portfol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91640"/>
            <a:ext cx="7680960" cy="316274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503920" y="1691640"/>
            <a:ext cx="3200400" cy="4297680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0" y="182880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F Pro Text"/>
              </a:rPr>
              <a:t>AI 효율화 메커니즘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219456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FF9500"/>
                </a:solidFill>
                <a:latin typeface="SF Pro Display"/>
              </a:rPr>
              <a:t>AI EFFICIENCY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274320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9500"/>
                </a:solidFill>
                <a:latin typeface="SF Pro Text"/>
              </a:rPr>
              <a:t>① 2026 도구 도입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310896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FFFFFF"/>
                </a:solidFill>
                <a:latin typeface="SF Pro Text"/>
              </a:rPr>
              <a:t>AI 코딩·EDA·공정 시뮬레이션</a:t>
            </a:r>
          </a:p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FFFFFF"/>
                </a:solidFill>
                <a:latin typeface="SF Pro Text"/>
              </a:rPr>
              <a:t>수율 예측 (500~1,000억원)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3703320"/>
            <a:ext cx="292608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FF9500"/>
                </a:solidFill>
                <a:latin typeface="SF Pro Display"/>
              </a:rPr>
              <a:t>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379476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9500"/>
                </a:solidFill>
                <a:latin typeface="SF Pro Text"/>
              </a:rPr>
              <a:t>② 2027 효과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416052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FFFFFF"/>
                </a:solidFill>
                <a:latin typeface="SF Pro Text"/>
              </a:rPr>
              <a:t>엔지니어 생산성</a:t>
            </a:r>
          </a:p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FFFFFF"/>
                </a:solidFill>
                <a:latin typeface="SF Pro Text"/>
              </a:rPr>
              <a:t>+20~30%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4754880"/>
            <a:ext cx="292608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FF9500"/>
                </a:solidFill>
                <a:latin typeface="SF Pro Display"/>
              </a:rPr>
              <a:t>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484632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9500"/>
                </a:solidFill>
                <a:latin typeface="SF Pro Text"/>
              </a:rPr>
              <a:t>③ 잉여 인력 창출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521208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FFFFFF"/>
                </a:solidFill>
                <a:latin typeface="SF Pro Text"/>
              </a:rPr>
              <a:t>PC/Mobile/Auto 유지</a:t>
            </a:r>
          </a:p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FFFFFF"/>
                </a:solidFill>
                <a:latin typeface="SF Pro Text"/>
              </a:rPr>
              <a:t>+ RS3 고객특화 개발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6263640"/>
            <a:ext cx="11731752" cy="365760"/>
          </a:xfrm>
          <a:prstGeom prst="rect">
            <a:avLst/>
          </a:prstGeom>
          <a:solidFill>
            <a:srgbClr val="FFF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6263640"/>
            <a:ext cx="91440" cy="365760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63136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F9500"/>
                </a:solidFill>
                <a:latin typeface="SF Pro Display"/>
              </a:rPr>
              <a:t>SO WHAT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6313640"/>
            <a:ext cx="99029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D1D1F"/>
                </a:solidFill>
                <a:latin typeface="SF Pro Text"/>
              </a:rPr>
              <a:t>추가 채용 없이 RS2·RS3 동시 실행의 유일한 경로 — AI 효율화가 선행 조건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C6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E6E73"/>
                </a:solidFill>
                <a:latin typeface="SF Pro Text"/>
              </a:rPr>
              <a:t>삼성전자  |  Robust · RS-2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E6E73"/>
                </a:solidFill>
                <a:latin typeface="SF Pro Text"/>
              </a:rPr>
              <a:t>19 / 29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D1D1F"/>
                </a:solidFill>
                <a:latin typeface="SF Pro Text"/>
              </a:rPr>
              <a:t>RS-3 · 떠나면 비싼 메모리 — CMX·SCADA·FDP 시장 현실성 검증 완료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E6E73"/>
                </a:solidFill>
                <a:latin typeface="SF Pro Text"/>
              </a:rPr>
              <a:t>3대 NVIDIA 데이터 경로에 깊이 통합 — 시장 규모·기술 차별·수익 모델 모두 데이터로 검증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C6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691640"/>
            <a:ext cx="3840480" cy="457200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F Pro Display"/>
              </a:rPr>
              <a:t>CMX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828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SF Pro Text"/>
              </a:rPr>
              <a:t>KV 캐시 G3.5 계층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48840"/>
            <a:ext cx="3840480" cy="4160520"/>
          </a:xfrm>
          <a:prstGeom prst="rect">
            <a:avLst/>
          </a:prstGeom>
          <a:solidFill>
            <a:srgbClr val="FFFFFF"/>
          </a:solidFill>
          <a:ln>
            <a:solidFill>
              <a:srgbClr val="C6C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24028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007AFF"/>
                </a:solidFill>
                <a:latin typeface="SF Pro Text"/>
              </a:rPr>
              <a:t>시장 현실성 (FACT)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14600"/>
            <a:ext cx="3566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D1D1F"/>
                </a:solidFill>
                <a:latin typeface="SF Pro Text"/>
              </a:rPr>
              <a:t>NVIDIA CES 2026 공식 발표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D1D1F"/>
                </a:solidFill>
                <a:latin typeface="SF Pro Text"/>
              </a:rPr>
              <a:t>17개 클라우드·스토리지 파트너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D1D1F"/>
                </a:solidFill>
                <a:latin typeface="SF Pro Text"/>
              </a:rPr>
              <a:t>2H 2026 일반 출시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D1D1F"/>
                </a:solidFill>
                <a:latin typeface="SF Pro Text"/>
              </a:rPr>
              <a:t>5x TPS · 5x 전력 효율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52044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007AFF"/>
                </a:solidFill>
                <a:latin typeface="SF Pro Text"/>
              </a:rPr>
              <a:t>기술 차별화 (DIFFERENTIATION)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794760"/>
            <a:ext cx="3566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D1D1F"/>
                </a:solidFill>
                <a:latin typeface="SF Pro Text"/>
              </a:rPr>
              <a:t>기존 NAND 활용 가능하나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D1D1F"/>
                </a:solidFill>
                <a:latin typeface="SF Pro Text"/>
              </a:rPr>
              <a:t>새 폼팩터 (이더넷 연결 플래시)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D1D1F"/>
                </a:solidFill>
                <a:latin typeface="SF Pro Text"/>
              </a:rPr>
              <a:t>+ BlueField-4 DPU 통합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D1D1F"/>
                </a:solidFill>
                <a:latin typeface="SF Pro Text"/>
              </a:rPr>
              <a:t>+ NVMe over Fabrics 최적화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80060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007AFF"/>
                </a:solidFill>
                <a:latin typeface="SF Pro Text"/>
              </a:rPr>
              <a:t>수익 모델 (BUSINESS)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074920"/>
            <a:ext cx="35661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D1D1F"/>
                </a:solidFill>
                <a:latin typeface="SF Pro Text"/>
              </a:rPr>
              <a:t>삼성 PM1753 공식 공급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D1D1F"/>
                </a:solidFill>
                <a:latin typeface="SF Pro Text"/>
              </a:rPr>
              <a:t>PM1763 Gen6 GTC 시연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D1D1F"/>
                </a:solidFill>
                <a:latin typeface="SF Pro Text"/>
              </a:rPr>
              <a:t>2028 점유율 40%+ 목표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D1D1F"/>
                </a:solidFill>
                <a:latin typeface="SF Pro Text"/>
              </a:rPr>
              <a:t>매출 $1B+ (2028)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5989320"/>
            <a:ext cx="3566160" cy="274320"/>
          </a:xfrm>
          <a:prstGeom prst="rect">
            <a:avLst/>
          </a:prstGeom>
          <a:solidFill>
            <a:srgbClr val="FFF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6016752"/>
            <a:ext cx="34747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FF9500"/>
                </a:solidFill>
                <a:latin typeface="SF Pro Text"/>
              </a:rPr>
              <a:t>✓ 단기 fad 아님 — 장문맥 추론 인프라의 구조적 요구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70832" y="1691640"/>
            <a:ext cx="3840480" cy="457200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53712" y="17373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F Pro Display"/>
              </a:rPr>
              <a:t>SCADA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99632" y="1828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SF Pro Text"/>
              </a:rPr>
              <a:t>GPU 네이티브 I/O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70832" y="2148840"/>
            <a:ext cx="3840480" cy="4160520"/>
          </a:xfrm>
          <a:prstGeom prst="rect">
            <a:avLst/>
          </a:prstGeom>
          <a:solidFill>
            <a:srgbClr val="FFFFFF"/>
          </a:solidFill>
          <a:ln>
            <a:solidFill>
              <a:srgbClr val="C6C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53712" y="224028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F9500"/>
                </a:solidFill>
                <a:latin typeface="SF Pro Text"/>
              </a:rPr>
              <a:t>시장 현실성 (FACT)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53712" y="2514600"/>
            <a:ext cx="3566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D1D1F"/>
                </a:solidFill>
                <a:latin typeface="SF Pro Text"/>
              </a:rPr>
              <a:t>AI 스토리지 시장: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D1D1F"/>
                </a:solidFill>
                <a:latin typeface="SF Pro Text"/>
              </a:rPr>
              <a:t>$36B (2025) → $322B (2035)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D1D1F"/>
                </a:solidFill>
                <a:latin typeface="SF Pro Text"/>
              </a:rPr>
              <a:t>CAGR 24% — 단기 fad 아님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D1D1F"/>
                </a:solidFill>
                <a:latin typeface="SF Pro Text"/>
              </a:rPr>
              <a:t>하이퍼스케일러 capex의 30%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53712" y="352044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F9500"/>
                </a:solidFill>
                <a:latin typeface="SF Pro Text"/>
              </a:rPr>
              <a:t>기술 차별화 (DIFFERENTIATION)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53712" y="3794760"/>
            <a:ext cx="3566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D1D1F"/>
                </a:solidFill>
                <a:latin typeface="SF Pro Text"/>
              </a:rPr>
              <a:t>기존 SSD = CPU 경유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D1D1F"/>
                </a:solidFill>
                <a:latin typeface="SF Pro Text"/>
              </a:rPr>
              <a:t>SCADA = GPU 직접 제어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D1D1F"/>
                </a:solidFill>
                <a:latin typeface="SF Pro Text"/>
              </a:rPr>
              <a:t>SK·Kioxia 100M IOPS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D1D1F"/>
                </a:solidFill>
                <a:latin typeface="SF Pro Text"/>
              </a:rPr>
              <a:t>SLC NAND (2027 양산)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53712" y="480060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F9500"/>
                </a:solidFill>
                <a:latin typeface="SF Pro Text"/>
              </a:rPr>
              <a:t>수익 모델 (BUSINESS)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53712" y="5074920"/>
            <a:ext cx="35661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D1D1F"/>
                </a:solidFill>
                <a:latin typeface="SF Pro Text"/>
              </a:rPr>
              <a:t>미참여 시 SSD에서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D1D1F"/>
                </a:solidFill>
                <a:latin typeface="SF Pro Text"/>
              </a:rPr>
              <a:t>HBM 패권 손실 반복 위험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D1D1F"/>
                </a:solidFill>
                <a:latin typeface="SF Pro Text"/>
              </a:rPr>
              <a:t>2028 SLC AI SSD 진입 필수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D1D1F"/>
                </a:solidFill>
                <a:latin typeface="SF Pro Text"/>
              </a:rPr>
              <a:t>매출 잠재 $5B+ (2030)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07992" y="5989320"/>
            <a:ext cx="3566160" cy="274320"/>
          </a:xfrm>
          <a:prstGeom prst="rect">
            <a:avLst/>
          </a:prstGeom>
          <a:solidFill>
            <a:srgbClr val="FFF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99432" y="6016752"/>
            <a:ext cx="34747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FF9500"/>
                </a:solidFill>
                <a:latin typeface="SF Pro Text"/>
              </a:rPr>
              <a:t>✓ AI 추론 표준 인터페이스 후보 — 신규 사업 카테고리 형성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84464" y="1691640"/>
            <a:ext cx="3840480" cy="457200"/>
          </a:xfrm>
          <a:prstGeom prst="rect">
            <a:avLst/>
          </a:prstGeom>
          <a:solidFill>
            <a:srgbClr val="34C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67344" y="17373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F Pro Display"/>
              </a:rPr>
              <a:t>FDP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13264" y="18288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SF Pro Text"/>
              </a:rPr>
              <a:t>데이터 배치 표준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84464" y="2148840"/>
            <a:ext cx="3840480" cy="4160520"/>
          </a:xfrm>
          <a:prstGeom prst="rect">
            <a:avLst/>
          </a:prstGeom>
          <a:solidFill>
            <a:srgbClr val="FFFFFF"/>
          </a:solidFill>
          <a:ln>
            <a:solidFill>
              <a:srgbClr val="C6C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67344" y="224028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34C759"/>
                </a:solidFill>
                <a:latin typeface="SF Pro Text"/>
              </a:rPr>
              <a:t>시장 현실성 (FACT)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67344" y="2514600"/>
            <a:ext cx="3566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D1D1F"/>
                </a:solidFill>
                <a:latin typeface="SF Pro Text"/>
              </a:rPr>
              <a:t>NVMe TP41461 표준화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D1D1F"/>
                </a:solidFill>
                <a:latin typeface="SF Pro Text"/>
              </a:rPr>
              <a:t>Meta + Google + Samsung 공동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D1D1F"/>
                </a:solidFill>
                <a:latin typeface="SF Pro Text"/>
              </a:rPr>
              <a:t>WAF -50%, 수명 2배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D1D1F"/>
                </a:solidFill>
                <a:latin typeface="SF Pro Text"/>
              </a:rPr>
              <a:t>OS·도구 이미 지원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67344" y="352044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34C759"/>
                </a:solidFill>
                <a:latin typeface="SF Pro Text"/>
              </a:rPr>
              <a:t>기술 차별화 (DIFFERENTIATION)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67344" y="3794760"/>
            <a:ext cx="3566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D1D1F"/>
                </a:solidFill>
                <a:latin typeface="SF Pro Text"/>
              </a:rPr>
              <a:t>기존 NAND·컨트롤러 활용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D1D1F"/>
                </a:solidFill>
                <a:latin typeface="SF Pro Text"/>
              </a:rPr>
              <a:t>펌웨어 + 호스트 SW 통합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D1D1F"/>
                </a:solidFill>
                <a:latin typeface="SF Pro Text"/>
              </a:rPr>
              <a:t>튜닝 노하우가 차별화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D1D1F"/>
                </a:solidFill>
                <a:latin typeface="SF Pro Text"/>
              </a:rPr>
              <a:t>표준 자체는 오픈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67344" y="480060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34C759"/>
                </a:solidFill>
                <a:latin typeface="SF Pro Text"/>
              </a:rPr>
              <a:t>수익 모델 (BUSINESS)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67344" y="5074920"/>
            <a:ext cx="35661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D1D1F"/>
                </a:solidFill>
                <a:latin typeface="SF Pro Text"/>
              </a:rPr>
              <a:t>3계층 매출 모델: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D1D1F"/>
                </a:solidFill>
                <a:latin typeface="SF Pro Text"/>
              </a:rPr>
              <a:t>① HW 프리미엄 +10~15%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D1D1F"/>
                </a:solidFill>
                <a:latin typeface="SF Pro Text"/>
              </a:rPr>
              <a:t>② Reference 라이선스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D1D1F"/>
                </a:solidFill>
                <a:latin typeface="SF Pro Text"/>
              </a:rPr>
              <a:t>③ 컨설팅·통합 서비스</a:t>
            </a:r>
          </a:p>
          <a:p>
            <a:pPr algn="l">
              <a:lnSpc>
                <a:spcPct val="140000"/>
              </a:lnSpc>
            </a:pPr>
            <a:r>
              <a:rPr sz="850" b="0" i="0">
                <a:solidFill>
                  <a:srgbClr val="1D1D1F"/>
                </a:solidFill>
                <a:latin typeface="SF Pro Text"/>
              </a:rPr>
              <a:t>2030 매출 $2~3B/년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421624" y="5989320"/>
            <a:ext cx="3566160" cy="274320"/>
          </a:xfrm>
          <a:prstGeom prst="rect">
            <a:avLst/>
          </a:prstGeom>
          <a:solidFill>
            <a:srgbClr val="FFF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13064" y="6016752"/>
            <a:ext cx="34747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FF9500"/>
                </a:solidFill>
                <a:latin typeface="SF Pro Text"/>
              </a:rPr>
              <a:t>✓ "구글에 SW 단독 판매" 아닌 통합 검증 SSD 프리미엄 모델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5989320"/>
            <a:ext cx="11731752" cy="365760"/>
          </a:xfrm>
          <a:prstGeom prst="rect">
            <a:avLst/>
          </a:prstGeom>
          <a:solidFill>
            <a:srgbClr val="FFF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" y="5989320"/>
            <a:ext cx="91440" cy="365760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60393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F9500"/>
                </a:solidFill>
                <a:latin typeface="SF Pro Display"/>
              </a:rPr>
              <a:t>SO WHAT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828800" y="6039320"/>
            <a:ext cx="99029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D1D1F"/>
                </a:solidFill>
                <a:latin typeface="SF Pro Text"/>
              </a:rPr>
              <a:t>3대 영역 모두 시장 검증 완료 — 통합 매출 잠재력 $8~9B/년 (2030)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C6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E6E73"/>
                </a:solidFill>
                <a:latin typeface="SF Pro Text"/>
              </a:rPr>
              <a:t>삼성전자  |  Robust · RS-3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E6E73"/>
                </a:solidFill>
                <a:latin typeface="SF Pro Text"/>
              </a:rPr>
              <a:t>20 / 29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D1D1F"/>
                </a:solidFill>
                <a:latin typeface="SF Pro Text"/>
              </a:rPr>
              <a:t>RS-4 · 단일 고객 의존은 호황기 매출, 다운사이클 협상력 모두를 잃는다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E6E73"/>
                </a:solidFill>
                <a:latin typeface="SF Pro Text"/>
              </a:rPr>
              <a:t>Shortage 시기(2026)는 LTA·Take-or-Pay 구조를 짤 수 있는 골든 타임 — 단일 고객 ≤25%, 상위 3개 ≤55%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C6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691640"/>
            <a:ext cx="6400800" cy="4297680"/>
          </a:xfrm>
          <a:prstGeom prst="rect">
            <a:avLst/>
          </a:prstGeom>
          <a:solidFill>
            <a:srgbClr val="F2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7AFF"/>
                </a:solidFill>
                <a:latin typeface="SF Pro Text"/>
              </a:rPr>
              <a:t>고객 분류 체계 — 협상력의 질 기준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37160" cy="1005840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3774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7AFF"/>
                </a:solidFill>
                <a:latin typeface="SF Pro Text"/>
              </a:rPr>
              <a:t>LTC · 장기계약 고객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743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D1D1F"/>
                </a:solidFill>
                <a:latin typeface="SF Pro Text"/>
              </a:rPr>
              <a:t>3년+ Take-or-Pay 계약. 단가 변동성 낮음, 수요 예측 가능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017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6E6E73"/>
                </a:solidFill>
                <a:latin typeface="SF Pro Text"/>
              </a:rPr>
              <a:t>목표: HBM 매출의 50%+ (2028)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520439"/>
            <a:ext cx="137160" cy="1005840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566159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9500"/>
                </a:solidFill>
                <a:latin typeface="SF Pro Text"/>
              </a:rPr>
              <a:t>Strategic · 전략 고객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931919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D1D1F"/>
                </a:solidFill>
                <a:latin typeface="SF Pro Text"/>
              </a:rPr>
              <a:t>Co-dev·인증 선행·커스텀 기능 — RS-3과 직결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206239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6E6E73"/>
                </a:solidFill>
                <a:latin typeface="SF Pro Text"/>
              </a:rPr>
              <a:t>사실상 락인 효과. 전환비용으로 보호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4709160"/>
            <a:ext cx="137160" cy="1005840"/>
          </a:xfrm>
          <a:prstGeom prst="rect">
            <a:avLst/>
          </a:prstGeom>
          <a:solidFill>
            <a:srgbClr val="34C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7548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4C759"/>
                </a:solidFill>
                <a:latin typeface="SF Pro Text"/>
              </a:rPr>
              <a:t>Growth · 성장 고객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51206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D1D1F"/>
                </a:solidFill>
                <a:latin typeface="SF Pro Text"/>
              </a:rPr>
              <a:t>신흥 AI 시장 (사우디 Humain · UAE G42 · 인도 Jio)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5394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6E6E73"/>
                </a:solidFill>
                <a:latin typeface="SF Pro Text"/>
              </a:rPr>
              <a:t>+ 자동차·의료·통신 — 사이클이 다른 고객군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1783080"/>
            <a:ext cx="4690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9500"/>
                </a:solidFill>
                <a:latin typeface="SF Pro Text"/>
              </a:rPr>
              <a:t>LTA 4개 핵심 조항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2240280"/>
            <a:ext cx="4690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07AFF"/>
                </a:solidFill>
                <a:latin typeface="SF Pro Text"/>
              </a:rPr>
              <a:t>1. Take-or-Pay 조항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2606040"/>
            <a:ext cx="46908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1D1D1F"/>
                </a:solidFill>
                <a:latin typeface="SF Pro Text"/>
              </a:rPr>
              <a:t>약정 물량 미구매 시 차액 지급. 캐파 투자 보호 + 이탈 방지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3108960"/>
            <a:ext cx="4690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07AFF"/>
                </a:solidFill>
                <a:latin typeface="SF Pro Text"/>
              </a:rPr>
              <a:t>2. Minimum Volume Commitment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3474720"/>
            <a:ext cx="46908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1D1D1F"/>
                </a:solidFill>
                <a:latin typeface="SF Pro Text"/>
              </a:rPr>
              <a:t>분기별 최소 구매 물량 약정. LTA 기본 조건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3977639"/>
            <a:ext cx="4690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07AFF"/>
                </a:solidFill>
                <a:latin typeface="SF Pro Text"/>
              </a:rPr>
              <a:t>3. 공동 로드맵 개발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343399"/>
            <a:ext cx="46908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1D1D1F"/>
                </a:solidFill>
                <a:latin typeface="SF Pro Text"/>
              </a:rPr>
              <a:t>차세대 제품 사양에 삼성 메모리 설계 단계 참여 → 락인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4846320"/>
            <a:ext cx="4690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07AFF"/>
                </a:solidFill>
                <a:latin typeface="SF Pro Text"/>
              </a:rPr>
              <a:t>4. 인증 선행 투자 회수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5212080"/>
            <a:ext cx="46908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1D1D1F"/>
                </a:solidFill>
                <a:latin typeface="SF Pro Text"/>
              </a:rPr>
              <a:t>Co-Validation 비용 회수 조항 (RS-3 연계). 취소 페널티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989320"/>
            <a:ext cx="11731752" cy="365760"/>
          </a:xfrm>
          <a:prstGeom prst="rect">
            <a:avLst/>
          </a:prstGeom>
          <a:solidFill>
            <a:srgbClr val="FFF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5989320"/>
            <a:ext cx="91440" cy="365760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60393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F9500"/>
                </a:solidFill>
                <a:latin typeface="SF Pro Display"/>
              </a:rPr>
              <a:t>SO WHAT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0" y="6039320"/>
            <a:ext cx="99029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D1D1F"/>
                </a:solidFill>
                <a:latin typeface="SF Pro Text"/>
              </a:rPr>
              <a:t>Shortage = LTA의 골든 타임. SK하이닉스 NVIDIA 70% 의존은 시나리오 E에서 부메랑.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C6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E6E73"/>
                </a:solidFill>
                <a:latin typeface="SF Pro Text"/>
              </a:rPr>
              <a:t>삼성전자  |  Robust · RS-4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E6E73"/>
                </a:solidFill>
                <a:latin typeface="SF Pro Text"/>
              </a:rPr>
              <a:t>21 / 29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D1D1F"/>
                </a:solidFill>
                <a:latin typeface="SF Pro Text"/>
              </a:rPr>
              <a:t>RS-5 · 호황기 절제와 다운턴 사수는 같은 거버넌스에서 나온다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E6E73"/>
                </a:solidFill>
                <a:latin typeface="SF Pro Text"/>
              </a:rPr>
              <a:t>재고일수 상한 + capex 증거 기반 승인 + 다운턴 R&amp;D 4조원/년 하한 — Nucor·ExxonMobil 모델, 활동가 투자자 방어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C6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capex_flo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91640"/>
            <a:ext cx="7589520" cy="393556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229600" y="1691640"/>
            <a:ext cx="3502152" cy="2057400"/>
          </a:xfrm>
          <a:prstGeom prst="rect">
            <a:avLst/>
          </a:prstGeom>
          <a:solidFill>
            <a:srgbClr val="F2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0" y="17830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7AFF"/>
                </a:solidFill>
                <a:latin typeface="SF Pro Text"/>
              </a:rPr>
              <a:t>재무 규율 (지출 통제)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21945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D1D1F"/>
                </a:solidFill>
                <a:latin typeface="SF Pro Text"/>
              </a:rPr>
              <a:t>○ 재고일수 상한 (DDR5 60일, HBM 45일)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5603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D1D1F"/>
                </a:solidFill>
                <a:latin typeface="SF Pro Text"/>
              </a:rPr>
              <a:t>○ LTA 없는 신규 캐파 금지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29260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D1D1F"/>
                </a:solidFill>
                <a:latin typeface="SF Pro Text"/>
              </a:rPr>
              <a:t>○ EBITDA → FCF 중심 의사결정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32918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D1D1F"/>
                </a:solidFill>
                <a:latin typeface="SF Pro Text"/>
              </a:rPr>
              <a:t>○ 업황 피크 capex 증거 기반 승인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3886200"/>
            <a:ext cx="3502152" cy="2103120"/>
          </a:xfrm>
          <a:prstGeom prst="rect">
            <a:avLst/>
          </a:prstGeom>
          <a:solidFill>
            <a:srgbClr val="FF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3977639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3B30"/>
                </a:solidFill>
                <a:latin typeface="SF Pro Text"/>
              </a:rPr>
              <a:t>다운사이클 하한 (Nucor)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43891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D1D1F"/>
                </a:solidFill>
                <a:latin typeface="SF Pro Text"/>
              </a:rPr>
              <a:t>○ HBM R&amp;D + 패키징 + 3D DRAM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4681728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D1D1F"/>
                </a:solidFill>
                <a:latin typeface="SF Pro Text"/>
              </a:rPr>
              <a:t>   합산 4조원/년 삭감 불가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4974336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D1D1F"/>
                </a:solidFill>
                <a:latin typeface="SF Pro Text"/>
              </a:rPr>
              <a:t>○ 활동가 투자자 압박 대비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5266944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D1D1F"/>
                </a:solidFill>
                <a:latin typeface="SF Pro Text"/>
              </a:rPr>
              <a:t>   "장기 가치 우선 의결권 구조"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5559552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D1D1F"/>
                </a:solidFill>
                <a:latin typeface="SF Pro Text"/>
              </a:rPr>
              <a:t>○ ExxonMobil 모델 차용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263640"/>
            <a:ext cx="11731752" cy="365760"/>
          </a:xfrm>
          <a:prstGeom prst="rect">
            <a:avLst/>
          </a:prstGeom>
          <a:solidFill>
            <a:srgbClr val="FFF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6263640"/>
            <a:ext cx="91440" cy="365760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63136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F9500"/>
                </a:solidFill>
                <a:latin typeface="SF Pro Display"/>
              </a:rPr>
              <a:t>SO WHAT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6313640"/>
            <a:ext cx="99029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D1D1F"/>
                </a:solidFill>
                <a:latin typeface="SF Pro Text"/>
              </a:rPr>
              <a:t>호황기 절제와 다운턴 사수가 동일 거버넌스 — 투자자 인지·이사회 결의 일관성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C6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E6E73"/>
                </a:solidFill>
                <a:latin typeface="SF Pro Text"/>
              </a:rPr>
              <a:t>삼성전자  |  Robust · RS-5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E6E73"/>
                </a:solidFill>
                <a:latin typeface="SF Pro Text"/>
              </a:rPr>
              <a:t>22 / 29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D1D1F"/>
                </a:solidFill>
                <a:latin typeface="SF Pro Text"/>
              </a:rPr>
              <a:t>RS-6 · NAND는 layer 경쟁이 아니라, 양산 ramp 6개월이 누적 이익의 2/3를 결정하는 "주기 연장" 경쟁이다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E6E73"/>
                </a:solidFill>
                <a:latin typeface="SF Pro Text"/>
              </a:rPr>
              <a:t>1c nm DRAM 원가 우위 + NAND 공정 전환 주기 연장 + Hybrid Bonding 자체 IP — 업계 4사 일제 선회와 YMTC IP 종속을 동시 돌파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C6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6916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7AFF"/>
                </a:solidFill>
                <a:latin typeface="SF Pro Text"/>
              </a:rPr>
              <a:t>왜 지금 — 3가지 증거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7315200" cy="868680"/>
          </a:xfrm>
          <a:prstGeom prst="rect">
            <a:avLst/>
          </a:prstGeom>
          <a:solidFill>
            <a:srgbClr val="F2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73152" cy="868680"/>
          </a:xfrm>
          <a:prstGeom prst="rect">
            <a:avLst/>
          </a:prstGeom>
          <a:solidFill>
            <a:srgbClr val="FF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76272"/>
            <a:ext cx="70408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3B30"/>
                </a:solidFill>
                <a:latin typeface="SF Pro Text"/>
              </a:rPr>
              <a:t>① 학습곡선의 잔혹함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87168"/>
            <a:ext cx="7040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D1D1F"/>
                </a:solidFill>
                <a:latin typeface="SF Pro Text"/>
              </a:rPr>
              <a:t>양산 ramp 6개월 지연 → 누적 순이익의 2/3 소실. 1년 지연 → 손실 전환. 공정 개발 1분당 약 $5,000 손실 (PSU Weber).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063240"/>
            <a:ext cx="7315200" cy="868680"/>
          </a:xfrm>
          <a:prstGeom prst="rect">
            <a:avLst/>
          </a:prstGeom>
          <a:solidFill>
            <a:srgbClr val="F2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3063240"/>
            <a:ext cx="73152" cy="868680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136392"/>
            <a:ext cx="70408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9500"/>
                </a:solidFill>
                <a:latin typeface="SF Pro Text"/>
              </a:rPr>
              <a:t>② 업계가 일제히 선회 (2026)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447288"/>
            <a:ext cx="7040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D1D1F"/>
                </a:solidFill>
                <a:latin typeface="SF Pro Text"/>
              </a:rPr>
              <a:t>NAND capex $22.2B (+5%만). 4사 모두 capa 확장 대신 process upgrade·hybrid bonding에 집중. 우리만 layer 경쟁 → 한 세대 뒤처진 capex 추가 부담.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023360"/>
            <a:ext cx="7315200" cy="868680"/>
          </a:xfrm>
          <a:prstGeom prst="rect">
            <a:avLst/>
          </a:prstGeom>
          <a:solidFill>
            <a:srgbClr val="F2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023360"/>
            <a:ext cx="73152" cy="868680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096512"/>
            <a:ext cx="70408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7AFF"/>
                </a:solidFill>
                <a:latin typeface="SF Pro Text"/>
              </a:rPr>
              <a:t>③ YMTC IP 지배 → 디커플링 시 차단 위험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407408"/>
            <a:ext cx="7040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D1D1F"/>
                </a:solidFill>
                <a:latin typeface="SF Pro Text"/>
              </a:rPr>
              <a:t>Hybrid bonding 핵심 특허 다수가 YMTC 보유 (TrendForce 2025-05). Samsung·SK 라이선스 의존 → 시나리오 C 발생 시 차세대 NAND 양산 불가 리스크. 자체 IP = 국가 안보 R&amp;D.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1691640"/>
            <a:ext cx="405079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9500"/>
                </a:solidFill>
                <a:latin typeface="SF Pro Text"/>
              </a:rPr>
              <a:t>4 R&amp;D 트랙 (병행)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92440" y="2103120"/>
            <a:ext cx="4050791" cy="868680"/>
          </a:xfrm>
          <a:prstGeom prst="rect">
            <a:avLst/>
          </a:prstGeom>
          <a:solidFill>
            <a:srgbClr val="FFF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92440" y="2103120"/>
            <a:ext cx="73152" cy="868680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2176272"/>
            <a:ext cx="377647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9500"/>
                </a:solidFill>
                <a:latin typeface="SF Pro Text"/>
              </a:rPr>
              <a:t>① Hybrid Bonding 자체 IP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2487168"/>
            <a:ext cx="377647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1D1D1F"/>
                </a:solidFill>
                <a:latin typeface="SF Pro Text"/>
              </a:rPr>
              <a:t>YMTC 우회 특허 200건+ (2027). 한국 IP 컨소시엄. V11에 자체 IP 70%+. 패키징·본딩 R&amp;D 1.5조 원 추가.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92440" y="3063240"/>
            <a:ext cx="4050791" cy="868680"/>
          </a:xfrm>
          <a:prstGeom prst="rect">
            <a:avLst/>
          </a:prstGeom>
          <a:solidFill>
            <a:srgbClr val="FFF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92440" y="3063240"/>
            <a:ext cx="73152" cy="868680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75320" y="3136392"/>
            <a:ext cx="377647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9500"/>
                </a:solidFill>
                <a:latin typeface="SF Pro Text"/>
              </a:rPr>
              <a:t>② Multi-deck 정교화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3447288"/>
            <a:ext cx="377647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1D1D1F"/>
                </a:solidFill>
                <a:latin typeface="SF Pro Text"/>
              </a:rPr>
              <a:t>Deck 당 layer 한계 돌파. V9→V10 fab 재구성 비용 30% 절감 (TrendForce 추정).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92440" y="4023360"/>
            <a:ext cx="4050791" cy="868680"/>
          </a:xfrm>
          <a:prstGeom prst="rect">
            <a:avLst/>
          </a:prstGeom>
          <a:solidFill>
            <a:srgbClr val="FFF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92440" y="4023360"/>
            <a:ext cx="73152" cy="868680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75320" y="4096512"/>
            <a:ext cx="377647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9500"/>
                </a:solidFill>
                <a:latin typeface="SF Pro Text"/>
              </a:rPr>
              <a:t>③ bit-per-cell 확장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4407408"/>
            <a:ext cx="377647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1D1D1F"/>
                </a:solidFill>
                <a:latin typeface="SF Pro Text"/>
              </a:rPr>
              <a:t>QLC 비중 30%+ (2026). PLC 시제품 (2028) → 양산 검토 (2029).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92440" y="4983480"/>
            <a:ext cx="4050791" cy="868680"/>
          </a:xfrm>
          <a:prstGeom prst="rect">
            <a:avLst/>
          </a:prstGeom>
          <a:solidFill>
            <a:srgbClr val="FFF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92440" y="4983480"/>
            <a:ext cx="73152" cy="868680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75320" y="5056632"/>
            <a:ext cx="377647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9500"/>
                </a:solidFill>
                <a:latin typeface="SF Pro Text"/>
              </a:rPr>
              <a:t>④ 호스트 협력 firmware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20" y="5367528"/>
            <a:ext cx="377647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1D1D1F"/>
                </a:solidFill>
                <a:latin typeface="SF Pro Text"/>
              </a:rPr>
              <a:t>FDP·SCADA로 같은 silicon에서 endurance 2배+, throughput 30%+. RS3 SW 매출 ($5B/2030)과 R&amp;D 자원 공유.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074920"/>
            <a:ext cx="11731752" cy="868680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5166360"/>
            <a:ext cx="11338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7AFF"/>
                </a:solidFill>
                <a:latin typeface="SF Pro Text"/>
              </a:rPr>
              <a:t>재무 효과 + 이사회 모니터링 KPI 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5486400"/>
            <a:ext cx="11338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D1D1F"/>
                </a:solidFill>
                <a:latin typeface="SF Pro Text"/>
              </a:rPr>
              <a:t>재무 효과: 전환 주기 18→24M 연장 시 3년 누적 capex 회피 1.5~2조 원 / 양산 ramp 6개월 단축 효과 한 세대만 적용해도 누적 이익 2/3 보전     KPI: ① Hybrid bonding 자체 IP 비율  ② 공정 전환 ramp 시간  ③ NAND capex/bit growth  ④ YMTC 라이선스 의존도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6263640"/>
            <a:ext cx="11731752" cy="365760"/>
          </a:xfrm>
          <a:prstGeom prst="rect">
            <a:avLst/>
          </a:prstGeom>
          <a:solidFill>
            <a:srgbClr val="FFF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7200" y="6263640"/>
            <a:ext cx="91440" cy="365760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63136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F9500"/>
                </a:solidFill>
                <a:latin typeface="SF Pro Display"/>
              </a:rPr>
              <a:t>SO WHAT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6313640"/>
            <a:ext cx="99029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D1D1F"/>
                </a:solidFill>
                <a:latin typeface="SF Pro Text"/>
              </a:rPr>
              <a:t>Layer 경쟁 = 비용 자살. 주기 연장 R&amp;D 4트랙이 모든 시나리오에서 비용 우위 + 자체 IP 생존 동시 확보.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C6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E6E73"/>
                </a:solidFill>
                <a:latin typeface="SF Pro Text"/>
              </a:rPr>
              <a:t>삼성전자  |  Robust · RS-6 · 통합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E6E73"/>
                </a:solidFill>
                <a:latin typeface="SF Pro Text"/>
              </a:rPr>
              <a:t>23 / 29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D1D1F"/>
                </a:solidFill>
                <a:latin typeface="SF Pro Text"/>
              </a:rPr>
              <a:t>RS-7 · AI 효율화는 다른 6개 RS를 가능하게 하는 실행 기반이다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E6E73"/>
                </a:solidFill>
                <a:latin typeface="SF Pro Text"/>
              </a:rPr>
              <a:t>GitHub Copilot 51% 속도 / EDA AI 30%+ PPA / Fab AI yield 향상 — 잉여 자원 0.9~1.35조원/년 → RS-2/3/6에 재배분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C6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691640"/>
            <a:ext cx="5760720" cy="4297680"/>
          </a:xfrm>
          <a:prstGeom prst="rect">
            <a:avLst/>
          </a:prstGeom>
          <a:solidFill>
            <a:srgbClr val="F2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7AFF"/>
                </a:solidFill>
                <a:latin typeface="SF Pro Text"/>
              </a:rPr>
              <a:t>입증된 AI 도구 효과 (2024~2026)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09728" cy="1097280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3774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7AFF"/>
                </a:solidFill>
                <a:latin typeface="SF Pro Text"/>
              </a:rPr>
              <a:t>GitHub Copilot Enterprise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74320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D1D1F"/>
                </a:solidFill>
                <a:latin typeface="SF Pro Text"/>
              </a:rPr>
              <a:t>코딩 속도 +51%, cycle time -3.5h, PR +10.6%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090672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6E6E73"/>
                </a:solidFill>
                <a:latin typeface="SF Pro Text"/>
              </a:rPr>
              <a:t>Fortune 100의 90% 채택 (15M+ 사용자)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611879"/>
            <a:ext cx="109728" cy="1097280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657599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7AFF"/>
                </a:solidFill>
                <a:latin typeface="SF Pro Text"/>
              </a:rPr>
              <a:t>Synopsys DSO.ai · Cadence Cerebrus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023359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D1D1F"/>
                </a:solidFill>
                <a:latin typeface="SF Pro Text"/>
              </a:rPr>
              <a:t>EDA AI 자동화로 PPA 최적화 +30%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370831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6E6E73"/>
                </a:solidFill>
                <a:latin typeface="SF Pro Text"/>
              </a:rPr>
              <a:t>설계 사이클 50%+ 단축 사례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4892040"/>
            <a:ext cx="109728" cy="1097280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9377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7AFF"/>
                </a:solidFill>
                <a:latin typeface="SF Pro Text"/>
              </a:rPr>
              <a:t>TSMC Fab Intelligence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30352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D1D1F"/>
                </a:solidFill>
                <a:latin typeface="SF Pro Text"/>
              </a:rPr>
              <a:t>Predictive maintenance + computer vision wafer fault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650992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6E6E73"/>
                </a:solidFill>
                <a:latin typeface="SF Pro Text"/>
              </a:rPr>
              <a:t>2026 N2P yield 80% 목표, 영업이익률 50%+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1691640"/>
            <a:ext cx="5330952" cy="4297680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18288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F Pro Text"/>
              </a:rPr>
              <a:t>잉여 자원 → 전략 재배분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1945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FF9500"/>
                </a:solidFill>
                <a:latin typeface="SF Pro Display"/>
              </a:rPr>
              <a:t>AI EFFICIENCY → STRATEGIC INVESTMENT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69748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9500"/>
                </a:solidFill>
                <a:latin typeface="SF Pro Text"/>
              </a:rPr>
              <a:t>투자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269748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SF Pro Text"/>
              </a:rPr>
              <a:t>연 500~1,000억원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3063240"/>
            <a:ext cx="4297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FFFFFF"/>
                </a:solidFill>
                <a:latin typeface="SF Pro Text"/>
              </a:rPr>
              <a:t>AI 코딩 + EDA + Fab Intelligence 전사 도입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657600"/>
            <a:ext cx="502920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FF9500"/>
                </a:solidFill>
                <a:latin typeface="SF Pro Display"/>
              </a:rPr>
              <a:t>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3749039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9500"/>
                </a:solidFill>
                <a:latin typeface="SF Pro Text"/>
              </a:rPr>
              <a:t>효과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3749039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SF Pro Text"/>
              </a:rPr>
              <a:t>엔지니어 생산성 +20~30%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4114799"/>
            <a:ext cx="4297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FFFFFF"/>
                </a:solidFill>
                <a:latin typeface="SF Pro Text"/>
              </a:rPr>
              <a:t>3만명 × 30% × 1.5억원 = 잉여 자원 1.35조/년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709159"/>
            <a:ext cx="5029200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FF9500"/>
                </a:solidFill>
                <a:latin typeface="SF Pro Display"/>
              </a:rPr>
              <a:t>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480060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9500"/>
                </a:solidFill>
                <a:latin typeface="SF Pro Text"/>
              </a:rPr>
              <a:t>재배분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480060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SF Pro Text"/>
              </a:rPr>
              <a:t>4개 우선순위 항목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5166360"/>
            <a:ext cx="4297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FFFFFF"/>
                </a:solidFill>
                <a:latin typeface="SF Pro Text"/>
              </a:rPr>
              <a:t>RS-2 양 끝 운영 / RS-3 Co-Validation / RS-6 1c+NAND R&amp;D / E 시나리오 피벗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0" y="5577840"/>
            <a:ext cx="5029200" cy="320040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75120" y="5605272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SF Pro Text"/>
              </a:rPr>
              <a:t>ROI 9~27배 — 다른 모든 RS의 prerequisite, 시나리오에 둔감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989320"/>
            <a:ext cx="11731752" cy="365760"/>
          </a:xfrm>
          <a:prstGeom prst="rect">
            <a:avLst/>
          </a:prstGeom>
          <a:solidFill>
            <a:srgbClr val="FFF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5989320"/>
            <a:ext cx="91440" cy="365760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60393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F9500"/>
                </a:solidFill>
                <a:latin typeface="SF Pro Display"/>
              </a:rPr>
              <a:t>SO WHAT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28800" y="6039320"/>
            <a:ext cx="99029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D1D1F"/>
                </a:solidFill>
                <a:latin typeface="SF Pro Text"/>
              </a:rPr>
              <a:t>AI 효율화 없이는 RS-2 양 끝, RS-3 락인, RS-6 3축 R&amp;D가 인력 부담으로 무너진다.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C6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E6E73"/>
                </a:solidFill>
                <a:latin typeface="SF Pro Text"/>
              </a:rPr>
              <a:t>삼성전자  |  Robust · RS-7 · 신규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E6E73"/>
                </a:solidFill>
                <a:latin typeface="SF Pro Text"/>
              </a:rPr>
              <a:t>24 / 29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D1D1F"/>
                </a:solidFill>
                <a:latin typeface="SF Pro Text"/>
              </a:rPr>
              <a:t>RS-8 · 단순 LTA는 사이클당 50~100% 매출 기회를 포기한다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E6E73"/>
                </a:solidFill>
                <a:latin typeface="SF Pro Text"/>
              </a:rPr>
              <a:t>농수산 100년 + 외환 50년 헷지 노하우의 메모리 첫 도입 — Participating Forward + HTA + Tiered + Trading Desk = 매출 변동성 ±25%→±12%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C6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691640"/>
            <a:ext cx="5760720" cy="4297680"/>
          </a:xfrm>
          <a:prstGeom prst="rect">
            <a:avLst/>
          </a:prstGeom>
          <a:solidFill>
            <a:srgbClr val="F2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7AFF"/>
                </a:solidFill>
                <a:latin typeface="SF Pro Text"/>
              </a:rPr>
              <a:t>왜 지금 — 단순 LTA의 한계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09728" cy="1097280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3774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7AFF"/>
                </a:solidFill>
                <a:latin typeface="SF Pro Text"/>
              </a:rPr>
              <a:t>① 297% 가격 점프 사례 (2025년 9~12월)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74320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D1D1F"/>
                </a:solidFill>
                <a:latin typeface="SF Pro Text"/>
              </a:rPr>
              <a:t>16Gb DDR5 contract price $6.84 → $27.20 (3개월 +297%)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090672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6E6E73"/>
                </a:solidFill>
                <a:latin typeface="SF Pro Text"/>
              </a:rPr>
              <a:t>9월 단순 고정가 LTA 시 297% 상방 모두 포기 — 고객만 차익 향유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611879"/>
            <a:ext cx="109728" cy="1097280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657599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7AFF"/>
                </a:solidFill>
                <a:latin typeface="SF Pro Text"/>
              </a:rPr>
              <a:t>② 메모리 변동성 σ ≈ 60~120%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023359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D1D1F"/>
                </a:solidFill>
                <a:latin typeface="SF Pro Text"/>
              </a:rPr>
              <a:t>원유 30%·S&amp;P 18% 대비 2~6배 — "농산물 같은 IT 부품"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370831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6E6E73"/>
                </a:solidFill>
                <a:latin typeface="SF Pro Text"/>
              </a:rPr>
              <a:t>농가도 작황의 30~50%만 forward 헷지 — 100% 락인은 표준 아님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4892040"/>
            <a:ext cx="109728" cy="1097280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9377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7AFF"/>
                </a:solidFill>
                <a:latin typeface="SF Pro Text"/>
              </a:rPr>
              <a:t>③ Participating Forward 메모리 미도입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30352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D1D1F"/>
                </a:solidFill>
                <a:latin typeface="SF Pro Text"/>
              </a:rPr>
              <a:t>외환·통화시장 50년 표준 도구 — 메모리 산업 거의 도입 0건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650992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6E6E73"/>
                </a:solidFill>
                <a:latin typeface="SF Pro Text"/>
              </a:rPr>
              <a:t>첫 도입자 표준 효과 = Fish Pool 모델, 후발주자 진입장벽 형성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1691640"/>
            <a:ext cx="5330952" cy="4297680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18288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F Pro Text"/>
              </a:rPr>
              <a:t>4트랙 헷지 구조 (RS-4 LTA 위에 적층)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1945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FF9500"/>
                </a:solidFill>
                <a:latin typeface="SF Pro Display"/>
              </a:rPr>
              <a:t>STRUCTURED REVENUE HEDGING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69748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9500"/>
                </a:solidFill>
                <a:latin typeface="SF Pro Text"/>
              </a:rPr>
              <a:t>트랙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269748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SF Pro Text"/>
              </a:rPr>
              <a:t>Participating Forward 시범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3044952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FFFFFF"/>
                </a:solidFill>
                <a:latin typeface="SF Pro Text"/>
              </a:rPr>
              <a:t>Floor + 50% 상방 참여 / NVIDIA·하이퍼스케일러 1~2사 / HBM4E 일부 물량 (연 10~20%)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502152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9500"/>
                </a:solidFill>
                <a:latin typeface="SF Pro Text"/>
              </a:rPr>
              <a:t>트랙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3502152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SF Pro Text"/>
              </a:rPr>
              <a:t>Wafer Slot Reservation HTA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3849624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FFFFFF"/>
                </a:solidFill>
                <a:latin typeface="SF Pro Text"/>
              </a:rPr>
              <a:t>슬롯/가격 분리 결정 + Take-or-Pay / Nvidia $5.4~7.7억 선급금 산업 표준화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4306824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9500"/>
                </a:solidFill>
                <a:latin typeface="SF Pro Text"/>
              </a:rPr>
              <a:t>트랙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4306824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SF Pro Text"/>
              </a:rPr>
              <a:t>Tiered Pricing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4654296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FFFFFF"/>
                </a:solidFill>
                <a:latin typeface="SF Pro Text"/>
              </a:rPr>
              <a:t>시장 구간별 차등 share / 자동차·산업용·신흥 AI 시장 (SD-2 연계)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5111496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9500"/>
                </a:solidFill>
                <a:latin typeface="SF Pro Text"/>
              </a:rPr>
              <a:t>트랙 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5111496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SF Pro Text"/>
              </a:rPr>
              <a:t>Memory Trading Desk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5458968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FFFFFF"/>
                </a:solidFill>
                <a:latin typeface="SF Pro Text"/>
              </a:rPr>
              <a:t>골드만/JP모건 트레이더 20~30인 / DRAMeXchange 기반 OTC 스왑 시장 조성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0" y="5577840"/>
            <a:ext cx="5029200" cy="320040"/>
          </a:xfrm>
          <a:prstGeom prst="rect">
            <a:avLst/>
          </a:prstGeom>
          <a:solidFill>
            <a:srgbClr val="FF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5120" y="5605272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SF Pro Text"/>
              </a:rPr>
              <a:t>금지: Three-way Collar(sub-put 매도형) — 셰일 Pioneer 2014/2020 손실 가속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989320"/>
            <a:ext cx="11731752" cy="365760"/>
          </a:xfrm>
          <a:prstGeom prst="rect">
            <a:avLst/>
          </a:prstGeom>
          <a:solidFill>
            <a:srgbClr val="FFF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" y="5989320"/>
            <a:ext cx="91440" cy="365760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60393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F9500"/>
                </a:solidFill>
                <a:latin typeface="SF Pro Display"/>
              </a:rPr>
              <a:t>SO WHAT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28800" y="6039320"/>
            <a:ext cx="99029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D1D1F"/>
                </a:solidFill>
                <a:latin typeface="SF Pro Text"/>
              </a:rPr>
              <a:t>계약 *물량*(RS-4)이 아니라 계약 *구조*(RS-8)를 혁신 — 매출 변동성 절반 + 사이클당 +50~100% 회수.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C6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E6E73"/>
                </a:solidFill>
                <a:latin typeface="SF Pro Text"/>
              </a:rPr>
              <a:t>삼성전자  |  Robust · RS-8 · 신규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E6E73"/>
                </a:solidFill>
                <a:latin typeface="SF Pro Text"/>
              </a:rPr>
              <a:t>25 / 29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D1D1F"/>
                </a:solidFill>
                <a:latin typeface="SF Pro Text"/>
              </a:rPr>
              <a:t>EWI 대시보드의 사분면 궤적과 12개 자동 트리거가 다운턴 신호를 30일 내 실행 전환으로 바꾼다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E6E73"/>
                </a:solidFill>
                <a:latin typeface="SF Pro Text"/>
              </a:rPr>
              <a:t>지난 2년 궤적은 B 르네상스 모멘텀이지만 자동 실현은 아님 — 12개 결정 D-day와 12개 트리거가 신호를 즉시 행동으로 변환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C6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quadrant_trajec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91640"/>
            <a:ext cx="7680960" cy="472400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321040" y="1691640"/>
            <a:ext cx="3410712" cy="2194560"/>
          </a:xfrm>
          <a:prstGeom prst="rect">
            <a:avLst/>
          </a:prstGeom>
          <a:solidFill>
            <a:srgbClr val="F2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178308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7AFF"/>
                </a:solidFill>
                <a:latin typeface="SF Pro Text"/>
              </a:rPr>
              <a:t>12개 결정 D-day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2103120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FF9500"/>
                </a:solidFill>
                <a:latin typeface="SF Pro Display"/>
              </a:rPr>
              <a:t>D1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2103120"/>
            <a:ext cx="2103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1D1D1F"/>
                </a:solidFill>
                <a:latin typeface="SF Pro Text"/>
              </a:rPr>
              <a:t>HBM4 NVIDIA 점유율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2103120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1" i="0">
                <a:solidFill>
                  <a:srgbClr val="FF3B30"/>
                </a:solidFill>
                <a:latin typeface="SF Pro Display"/>
              </a:rPr>
              <a:t>D-150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2249424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FF9500"/>
                </a:solidFill>
                <a:latin typeface="SF Pro Display"/>
              </a:rPr>
              <a:t>D2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2249424"/>
            <a:ext cx="2103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1D1D1F"/>
                </a:solidFill>
                <a:latin typeface="SF Pro Text"/>
              </a:rPr>
              <a:t>소재 비중국 다각화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2249424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1" i="0">
                <a:solidFill>
                  <a:srgbClr val="FF3B30"/>
                </a:solidFill>
                <a:latin typeface="SF Pro Display"/>
              </a:rPr>
              <a:t>D-150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395727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FF9500"/>
                </a:solidFill>
                <a:latin typeface="SF Pro Display"/>
              </a:rPr>
              <a:t>D6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2395727"/>
            <a:ext cx="2103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1D1D1F"/>
                </a:solidFill>
                <a:latin typeface="SF Pro Text"/>
              </a:rPr>
              <a:t>RS1·RS4·RS6 정책화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2395727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1" i="0">
                <a:solidFill>
                  <a:srgbClr val="FF3B30"/>
                </a:solidFill>
                <a:latin typeface="SF Pro Display"/>
              </a:rPr>
              <a:t>D-150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542032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FF9500"/>
                </a:solidFill>
                <a:latin typeface="SF Pro Display"/>
              </a:rPr>
              <a:t>D3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2542032"/>
            <a:ext cx="2103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1D1D1F"/>
                </a:solidFill>
                <a:latin typeface="SF Pro Text"/>
              </a:rPr>
              <a:t>3D DRAM + IMEC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25420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1" i="0">
                <a:solidFill>
                  <a:srgbClr val="6E6E73"/>
                </a:solidFill>
                <a:latin typeface="SF Pro Display"/>
              </a:rPr>
              <a:t>D-240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2688336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FF9500"/>
                </a:solidFill>
                <a:latin typeface="SF Pro Display"/>
              </a:rPr>
              <a:t>D4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2688336"/>
            <a:ext cx="2103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1D1D1F"/>
                </a:solidFill>
                <a:latin typeface="SF Pro Text"/>
              </a:rPr>
              <a:t>텍사스 1·2단계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2688336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1" i="0">
                <a:solidFill>
                  <a:srgbClr val="6E6E73"/>
                </a:solidFill>
                <a:latin typeface="SF Pro Display"/>
              </a:rPr>
              <a:t>D-240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2834639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FF9500"/>
                </a:solidFill>
                <a:latin typeface="SF Pro Display"/>
              </a:rPr>
              <a:t>D5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0" y="2834639"/>
            <a:ext cx="2103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1D1D1F"/>
                </a:solidFill>
                <a:latin typeface="SF Pro Text"/>
              </a:rPr>
              <a:t>AI 효율화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2834639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1" i="0">
                <a:solidFill>
                  <a:srgbClr val="6E6E73"/>
                </a:solidFill>
                <a:latin typeface="SF Pro Display"/>
              </a:rPr>
              <a:t>D-240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2980944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FF9500"/>
                </a:solidFill>
                <a:latin typeface="SF Pro Display"/>
              </a:rPr>
              <a:t>D8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0" y="2980944"/>
            <a:ext cx="2103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1D1D1F"/>
                </a:solidFill>
                <a:latin typeface="SF Pro Text"/>
              </a:rPr>
              <a:t>텍사스 추가 보조금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2980944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1" i="0">
                <a:solidFill>
                  <a:srgbClr val="6E6E73"/>
                </a:solidFill>
                <a:latin typeface="SF Pro Display"/>
              </a:rPr>
              <a:t>D-240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3127248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FF9500"/>
                </a:solidFill>
                <a:latin typeface="SF Pro Display"/>
              </a:rPr>
              <a:t>D9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0" y="3127248"/>
            <a:ext cx="2103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1D1D1F"/>
                </a:solidFill>
                <a:latin typeface="SF Pro Text"/>
              </a:rPr>
              <a:t>M&amp;A 펀드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3127248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1" i="0">
                <a:solidFill>
                  <a:srgbClr val="6E6E73"/>
                </a:solidFill>
                <a:latin typeface="SF Pro Display"/>
              </a:rPr>
              <a:t>D-240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3273552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FF9500"/>
                </a:solidFill>
                <a:latin typeface="SF Pro Display"/>
              </a:rPr>
              <a:t>D10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0" y="3273552"/>
            <a:ext cx="2103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1D1D1F"/>
                </a:solidFill>
                <a:latin typeface="SF Pro Text"/>
              </a:rPr>
              <a:t>NAND 주기 연장 R&amp;D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327355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1" i="0">
                <a:solidFill>
                  <a:srgbClr val="6E6E73"/>
                </a:solidFill>
                <a:latin typeface="SF Pro Display"/>
              </a:rPr>
              <a:t>D-240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3419856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FF9500"/>
                </a:solidFill>
                <a:latin typeface="SF Pro Display"/>
              </a:rPr>
              <a:t>D11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69680" y="3419856"/>
            <a:ext cx="2103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1D1D1F"/>
                </a:solidFill>
                <a:latin typeface="SF Pro Text"/>
              </a:rPr>
              <a:t>Stargate Korea 본계약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3419856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1" i="0">
                <a:solidFill>
                  <a:srgbClr val="6E6E73"/>
                </a:solidFill>
                <a:latin typeface="SF Pro Display"/>
              </a:rPr>
              <a:t>D-240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03920" y="3566160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FF9500"/>
                </a:solidFill>
                <a:latin typeface="SF Pro Display"/>
              </a:rPr>
              <a:t>D12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69680" y="3566160"/>
            <a:ext cx="2103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1D1D1F"/>
                </a:solidFill>
                <a:latin typeface="SF Pro Text"/>
              </a:rPr>
              <a:t>RS-8 구조화 헷지 시범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3566160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1" i="0">
                <a:solidFill>
                  <a:srgbClr val="6E6E73"/>
                </a:solidFill>
                <a:latin typeface="SF Pro Display"/>
              </a:rPr>
              <a:t>D-240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03920" y="3712463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FF9500"/>
                </a:solidFill>
                <a:latin typeface="SF Pro Display"/>
              </a:rPr>
              <a:t>D7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69680" y="3712463"/>
            <a:ext cx="2103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1D1D1F"/>
                </a:solidFill>
                <a:latin typeface="SF Pro Text"/>
              </a:rPr>
              <a:t>잉여 인력 전환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0" y="3712463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50" b="1" i="0">
                <a:solidFill>
                  <a:srgbClr val="6E6E73"/>
                </a:solidFill>
                <a:latin typeface="SF Pro Display"/>
              </a:rPr>
              <a:t>D-330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321040" y="3977639"/>
            <a:ext cx="3410712" cy="2011680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03920" y="406908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F Pro Text"/>
              </a:rPr>
              <a:t>12개 자동 트리거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03920" y="4297680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FF9500"/>
                </a:solidFill>
                <a:latin typeface="SF Pro Text"/>
              </a:rPr>
              <a:t>발동 시 30일 내 전략 전환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03920" y="4572000"/>
            <a:ext cx="3108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FF9500"/>
                </a:solidFill>
                <a:latin typeface="SF Pro Text"/>
              </a:rPr>
              <a:t>다운턴 신호 (5)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03920" y="4736592"/>
            <a:ext cx="3108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SF Pro Text"/>
              </a:rPr>
              <a:t>빅테크 CapEx -25% / MS CapEx -20% / HBM 가격 -30% / CXMT HBM4 / Hsinx 라이선스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03920" y="4919472"/>
            <a:ext cx="3108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FF9500"/>
                </a:solidFill>
                <a:latin typeface="SF Pro Text"/>
              </a:rPr>
              <a:t>지정학 (2)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03920" y="5084064"/>
            <a:ext cx="3108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SF Pro Text"/>
              </a:rPr>
              <a:t>MATCH 통과 / 텍사스 2단계 미발표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03920" y="5266944"/>
            <a:ext cx="3108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FF9500"/>
                </a:solidFill>
                <a:latin typeface="SF Pro Text"/>
              </a:rPr>
              <a:t>가속 신호 (2)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03920" y="5431536"/>
            <a:ext cx="3108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SF Pro Text"/>
              </a:rPr>
              <a:t>AI 매출 $500B / 3D DRAM 50% PoC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03920" y="5614416"/>
            <a:ext cx="3108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FF9500"/>
                </a:solidFill>
                <a:latin typeface="SF Pro Text"/>
              </a:rPr>
              <a:t>전략 위기 (3)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03920" y="5779008"/>
            <a:ext cx="3108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SF Pro Text"/>
              </a:rPr>
              <a:t>HBM4 미인증 / 단일 고객 &gt;25% / M&amp;A 타깃 EV&lt;5x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6263640"/>
            <a:ext cx="11731752" cy="365760"/>
          </a:xfrm>
          <a:prstGeom prst="rect">
            <a:avLst/>
          </a:prstGeom>
          <a:solidFill>
            <a:srgbClr val="FFF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57200" y="6263640"/>
            <a:ext cx="91440" cy="365760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0080" y="63136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F9500"/>
                </a:solidFill>
                <a:latin typeface="SF Pro Display"/>
              </a:rPr>
              <a:t>SO WHAT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828800" y="6313640"/>
            <a:ext cx="99029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D1D1F"/>
                </a:solidFill>
                <a:latin typeface="SF Pro Text"/>
              </a:rPr>
              <a:t>현재 위치 (DF1 +7.5, DF2 +0.5) — B 시나리오 강한 모멘텀, 그러나 자동 실현 아님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C6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E6E73"/>
                </a:solidFill>
                <a:latin typeface="SF Pro Text"/>
              </a:rPr>
              <a:t>삼성전자  |  대시보드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E6E73"/>
                </a:solidFill>
                <a:latin typeface="SF Pro Text"/>
              </a:rPr>
              <a:t>26 / 29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D1D1F"/>
                </a:solidFill>
                <a:latin typeface="SF Pro Text"/>
              </a:rPr>
              <a:t>12개 결정은 묶음이다 — 분리해서 처리하면 효과가 사라진다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E6E73"/>
                </a:solidFill>
                <a:latin typeface="SF Pro Text"/>
              </a:rPr>
              <a:t>D1·D5·D7 직렬 / D4·D8 동시 / D6이 D9·D12 거버넌스 기반 / D10·D11·D12 신성장축 — 모든 결정 시한 2026 Q4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C6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645920"/>
            <a:ext cx="3749039" cy="960119"/>
          </a:xfrm>
          <a:prstGeom prst="rect">
            <a:avLst/>
          </a:prstGeom>
          <a:solidFill>
            <a:srgbClr val="FFE5E3"/>
          </a:solidFill>
          <a:ln w="15875">
            <a:solidFill>
              <a:srgbClr val="FF3B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91440" cy="960119"/>
          </a:xfrm>
          <a:prstGeom prst="rect">
            <a:avLst/>
          </a:prstGeom>
          <a:solidFill>
            <a:srgbClr val="FF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777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3B30"/>
                </a:solidFill>
                <a:latin typeface="SF Pro Display"/>
              </a:rPr>
              <a:t>D1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737360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D1D1F"/>
                </a:solidFill>
                <a:latin typeface="SF Pro Text"/>
              </a:rPr>
              <a:t>HBM4 NVIDIA 점유율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057400"/>
            <a:ext cx="345643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1D1D1F"/>
                </a:solidFill>
                <a:latin typeface="SF Pro Text"/>
              </a:rPr>
              <a:t>수율 90%+ Q3 2026 / 점유율 28% → 40%+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404872"/>
            <a:ext cx="34564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FF9500"/>
                </a:solidFill>
                <a:latin typeface="SF Pro Text"/>
              </a:rPr>
              <a:t>D-150 · 마감 임박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70832" y="1645920"/>
            <a:ext cx="3749039" cy="960119"/>
          </a:xfrm>
          <a:prstGeom prst="rect">
            <a:avLst/>
          </a:prstGeom>
          <a:solidFill>
            <a:srgbClr val="F2F2F7"/>
          </a:solidFill>
          <a:ln>
            <a:solidFill>
              <a:srgbClr val="007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0832" y="1645920"/>
            <a:ext cx="91440" cy="960119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691640"/>
            <a:ext cx="777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07AFF"/>
                </a:solidFill>
                <a:latin typeface="SF Pro Display"/>
              </a:rPr>
              <a:t>D2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0952" y="1737360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D1D1F"/>
                </a:solidFill>
                <a:latin typeface="SF Pro Text"/>
              </a:rPr>
              <a:t>소재 비중국 다각화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057400"/>
            <a:ext cx="345643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1D1D1F"/>
                </a:solidFill>
                <a:latin typeface="SF Pro Text"/>
              </a:rPr>
              <a:t>Q3 2026 LTA 체결 / 6개월 비축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404872"/>
            <a:ext cx="34564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FF9500"/>
                </a:solidFill>
                <a:latin typeface="SF Pro Text"/>
              </a:rPr>
              <a:t>캐나다·호주·카자흐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84464" y="1645920"/>
            <a:ext cx="3749039" cy="960119"/>
          </a:xfrm>
          <a:prstGeom prst="rect">
            <a:avLst/>
          </a:prstGeom>
          <a:solidFill>
            <a:srgbClr val="F2F2F7"/>
          </a:solidFill>
          <a:ln>
            <a:solidFill>
              <a:srgbClr val="007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84464" y="1645920"/>
            <a:ext cx="91440" cy="960119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67344" y="1691640"/>
            <a:ext cx="777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07AFF"/>
                </a:solidFill>
                <a:latin typeface="SF Pro Display"/>
              </a:rPr>
              <a:t>D3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44584" y="1737360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D1D1F"/>
                </a:solidFill>
                <a:latin typeface="SF Pro Text"/>
              </a:rPr>
              <a:t>3D DRAM R&amp;D + IMEC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85632" y="2057400"/>
            <a:ext cx="345643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1D1D1F"/>
                </a:solidFill>
                <a:latin typeface="SF Pro Text"/>
              </a:rPr>
              <a:t>Q4 2026 협약 / $200M / 200~300인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85632" y="2404872"/>
            <a:ext cx="34564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FF9500"/>
                </a:solidFill>
                <a:latin typeface="SF Pro Text"/>
              </a:rPr>
              <a:t>마이크론·SK 추격 차단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724912"/>
            <a:ext cx="3749039" cy="960119"/>
          </a:xfrm>
          <a:prstGeom prst="rect">
            <a:avLst/>
          </a:prstGeom>
          <a:solidFill>
            <a:srgbClr val="F2F2F7"/>
          </a:solidFill>
          <a:ln>
            <a:solidFill>
              <a:srgbClr val="007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2724912"/>
            <a:ext cx="91440" cy="960119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2770632"/>
            <a:ext cx="777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07AFF"/>
                </a:solidFill>
                <a:latin typeface="SF Pro Display"/>
              </a:rPr>
              <a:t>D4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2816352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D1D1F"/>
                </a:solidFill>
                <a:latin typeface="SF Pro Text"/>
              </a:rPr>
              <a:t>텍사스 1·2단계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3136392"/>
            <a:ext cx="345643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1D1D1F"/>
                </a:solidFill>
                <a:latin typeface="SF Pro Text"/>
              </a:rPr>
              <a:t>1단계 가동 + 2단계 발표 / Q4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3483864"/>
            <a:ext cx="34564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FF9500"/>
                </a:solidFill>
                <a:latin typeface="SF Pro Text"/>
              </a:rPr>
              <a:t>$4.745B 보조금 활용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70832" y="2724912"/>
            <a:ext cx="3749039" cy="960119"/>
          </a:xfrm>
          <a:prstGeom prst="rect">
            <a:avLst/>
          </a:prstGeom>
          <a:solidFill>
            <a:srgbClr val="F2F2F7"/>
          </a:solidFill>
          <a:ln>
            <a:solidFill>
              <a:srgbClr val="007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70832" y="2724912"/>
            <a:ext cx="91440" cy="960119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53712" y="2770632"/>
            <a:ext cx="777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07AFF"/>
                </a:solidFill>
                <a:latin typeface="SF Pro Display"/>
              </a:rPr>
              <a:t>D5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30952" y="2816352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D1D1F"/>
                </a:solidFill>
                <a:latin typeface="SF Pro Text"/>
              </a:rPr>
              <a:t>AI 효율화 전사 도입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3136392"/>
            <a:ext cx="345643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1D1D1F"/>
                </a:solidFill>
                <a:latin typeface="SF Pro Text"/>
              </a:rPr>
              <a:t>Q4 파일럿 → Q1 전사 / RS2·RS3 선행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3483864"/>
            <a:ext cx="34564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FF9500"/>
                </a:solidFill>
                <a:latin typeface="SF Pro Text"/>
              </a:rPr>
              <a:t>500~1,000억 원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84464" y="2724912"/>
            <a:ext cx="3749039" cy="960119"/>
          </a:xfrm>
          <a:prstGeom prst="rect">
            <a:avLst/>
          </a:prstGeom>
          <a:solidFill>
            <a:srgbClr val="F2F2F7"/>
          </a:solidFill>
          <a:ln>
            <a:solidFill>
              <a:srgbClr val="007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284464" y="2724912"/>
            <a:ext cx="91440" cy="960119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67344" y="2770632"/>
            <a:ext cx="777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07AFF"/>
                </a:solidFill>
                <a:latin typeface="SF Pro Display"/>
              </a:rPr>
              <a:t>D6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44584" y="2816352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D1D1F"/>
                </a:solidFill>
                <a:latin typeface="SF Pro Text"/>
              </a:rPr>
              <a:t>RS1·RS4·RS6 정책화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85632" y="3136392"/>
            <a:ext cx="345643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1D1D1F"/>
                </a:solidFill>
                <a:latin typeface="SF Pro Text"/>
              </a:rPr>
              <a:t>다운사이클 capex 4조원 명문화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85632" y="3483864"/>
            <a:ext cx="34564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FF9500"/>
                </a:solidFill>
                <a:latin typeface="SF Pro Text"/>
              </a:rPr>
              <a:t>활동가 투자자 방어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3803904"/>
            <a:ext cx="3749039" cy="960119"/>
          </a:xfrm>
          <a:prstGeom prst="rect">
            <a:avLst/>
          </a:prstGeom>
          <a:solidFill>
            <a:srgbClr val="F2F2F7"/>
          </a:solidFill>
          <a:ln>
            <a:solidFill>
              <a:srgbClr val="007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" y="3803904"/>
            <a:ext cx="91440" cy="960119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3849624"/>
            <a:ext cx="777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07AFF"/>
                </a:solidFill>
                <a:latin typeface="SF Pro Display"/>
              </a:rPr>
              <a:t>D7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3895344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D1D1F"/>
                </a:solidFill>
                <a:latin typeface="SF Pro Text"/>
              </a:rPr>
              <a:t>잉여 인력 전환 배치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4215384"/>
            <a:ext cx="345643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1D1D1F"/>
                </a:solidFill>
                <a:latin typeface="SF Pro Text"/>
              </a:rPr>
              <a:t>2027 Q1 가시화 / 분기별 사업부장 보고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4562856"/>
            <a:ext cx="34564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FF9500"/>
                </a:solidFill>
                <a:latin typeface="SF Pro Text"/>
              </a:rPr>
              <a:t>추가 채용 없이 RS2·RS3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370832" y="3803904"/>
            <a:ext cx="3749039" cy="960119"/>
          </a:xfrm>
          <a:prstGeom prst="rect">
            <a:avLst/>
          </a:prstGeom>
          <a:solidFill>
            <a:srgbClr val="F2F2F7"/>
          </a:solidFill>
          <a:ln>
            <a:solidFill>
              <a:srgbClr val="007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370832" y="3803904"/>
            <a:ext cx="91440" cy="960119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53712" y="3849624"/>
            <a:ext cx="777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07AFF"/>
                </a:solidFill>
                <a:latin typeface="SF Pro Display"/>
              </a:rPr>
              <a:t>D8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30952" y="3895344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D1D1F"/>
                </a:solidFill>
                <a:latin typeface="SF Pro Text"/>
              </a:rPr>
              <a:t>텍사스 추가 보조금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0" y="4215384"/>
            <a:ext cx="345643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1D1D1F"/>
                </a:solidFill>
                <a:latin typeface="SF Pro Text"/>
              </a:rPr>
              <a:t>CHIPS 추가 협상 + LTA / Tesla 외 빅테크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0" y="4562856"/>
            <a:ext cx="34564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FF9500"/>
                </a:solidFill>
                <a:latin typeface="SF Pro Text"/>
              </a:rPr>
              <a:t>JV 모델 대안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284464" y="3803904"/>
            <a:ext cx="3749039" cy="960119"/>
          </a:xfrm>
          <a:prstGeom prst="rect">
            <a:avLst/>
          </a:prstGeom>
          <a:solidFill>
            <a:srgbClr val="F2F2F7"/>
          </a:solidFill>
          <a:ln>
            <a:solidFill>
              <a:srgbClr val="007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284464" y="3803904"/>
            <a:ext cx="91440" cy="960119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467344" y="3849624"/>
            <a:ext cx="777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07AFF"/>
                </a:solidFill>
                <a:latin typeface="SF Pro Display"/>
              </a:rPr>
              <a:t>D9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244584" y="3895344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D1D1F"/>
                </a:solidFill>
                <a:latin typeface="SF Pro Text"/>
              </a:rPr>
              <a:t>다운사이클 M&amp;A 펀드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85632" y="4215384"/>
            <a:ext cx="345643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1D1D1F"/>
                </a:solidFill>
                <a:latin typeface="SF Pro Text"/>
              </a:rPr>
              <a:t>5,000억 원 사전 적립 / 자동 트리거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485632" y="4562856"/>
            <a:ext cx="34564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FF9500"/>
                </a:solidFill>
                <a:latin typeface="SF Pro Text"/>
              </a:rPr>
              <a:t>Disney-Marvel 모델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57200" y="4882896"/>
            <a:ext cx="3749039" cy="960119"/>
          </a:xfrm>
          <a:prstGeom prst="rect">
            <a:avLst/>
          </a:prstGeom>
          <a:solidFill>
            <a:srgbClr val="F2F2F7"/>
          </a:solidFill>
          <a:ln>
            <a:solidFill>
              <a:srgbClr val="007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57200" y="4882896"/>
            <a:ext cx="91440" cy="960119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0080" y="4928616"/>
            <a:ext cx="777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07AFF"/>
                </a:solidFill>
                <a:latin typeface="SF Pro Display"/>
              </a:rPr>
              <a:t>D10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417320" y="4974336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D1D1F"/>
                </a:solidFill>
                <a:latin typeface="SF Pro Text"/>
              </a:rPr>
              <a:t>NAND 주기 연장 R&amp;D 4트랙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58368" y="5294376"/>
            <a:ext cx="345643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1D1D1F"/>
                </a:solidFill>
                <a:latin typeface="SF Pro Text"/>
              </a:rPr>
              <a:t>Hybrid Bonding 자체 IP / Multi-deck / QLC·PLC / FDP·SCADA firmware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8368" y="5641848"/>
            <a:ext cx="34564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FF9500"/>
                </a:solidFill>
                <a:latin typeface="SF Pro Text"/>
              </a:rPr>
              <a:t>1.5조 원/3년 · YMTC 우회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370832" y="4882896"/>
            <a:ext cx="3749039" cy="960119"/>
          </a:xfrm>
          <a:prstGeom prst="rect">
            <a:avLst/>
          </a:prstGeom>
          <a:solidFill>
            <a:srgbClr val="F2F2F7"/>
          </a:solidFill>
          <a:ln>
            <a:solidFill>
              <a:srgbClr val="007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370832" y="4882896"/>
            <a:ext cx="91440" cy="960119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553712" y="4928616"/>
            <a:ext cx="777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07AFF"/>
                </a:solidFill>
                <a:latin typeface="SF Pro Display"/>
              </a:rPr>
              <a:t>D11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330952" y="4974336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D1D1F"/>
                </a:solidFill>
                <a:latin typeface="SF Pro Text"/>
              </a:rPr>
              <a:t>Stargate Korea 본 계약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72000" y="5294376"/>
            <a:ext cx="345643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1D1D1F"/>
                </a:solidFill>
                <a:latin typeface="SF Pro Text"/>
              </a:rPr>
              <a:t>LOI → DA / Electronics+C&amp;T+SDS+Heavy 컨소시엄 / Neocloud 1~3% 지분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72000" y="5641848"/>
            <a:ext cx="34564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FF9500"/>
                </a:solidFill>
                <a:latin typeface="SF Pro Text"/>
              </a:rPr>
              <a:t>AI 가치사슬 마진 헷지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284464" y="4882896"/>
            <a:ext cx="3749039" cy="960119"/>
          </a:xfrm>
          <a:prstGeom prst="rect">
            <a:avLst/>
          </a:prstGeom>
          <a:solidFill>
            <a:srgbClr val="F2F2F7"/>
          </a:solidFill>
          <a:ln>
            <a:solidFill>
              <a:srgbClr val="007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284464" y="4882896"/>
            <a:ext cx="91440" cy="960119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467344" y="4928616"/>
            <a:ext cx="777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07AFF"/>
                </a:solidFill>
                <a:latin typeface="SF Pro Display"/>
              </a:rPr>
              <a:t>D12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244584" y="4974336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D1D1F"/>
                </a:solidFill>
                <a:latin typeface="SF Pro Text"/>
              </a:rPr>
              <a:t>RS-8 구조화 매출 헷지 시범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485632" y="5294376"/>
            <a:ext cx="345643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1D1D1F"/>
                </a:solidFill>
                <a:latin typeface="SF Pro Text"/>
              </a:rPr>
              <a:t>Participating Forward + HTA + Tiered + Trading Desk / Three-way 금지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485632" y="5641848"/>
            <a:ext cx="34564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FF9500"/>
                </a:solidFill>
                <a:latin typeface="SF Pro Text"/>
              </a:rPr>
              <a:t>농수산·외환 100년 헷지 이식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57200" y="6016752"/>
            <a:ext cx="11274552" cy="411480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40080" y="6062472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SF Pro Text"/>
              </a:rPr>
              <a:t>12개는 묶음이다 — D1·D5·D7 직렬 / D4·D8 동시 / D6이 D9·D12 거버넌스 / D10·D11·D12 신성장축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C6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E6E73"/>
                </a:solidFill>
                <a:latin typeface="SF Pro Text"/>
              </a:rPr>
              <a:t>삼성전자  |  결정 요약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E6E73"/>
                </a:solidFill>
                <a:latin typeface="SF Pro Text"/>
              </a:rPr>
              <a:t>27 / 29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317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D1D1F"/>
                </a:solidFill>
                <a:latin typeface="SF Pro Text"/>
              </a:rPr>
              <a:t>Main·Side·Robust 9개 핵심 전략의 묶음이 다운턴 흑자·1위 회복·자산 폭락 시 M&amp;A를 동시에 해결한다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7317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E6E73"/>
                </a:solidFill>
                <a:latin typeface="SF Pro Text"/>
              </a:rPr>
              <a:t>각 영역에서 가장 중요한 3개씩 — 단일 전략으로는 한 문제만 풀리지만, 묶음으로 실행하면 모든 문제가 동시에 해결된다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417320"/>
            <a:ext cx="11274552" cy="0"/>
          </a:xfrm>
          <a:prstGeom prst="line">
            <a:avLst/>
          </a:prstGeom>
          <a:ln w="6350">
            <a:solidFill>
              <a:srgbClr val="C6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691640"/>
            <a:ext cx="3749039" cy="502920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F Pro Display"/>
              </a:rPr>
              <a:t>MAIN BET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3566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SF Pro Text"/>
              </a:rPr>
              <a:t>시나리오 B 베팅</a:t>
            </a:r>
          </a:p>
        </p:txBody>
      </p:sp>
      <p:sp>
        <p:nvSpPr>
          <p:cNvPr id="8" name="Rectangle 7"/>
          <p:cNvSpPr/>
          <p:nvPr/>
        </p:nvSpPr>
        <p:spPr>
          <a:xfrm>
            <a:off x="4370832" y="1691640"/>
            <a:ext cx="3749039" cy="502920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73736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F Pro Display"/>
              </a:rPr>
              <a:t>SIDE BETS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1965960"/>
            <a:ext cx="3566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SF Pro Text"/>
              </a:rPr>
              <a:t>나머지 시나리오 보험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84464" y="1691640"/>
            <a:ext cx="3749039" cy="502920"/>
          </a:xfrm>
          <a:prstGeom prst="rect">
            <a:avLst/>
          </a:prstGeom>
          <a:solidFill>
            <a:srgbClr val="34C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67344" y="173736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F Pro Display"/>
              </a:rPr>
              <a:t>ROBUST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67344" y="1965960"/>
            <a:ext cx="3566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SF Pro Text"/>
              </a:rPr>
              <a:t>시나리오 무관 가치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286000"/>
            <a:ext cx="3749039" cy="1234440"/>
          </a:xfrm>
          <a:prstGeom prst="rect">
            <a:avLst/>
          </a:prstGeom>
          <a:solidFill>
            <a:srgbClr val="FFFFFF"/>
          </a:solidFill>
          <a:ln>
            <a:solidFill>
              <a:srgbClr val="C6C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286000"/>
            <a:ext cx="91440" cy="1234440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3774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9500"/>
                </a:solidFill>
                <a:latin typeface="SF Pro Display"/>
              </a:rPr>
              <a:t>#1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23774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D1D1F"/>
                </a:solidFill>
                <a:latin typeface="SF Pro Text"/>
              </a:rPr>
              <a:t>HBM4 점유율 회복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74320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FF9500"/>
                </a:solidFill>
                <a:latin typeface="SF Pro Text"/>
              </a:rPr>
              <a:t>NVIDIA Rubin 28% → 40%+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3063240"/>
            <a:ext cx="3520440" cy="411480"/>
          </a:xfrm>
          <a:prstGeom prst="rect">
            <a:avLst/>
          </a:prstGeom>
          <a:solidFill>
            <a:srgbClr val="FFF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090672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1D1D1F"/>
                </a:solidFill>
                <a:latin typeface="SF Pro Text"/>
              </a:rPr>
              <a:t>문제: 시나리오 B에서 1위 자리 미확보 시 Main Bet 무의미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611880"/>
            <a:ext cx="3749039" cy="1234440"/>
          </a:xfrm>
          <a:prstGeom prst="rect">
            <a:avLst/>
          </a:prstGeom>
          <a:solidFill>
            <a:srgbClr val="FFFFFF"/>
          </a:solidFill>
          <a:ln>
            <a:solidFill>
              <a:srgbClr val="C6C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611880"/>
            <a:ext cx="91440" cy="1234440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7033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9500"/>
                </a:solidFill>
                <a:latin typeface="SF Pro Display"/>
              </a:rPr>
              <a:t>#2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370332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D1D1F"/>
                </a:solidFill>
                <a:latin typeface="SF Pro Text"/>
              </a:rPr>
              <a:t>동서 균형 공급망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06908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FF9500"/>
                </a:solidFill>
                <a:latin typeface="SF Pro Text"/>
              </a:rPr>
              <a:t>서방 + 신흥 + 중국 3원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4389120"/>
            <a:ext cx="3520440" cy="411480"/>
          </a:xfrm>
          <a:prstGeom prst="rect">
            <a:avLst/>
          </a:prstGeom>
          <a:solidFill>
            <a:srgbClr val="FFF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416552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1D1D1F"/>
                </a:solidFill>
                <a:latin typeface="SF Pro Text"/>
              </a:rPr>
              <a:t>문제: 한 지역 의존이 다운턴·지정학 충격에 취약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937760"/>
            <a:ext cx="3749039" cy="1234440"/>
          </a:xfrm>
          <a:prstGeom prst="rect">
            <a:avLst/>
          </a:prstGeom>
          <a:solidFill>
            <a:srgbClr val="FFFFFF"/>
          </a:solidFill>
          <a:ln>
            <a:solidFill>
              <a:srgbClr val="C6C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4937760"/>
            <a:ext cx="91440" cy="1234440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0292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9500"/>
                </a:solidFill>
                <a:latin typeface="SF Pro Display"/>
              </a:rPr>
              <a:t>#3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50292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D1D1F"/>
                </a:solidFill>
                <a:latin typeface="SF Pro Text"/>
              </a:rPr>
              <a:t>1c nm 원가 우위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39496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FF9500"/>
                </a:solidFill>
                <a:latin typeface="SF Pro Text"/>
              </a:rPr>
              <a:t>CXMT 공세 방어 기반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" y="5715000"/>
            <a:ext cx="3520440" cy="411480"/>
          </a:xfrm>
          <a:prstGeom prst="rect">
            <a:avLst/>
          </a:prstGeom>
          <a:solidFill>
            <a:srgbClr val="FFF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5742432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1D1D1F"/>
                </a:solidFill>
                <a:latin typeface="SF Pro Text"/>
              </a:rPr>
              <a:t>문제: 범용 DRAM 마진 잠식이 다운턴 손실 키움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70832" y="2286000"/>
            <a:ext cx="3749039" cy="1234440"/>
          </a:xfrm>
          <a:prstGeom prst="rect">
            <a:avLst/>
          </a:prstGeom>
          <a:solidFill>
            <a:srgbClr val="FFFFFF"/>
          </a:solidFill>
          <a:ln>
            <a:solidFill>
              <a:srgbClr val="C6C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370832" y="2286000"/>
            <a:ext cx="91440" cy="1234440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53712" y="23774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7AFF"/>
                </a:solidFill>
                <a:latin typeface="SF Pro Display"/>
              </a:rPr>
              <a:t>#1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19472" y="23774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D1D1F"/>
                </a:solidFill>
                <a:latin typeface="SF Pro Text"/>
              </a:rPr>
              <a:t>순현금 30조 버퍼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53712" y="274320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007AFF"/>
                </a:solidFill>
                <a:latin typeface="SF Pro Text"/>
              </a:rPr>
              <a:t>시나리오 C 생존 기반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07992" y="3063240"/>
            <a:ext cx="3520440" cy="411480"/>
          </a:xfrm>
          <a:prstGeom prst="rect">
            <a:avLst/>
          </a:prstGeom>
          <a:solidFill>
            <a:srgbClr val="FFF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99432" y="3090672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1D1D1F"/>
                </a:solidFill>
                <a:latin typeface="SF Pro Text"/>
              </a:rPr>
              <a:t>문제: 다운턴 자금 부족 시 R&amp;D 삭감 강요됨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70832" y="3611880"/>
            <a:ext cx="3749039" cy="1234440"/>
          </a:xfrm>
          <a:prstGeom prst="rect">
            <a:avLst/>
          </a:prstGeom>
          <a:solidFill>
            <a:srgbClr val="FFFFFF"/>
          </a:solidFill>
          <a:ln>
            <a:solidFill>
              <a:srgbClr val="C6C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370832" y="3611880"/>
            <a:ext cx="91440" cy="1234440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53712" y="37033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7AFF"/>
                </a:solidFill>
                <a:latin typeface="SF Pro Display"/>
              </a:rPr>
              <a:t>#2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19472" y="370332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D1D1F"/>
                </a:solidFill>
                <a:latin typeface="SF Pro Text"/>
              </a:rPr>
              <a:t>소재 공급망 다각화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53712" y="406908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007AFF"/>
                </a:solidFill>
                <a:latin typeface="SF Pro Text"/>
              </a:rPr>
              <a:t>캐나다·호주·카자흐 LTA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07992" y="4389120"/>
            <a:ext cx="3520440" cy="411480"/>
          </a:xfrm>
          <a:prstGeom prst="rect">
            <a:avLst/>
          </a:prstGeom>
          <a:solidFill>
            <a:srgbClr val="FFF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99432" y="4416552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1D1D1F"/>
                </a:solidFill>
                <a:latin typeface="SF Pro Text"/>
              </a:rPr>
              <a:t>문제: 중국 소재 수출 통제 시 원가 30% 급등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370832" y="4937760"/>
            <a:ext cx="3749039" cy="1234440"/>
          </a:xfrm>
          <a:prstGeom prst="rect">
            <a:avLst/>
          </a:prstGeom>
          <a:solidFill>
            <a:srgbClr val="FFFFFF"/>
          </a:solidFill>
          <a:ln>
            <a:solidFill>
              <a:srgbClr val="C6C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370832" y="4937760"/>
            <a:ext cx="91440" cy="1234440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53712" y="50292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7AFF"/>
                </a:solidFill>
                <a:latin typeface="SF Pro Display"/>
              </a:rPr>
              <a:t>#3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919472" y="50292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D1D1F"/>
                </a:solidFill>
                <a:latin typeface="SF Pro Text"/>
              </a:rPr>
              <a:t>3D DRAM + IMEC 협약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53712" y="539496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007AFF"/>
                </a:solidFill>
                <a:latin typeface="SF Pro Text"/>
              </a:rPr>
              <a:t>시나리오 E 헤징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07992" y="5715000"/>
            <a:ext cx="3520440" cy="411480"/>
          </a:xfrm>
          <a:prstGeom prst="rect">
            <a:avLst/>
          </a:prstGeom>
          <a:solidFill>
            <a:srgbClr val="FFF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99432" y="5742432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1D1D1F"/>
                </a:solidFill>
                <a:latin typeface="SF Pro Text"/>
              </a:rPr>
              <a:t>문제: HBM 패러다임 붕괴 시 40조 매몰 비용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284464" y="2286000"/>
            <a:ext cx="3749039" cy="1234440"/>
          </a:xfrm>
          <a:prstGeom prst="rect">
            <a:avLst/>
          </a:prstGeom>
          <a:solidFill>
            <a:srgbClr val="FFFFFF"/>
          </a:solidFill>
          <a:ln>
            <a:solidFill>
              <a:srgbClr val="C6C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284464" y="2286000"/>
            <a:ext cx="91440" cy="1234440"/>
          </a:xfrm>
          <a:prstGeom prst="rect">
            <a:avLst/>
          </a:prstGeom>
          <a:solidFill>
            <a:srgbClr val="34C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467344" y="23774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4C759"/>
                </a:solidFill>
                <a:latin typeface="SF Pro Display"/>
              </a:rPr>
              <a:t>#1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833104" y="23774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D1D1F"/>
                </a:solidFill>
                <a:latin typeface="SF Pro Text"/>
              </a:rPr>
              <a:t>옵션형 캐파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67344" y="274320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34C759"/>
                </a:solidFill>
                <a:latin typeface="SF Pro Text"/>
              </a:rPr>
              <a:t>켜고 끌 수 있는 능력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421624" y="3063240"/>
            <a:ext cx="3520440" cy="411480"/>
          </a:xfrm>
          <a:prstGeom prst="rect">
            <a:avLst/>
          </a:prstGeom>
          <a:solidFill>
            <a:srgbClr val="FFF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513064" y="3090672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1D1D1F"/>
                </a:solidFill>
                <a:latin typeface="SF Pro Text"/>
              </a:rPr>
              <a:t>문제: 잘못된 타이밍 고정 증설이 다운턴 손실 핵심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284464" y="3611880"/>
            <a:ext cx="3749039" cy="1234440"/>
          </a:xfrm>
          <a:prstGeom prst="rect">
            <a:avLst/>
          </a:prstGeom>
          <a:solidFill>
            <a:srgbClr val="FFFFFF"/>
          </a:solidFill>
          <a:ln>
            <a:solidFill>
              <a:srgbClr val="C6C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284464" y="3611880"/>
            <a:ext cx="91440" cy="1234440"/>
          </a:xfrm>
          <a:prstGeom prst="rect">
            <a:avLst/>
          </a:prstGeom>
          <a:solidFill>
            <a:srgbClr val="34C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467344" y="37033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4C759"/>
                </a:solidFill>
                <a:latin typeface="SF Pro Display"/>
              </a:rPr>
              <a:t>#2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833104" y="370332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D1D1F"/>
                </a:solidFill>
                <a:latin typeface="SF Pro Text"/>
              </a:rPr>
              <a:t>바벨 + AI 효율화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467344" y="406908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34C759"/>
                </a:solidFill>
                <a:latin typeface="SF Pro Text"/>
              </a:rPr>
              <a:t>양 끝 + 잉여 인력 전환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421624" y="4389120"/>
            <a:ext cx="3520440" cy="411480"/>
          </a:xfrm>
          <a:prstGeom prst="rect">
            <a:avLst/>
          </a:prstGeom>
          <a:solidFill>
            <a:srgbClr val="FFF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513064" y="4416552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1D1D1F"/>
                </a:solidFill>
                <a:latin typeface="SF Pro Text"/>
              </a:rPr>
              <a:t>문제: 추가 채용 없이 RS3 동시 실행의 유일 경로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284464" y="4937760"/>
            <a:ext cx="3749039" cy="1234440"/>
          </a:xfrm>
          <a:prstGeom prst="rect">
            <a:avLst/>
          </a:prstGeom>
          <a:solidFill>
            <a:srgbClr val="FFFFFF"/>
          </a:solidFill>
          <a:ln>
            <a:solidFill>
              <a:srgbClr val="C6C6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284464" y="4937760"/>
            <a:ext cx="91440" cy="1234440"/>
          </a:xfrm>
          <a:prstGeom prst="rect">
            <a:avLst/>
          </a:prstGeom>
          <a:solidFill>
            <a:srgbClr val="34C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467344" y="50292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4C759"/>
                </a:solidFill>
                <a:latin typeface="SF Pro Display"/>
              </a:rPr>
              <a:t>#3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33104" y="50292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D1D1F"/>
                </a:solidFill>
                <a:latin typeface="SF Pro Text"/>
              </a:rPr>
              <a:t>재무 규율 + capex 하한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467344" y="539496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34C759"/>
                </a:solidFill>
                <a:latin typeface="SF Pro Text"/>
              </a:rPr>
              <a:t>호황 절제 + 다운턴 사수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421624" y="5715000"/>
            <a:ext cx="3520440" cy="411480"/>
          </a:xfrm>
          <a:prstGeom prst="rect">
            <a:avLst/>
          </a:prstGeom>
          <a:solidFill>
            <a:srgbClr val="FFF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513064" y="5742432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1D1D1F"/>
                </a:solidFill>
                <a:latin typeface="SF Pro Text"/>
              </a:rPr>
              <a:t>문제: 활동가 투자자 압박에 R&amp;D 무너지면 회복 불가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57200" y="6355080"/>
            <a:ext cx="11274552" cy="411480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40080" y="64008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F Pro Text"/>
              </a:rPr>
              <a:t>9개 핵심 전략의 묶음 = 다운턴이 와도 흑자 유지 + 회복기 1번 자리 + 자산 폭락 시 M&amp;A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 w="6350">
            <a:solidFill>
              <a:srgbClr val="C6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E6E73"/>
                </a:solidFill>
                <a:latin typeface="SF Pro Text"/>
              </a:rPr>
              <a:t>삼성전자  |  전략 리마인드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6E6E73"/>
                </a:solidFill>
                <a:latin typeface="SF Pro Text"/>
              </a:rPr>
              <a:t>28 / 29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82880" cy="640080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07AFF"/>
                </a:solidFill>
                <a:latin typeface="SF Pro Display"/>
              </a:rPr>
              <a:t>DECISION REQUEST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D1D1F"/>
                </a:solidFill>
                <a:latin typeface="SF Pro Text"/>
              </a:rPr>
              <a:t>12개 결정의 묶음 의결로 호황의 정점을 다운턴 준비의 마지막 기회로 잡는다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691640"/>
            <a:ext cx="548640" cy="45720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 i="0">
                <a:solidFill>
                  <a:srgbClr val="007AFF"/>
                </a:solidFill>
                <a:latin typeface="SF Pro Text"/>
              </a:rPr>
              <a:t>"호황의 정점이</a:t>
            </a:r>
          </a:p>
          <a:p>
            <a:pPr algn="l">
              <a:lnSpc>
                <a:spcPct val="120000"/>
              </a:lnSpc>
            </a:pPr>
            <a:r>
              <a:rPr sz="3600" b="1" i="0">
                <a:solidFill>
                  <a:srgbClr val="007AFF"/>
                </a:solidFill>
                <a:latin typeface="SF Pro Text"/>
              </a:rPr>
              <a:t> 다운턴 준비의 마지막 기회다."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57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E6E73"/>
                </a:solidFill>
                <a:latin typeface="SF Pro Text"/>
              </a:rPr>
              <a:t>─ 12개 결정의 묶음 의결을 요청드립니다 ─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4297680"/>
            <a:ext cx="3520440" cy="1828800"/>
          </a:xfrm>
          <a:prstGeom prst="rect">
            <a:avLst/>
          </a:prstGeom>
          <a:solidFill>
            <a:srgbClr val="F2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4297680"/>
            <a:ext cx="73152" cy="1828800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43484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9500"/>
                </a:solidFill>
                <a:latin typeface="SF Pro Display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8920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D1D1F"/>
                </a:solidFill>
                <a:latin typeface="SF Pro Text"/>
              </a:rPr>
              <a:t>전략 방향 승인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5257800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D1D1F"/>
                </a:solidFill>
                <a:latin typeface="SF Pro Text"/>
              </a:rPr>
              <a:t>시나리오 B Main Bet + Side Bets + Robust 8개 전략 채택</a:t>
            </a:r>
          </a:p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D1D1F"/>
                </a:solidFill>
                <a:latin typeface="SF Pro Text"/>
              </a:rPr>
              <a:t>2030~2035 메모리 1위 회복 로드맵 의결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4297680"/>
            <a:ext cx="3520440" cy="1828800"/>
          </a:xfrm>
          <a:prstGeom prst="rect">
            <a:avLst/>
          </a:prstGeom>
          <a:solidFill>
            <a:srgbClr val="F2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0" y="4297680"/>
            <a:ext cx="73152" cy="1828800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00600" y="443484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9500"/>
                </a:solidFill>
                <a:latin typeface="SF Pro Display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48920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D1D1F"/>
                </a:solidFill>
                <a:latin typeface="SF Pro Text"/>
              </a:rPr>
              <a:t>12개 즉시 결정 패키지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5257800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D1D1F"/>
                </a:solidFill>
                <a:latin typeface="SF Pro Text"/>
              </a:rPr>
              <a:t>HBM4·소재·3D DRAM·텍사스·AI 효율화·정책화·잉여 인력·</a:t>
            </a:r>
          </a:p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D1D1F"/>
                </a:solidFill>
                <a:latin typeface="SF Pro Text"/>
              </a:rPr>
              <a:t>추가 보조금·M&amp;A 펀드·NAND 4트랙·Stargate Korea·RS-8 헷지 — 시한: 2026 Q4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4297680"/>
            <a:ext cx="3520440" cy="1828800"/>
          </a:xfrm>
          <a:prstGeom prst="rect">
            <a:avLst/>
          </a:prstGeom>
          <a:solidFill>
            <a:srgbClr val="F2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4297680"/>
            <a:ext cx="73152" cy="1828800"/>
          </a:xfrm>
          <a:prstGeom prst="rect">
            <a:avLst/>
          </a:prstGeom>
          <a:solidFill>
            <a:srgbClr val="FF9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58200" y="443484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9500"/>
                </a:solidFill>
                <a:latin typeface="SF Pro Display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48920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D1D1F"/>
                </a:solidFill>
                <a:latin typeface="SF Pro Text"/>
              </a:rPr>
              <a:t>거버넌스 + 트리거 승인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5257800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D1D1F"/>
                </a:solidFill>
                <a:latin typeface="SF Pro Text"/>
              </a:rPr>
              <a:t>30일 내 의사결정 + 자동 트리거 12개 + 다운사이클 capex 하한 4조 원/년</a:t>
            </a:r>
          </a:p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D1D1F"/>
                </a:solidFill>
                <a:latin typeface="SF Pro Text"/>
              </a:rPr>
              <a:t>+ 활동가 투자자 방어 의결권 구조 + 단일 Floor 원칙(RS-8)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64465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E6E73"/>
                </a:solidFill>
                <a:latin typeface="SF Pro Text"/>
              </a:rPr>
              <a:t>삼성전자  ·  DS부문 메모리사업부 전략기획팀  ·  대외비  ·  2026.05.06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E6E73"/>
                </a:solidFill>
                <a:latin typeface="SF Pro Display"/>
              </a:rPr>
              <a:t>29 / 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Samsung Electronics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Strategic Report Master Template v2</dc:title>
  <dc:subject>PptxGenJS Presentation</dc:subject>
  <dc:creator>Samsung Electronics - Strategy Office</dc:creator>
  <cp:lastModifiedBy>Samsung Electronics - Strategy Office</cp:lastModifiedBy>
  <cp:revision>1</cp:revision>
  <dcterms:created xsi:type="dcterms:W3CDTF">2026-05-06T06:57:34Z</dcterms:created>
  <dcterms:modified xsi:type="dcterms:W3CDTF">2026-05-06T06:57:34Z</dcterms:modified>
</cp:coreProperties>
</file>